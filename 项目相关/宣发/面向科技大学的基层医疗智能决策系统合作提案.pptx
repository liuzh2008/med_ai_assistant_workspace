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8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8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8.png"/><Relationship Id="rId23" Type="http://schemas.openxmlformats.org/officeDocument/2006/relationships/image" Target="../media/image47.png"/><Relationship Id="rId22" Type="http://schemas.openxmlformats.org/officeDocument/2006/relationships/image" Target="../media/image46.png"/><Relationship Id="rId21" Type="http://schemas.openxmlformats.org/officeDocument/2006/relationships/image" Target="../media/image45.png"/><Relationship Id="rId20" Type="http://schemas.openxmlformats.org/officeDocument/2006/relationships/image" Target="../media/image44.png"/><Relationship Id="rId2" Type="http://schemas.openxmlformats.org/officeDocument/2006/relationships/image" Target="../media/image2.png"/><Relationship Id="rId19" Type="http://schemas.openxmlformats.org/officeDocument/2006/relationships/image" Target="../media/image43.png"/><Relationship Id="rId18" Type="http://schemas.openxmlformats.org/officeDocument/2006/relationships/image" Target="../media/image42.png"/><Relationship Id="rId17" Type="http://schemas.openxmlformats.org/officeDocument/2006/relationships/image" Target="../media/image41.png"/><Relationship Id="rId16" Type="http://schemas.openxmlformats.org/officeDocument/2006/relationships/image" Target="../media/image40.png"/><Relationship Id="rId15" Type="http://schemas.openxmlformats.org/officeDocument/2006/relationships/image" Target="../media/image39.png"/><Relationship Id="rId14" Type="http://schemas.openxmlformats.org/officeDocument/2006/relationships/image" Target="../media/image38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8.png"/><Relationship Id="rId2" Type="http://schemas.openxmlformats.org/officeDocument/2006/relationships/image" Target="../media/image2.png"/><Relationship Id="rId19" Type="http://schemas.openxmlformats.org/officeDocument/2006/relationships/image" Target="../media/image29.png"/><Relationship Id="rId18" Type="http://schemas.openxmlformats.org/officeDocument/2006/relationships/image" Target="../media/image46.png"/><Relationship Id="rId17" Type="http://schemas.openxmlformats.org/officeDocument/2006/relationships/image" Target="../media/image25.png"/><Relationship Id="rId16" Type="http://schemas.openxmlformats.org/officeDocument/2006/relationships/image" Target="../media/image58.png"/><Relationship Id="rId15" Type="http://schemas.openxmlformats.org/officeDocument/2006/relationships/image" Target="../media/image57.png"/><Relationship Id="rId14" Type="http://schemas.openxmlformats.org/officeDocument/2006/relationships/image" Target="../media/image56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9" Type="http://schemas.openxmlformats.org/officeDocument/2006/relationships/notesSlide" Target="../notesSlides/notesSlide6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8.png"/><Relationship Id="rId26" Type="http://schemas.openxmlformats.org/officeDocument/2006/relationships/image" Target="../media/image78.png"/><Relationship Id="rId25" Type="http://schemas.openxmlformats.org/officeDocument/2006/relationships/image" Target="../media/image46.png"/><Relationship Id="rId24" Type="http://schemas.openxmlformats.org/officeDocument/2006/relationships/image" Target="../media/image77.png"/><Relationship Id="rId23" Type="http://schemas.openxmlformats.org/officeDocument/2006/relationships/image" Target="../media/image76.png"/><Relationship Id="rId22" Type="http://schemas.openxmlformats.org/officeDocument/2006/relationships/image" Target="../media/image75.png"/><Relationship Id="rId21" Type="http://schemas.openxmlformats.org/officeDocument/2006/relationships/image" Target="../media/image74.png"/><Relationship Id="rId20" Type="http://schemas.openxmlformats.org/officeDocument/2006/relationships/image" Target="../media/image73.png"/><Relationship Id="rId2" Type="http://schemas.openxmlformats.org/officeDocument/2006/relationships/image" Target="../media/image2.png"/><Relationship Id="rId19" Type="http://schemas.openxmlformats.org/officeDocument/2006/relationships/image" Target="../media/image72.png"/><Relationship Id="rId18" Type="http://schemas.openxmlformats.org/officeDocument/2006/relationships/image" Target="../media/image71.png"/><Relationship Id="rId17" Type="http://schemas.openxmlformats.org/officeDocument/2006/relationships/image" Target="../media/image70.png"/><Relationship Id="rId16" Type="http://schemas.openxmlformats.org/officeDocument/2006/relationships/image" Target="../media/image69.png"/><Relationship Id="rId15" Type="http://schemas.openxmlformats.org/officeDocument/2006/relationships/image" Target="../media/image68.png"/><Relationship Id="rId14" Type="http://schemas.openxmlformats.org/officeDocument/2006/relationships/image" Target="../media/image67.png"/><Relationship Id="rId13" Type="http://schemas.openxmlformats.org/officeDocument/2006/relationships/image" Target="../media/image66.png"/><Relationship Id="rId12" Type="http://schemas.openxmlformats.org/officeDocument/2006/relationships/image" Target="../media/image65.png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6" Type="http://schemas.openxmlformats.org/officeDocument/2006/relationships/image" Target="../media/image7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8.png"/><Relationship Id="rId2" Type="http://schemas.openxmlformats.org/officeDocument/2006/relationships/image" Target="../media/image2.png"/><Relationship Id="rId19" Type="http://schemas.openxmlformats.org/officeDocument/2006/relationships/image" Target="../media/image92.png"/><Relationship Id="rId18" Type="http://schemas.openxmlformats.org/officeDocument/2006/relationships/image" Target="../media/image91.png"/><Relationship Id="rId17" Type="http://schemas.openxmlformats.org/officeDocument/2006/relationships/image" Target="../media/image90.png"/><Relationship Id="rId16" Type="http://schemas.openxmlformats.org/officeDocument/2006/relationships/image" Target="../media/image89.png"/><Relationship Id="rId15" Type="http://schemas.openxmlformats.org/officeDocument/2006/relationships/image" Target="../media/image88.png"/><Relationship Id="rId14" Type="http://schemas.openxmlformats.org/officeDocument/2006/relationships/image" Target="../media/image87.png"/><Relationship Id="rId13" Type="http://schemas.openxmlformats.org/officeDocument/2006/relationships/image" Target="../media/image86.png"/><Relationship Id="rId12" Type="http://schemas.openxmlformats.org/officeDocument/2006/relationships/image" Target="../media/image85.png"/><Relationship Id="rId11" Type="http://schemas.openxmlformats.org/officeDocument/2006/relationships/image" Target="../media/image84.png"/><Relationship Id="rId10" Type="http://schemas.openxmlformats.org/officeDocument/2006/relationships/image" Target="../media/image8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1" Type="http://schemas.openxmlformats.org/officeDocument/2006/relationships/notesSlide" Target="../notesSlides/notesSlide8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9" Type="http://schemas.openxmlformats.org/officeDocument/2006/relationships/image" Target="../media/image34.png"/><Relationship Id="rId28" Type="http://schemas.openxmlformats.org/officeDocument/2006/relationships/image" Target="../media/image111.png"/><Relationship Id="rId27" Type="http://schemas.openxmlformats.org/officeDocument/2006/relationships/image" Target="../media/image110.png"/><Relationship Id="rId26" Type="http://schemas.openxmlformats.org/officeDocument/2006/relationships/image" Target="../media/image61.png"/><Relationship Id="rId25" Type="http://schemas.openxmlformats.org/officeDocument/2006/relationships/image" Target="../media/image28.png"/><Relationship Id="rId24" Type="http://schemas.openxmlformats.org/officeDocument/2006/relationships/image" Target="../media/image109.png"/><Relationship Id="rId23" Type="http://schemas.openxmlformats.org/officeDocument/2006/relationships/image" Target="../media/image108.png"/><Relationship Id="rId22" Type="http://schemas.openxmlformats.org/officeDocument/2006/relationships/image" Target="../media/image70.png"/><Relationship Id="rId21" Type="http://schemas.openxmlformats.org/officeDocument/2006/relationships/image" Target="../media/image107.png"/><Relationship Id="rId20" Type="http://schemas.openxmlformats.org/officeDocument/2006/relationships/image" Target="../media/image106.png"/><Relationship Id="rId2" Type="http://schemas.openxmlformats.org/officeDocument/2006/relationships/image" Target="../media/image2.png"/><Relationship Id="rId19" Type="http://schemas.openxmlformats.org/officeDocument/2006/relationships/image" Target="../media/image105.png"/><Relationship Id="rId18" Type="http://schemas.openxmlformats.org/officeDocument/2006/relationships/image" Target="../media/image104.png"/><Relationship Id="rId17" Type="http://schemas.openxmlformats.org/officeDocument/2006/relationships/image" Target="../media/image103.png"/><Relationship Id="rId16" Type="http://schemas.openxmlformats.org/officeDocument/2006/relationships/image" Target="../media/image102.png"/><Relationship Id="rId15" Type="http://schemas.openxmlformats.org/officeDocument/2006/relationships/image" Target="../media/image101.png"/><Relationship Id="rId14" Type="http://schemas.openxmlformats.org/officeDocument/2006/relationships/image" Target="../media/image100.png"/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1" Type="http://schemas.openxmlformats.org/officeDocument/2006/relationships/image" Target="../media/image97.png"/><Relationship Id="rId10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image" Target="../media/image114.png"/><Relationship Id="rId7" Type="http://schemas.openxmlformats.org/officeDocument/2006/relationships/image" Target="../media/image113.png"/><Relationship Id="rId6" Type="http://schemas.openxmlformats.org/officeDocument/2006/relationships/image" Target="../media/image1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8.png"/><Relationship Id="rId16" Type="http://schemas.openxmlformats.org/officeDocument/2006/relationships/image" Target="../media/image121.png"/><Relationship Id="rId15" Type="http://schemas.openxmlformats.org/officeDocument/2006/relationships/image" Target="../media/image46.png"/><Relationship Id="rId14" Type="http://schemas.openxmlformats.org/officeDocument/2006/relationships/image" Target="../media/image120.png"/><Relationship Id="rId13" Type="http://schemas.openxmlformats.org/officeDocument/2006/relationships/image" Target="../media/image119.png"/><Relationship Id="rId12" Type="http://schemas.openxmlformats.org/officeDocument/2006/relationships/image" Target="../media/image118.png"/><Relationship Id="rId11" Type="http://schemas.openxmlformats.org/officeDocument/2006/relationships/image" Target="../media/image117.png"/><Relationship Id="rId10" Type="http://schemas.openxmlformats.org/officeDocument/2006/relationships/image" Target="../media/image11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24.png"/><Relationship Id="rId7" Type="http://schemas.openxmlformats.org/officeDocument/2006/relationships/image" Target="../media/image123.png"/><Relationship Id="rId6" Type="http://schemas.openxmlformats.org/officeDocument/2006/relationships/image" Target="../media/image12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28.png"/><Relationship Id="rId13" Type="http://schemas.openxmlformats.org/officeDocument/2006/relationships/image" Target="../media/image28.png"/><Relationship Id="rId12" Type="http://schemas.openxmlformats.org/officeDocument/2006/relationships/image" Target="../media/image127.png"/><Relationship Id="rId11" Type="http://schemas.openxmlformats.org/officeDocument/2006/relationships/image" Target="../media/image126.png"/><Relationship Id="rId10" Type="http://schemas.openxmlformats.org/officeDocument/2006/relationships/image" Target="../media/image12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png"/><Relationship Id="rId8" Type="http://schemas.openxmlformats.org/officeDocument/2006/relationships/image" Target="../media/image131.png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40.png"/><Relationship Id="rId17" Type="http://schemas.openxmlformats.org/officeDocument/2006/relationships/image" Target="../media/image8.png"/><Relationship Id="rId16" Type="http://schemas.openxmlformats.org/officeDocument/2006/relationships/image" Target="../media/image139.png"/><Relationship Id="rId15" Type="http://schemas.openxmlformats.org/officeDocument/2006/relationships/image" Target="../media/image138.png"/><Relationship Id="rId14" Type="http://schemas.openxmlformats.org/officeDocument/2006/relationships/image" Target="../media/image137.png"/><Relationship Id="rId13" Type="http://schemas.openxmlformats.org/officeDocument/2006/relationships/image" Target="../media/image136.png"/><Relationship Id="rId12" Type="http://schemas.openxmlformats.org/officeDocument/2006/relationships/image" Target="../media/image135.png"/><Relationship Id="rId11" Type="http://schemas.openxmlformats.org/officeDocument/2006/relationships/image" Target="../media/image134.png"/><Relationship Id="rId10" Type="http://schemas.openxmlformats.org/officeDocument/2006/relationships/image" Target="../media/image13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914377"/>
            <a:ext cx="9525" cy="502907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914377"/>
            <a:ext cx="9525" cy="502907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5972026"/>
            <a:ext cx="10362941" cy="42861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6219670"/>
            <a:ext cx="152396" cy="17144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181070" y="6210145"/>
            <a:ext cx="203791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智慧医疗创新项目 · 临床决策支持</a:t>
            </a:r>
            <a:endParaRPr lang="en-US" sz="1050" dirty="0"/>
          </a:p>
        </p:txBody>
      </p:sp>
      <p:sp>
        <p:nvSpPr>
          <p:cNvPr id="9" name="Text 1"/>
          <p:cNvSpPr/>
          <p:nvPr/>
        </p:nvSpPr>
        <p:spPr>
          <a:xfrm>
            <a:off x="10724882" y="6210145"/>
            <a:ext cx="57110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2026.05</a:t>
            </a:r>
            <a:endParaRPr lang="en-US" sz="105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>
            <a:alphaModFix amt="3000"/>
          </a:blip>
          <a:stretch>
            <a:fillRect/>
          </a:stretch>
        </p:blipFill>
        <p:spPr>
          <a:xfrm>
            <a:off x="9600960" y="761981"/>
            <a:ext cx="1828754" cy="1828754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7">
            <a:alphaModFix amt="3000"/>
          </a:blip>
          <a:stretch>
            <a:fillRect/>
          </a:stretch>
        </p:blipFill>
        <p:spPr>
          <a:xfrm>
            <a:off x="9143771" y="2743131"/>
            <a:ext cx="1828754" cy="1828754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820129" y="5752956"/>
            <a:ext cx="57149" cy="57149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953476" y="5752956"/>
            <a:ext cx="57149" cy="57149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086823" y="5752956"/>
            <a:ext cx="57149" cy="57149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220169" y="5752956"/>
            <a:ext cx="57149" cy="57149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820129" y="5886303"/>
            <a:ext cx="57149" cy="57149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953476" y="5886303"/>
            <a:ext cx="57149" cy="57149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086823" y="5886303"/>
            <a:ext cx="57149" cy="57149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220169" y="5886303"/>
            <a:ext cx="57149" cy="5714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377" y="2162121"/>
            <a:ext cx="609585" cy="19050"/>
          </a:xfrm>
          <a:prstGeom prst="rect">
            <a:avLst/>
          </a:prstGeom>
        </p:spPr>
      </p:pic>
      <p:sp>
        <p:nvSpPr>
          <p:cNvPr id="21" name="Text 2"/>
          <p:cNvSpPr/>
          <p:nvPr/>
        </p:nvSpPr>
        <p:spPr>
          <a:xfrm>
            <a:off x="1676358" y="2076398"/>
            <a:ext cx="287609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  <a:sym typeface="+mn-ea"/>
              </a:rPr>
              <a:t>MedAiAssistant</a:t>
            </a:r>
            <a:endParaRPr lang="en-US" sz="1050" dirty="0"/>
          </a:p>
        </p:txBody>
      </p:sp>
      <p:sp>
        <p:nvSpPr>
          <p:cNvPr id="22" name="Text 3"/>
          <p:cNvSpPr/>
          <p:nvPr/>
        </p:nvSpPr>
        <p:spPr>
          <a:xfrm>
            <a:off x="914377" y="2657409"/>
            <a:ext cx="3133266" cy="5905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基于大模型的</a:t>
            </a:r>
            <a:endParaRPr lang="en-US" sz="4200" dirty="0"/>
          </a:p>
        </p:txBody>
      </p:sp>
      <p:sp>
        <p:nvSpPr>
          <p:cNvPr id="23" name="Text 4"/>
          <p:cNvSpPr/>
          <p:nvPr/>
        </p:nvSpPr>
        <p:spPr>
          <a:xfrm>
            <a:off x="914377" y="3266993"/>
            <a:ext cx="5219189" cy="5905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基层医疗智能决策系统</a:t>
            </a:r>
            <a:endParaRPr lang="en-US" sz="4200" dirty="0"/>
          </a:p>
        </p:txBody>
      </p:sp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377" y="4171846"/>
            <a:ext cx="6400640" cy="619110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1676358" y="4171846"/>
            <a:ext cx="5647803" cy="619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融合人工智能技术与基层医疗实践，构建精准、高效、可信赖的临床决策支持平台，赋能基层医生诊疗能力升级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rcRect t="11667" b="6649"/>
          <a:stretch>
            <a:fillRect/>
          </a:stretch>
        </p:blipFill>
        <p:spPr>
          <a:xfrm>
            <a:off x="6177280" y="971550"/>
            <a:ext cx="6016625" cy="49149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728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600060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533387"/>
            <a:ext cx="137118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Strategic Context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800080"/>
            <a:ext cx="10372085" cy="4762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时代呼唤：国家战略与巨大鸿沟</a:t>
            </a:r>
            <a:endParaRPr lang="en-US" sz="30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581150"/>
            <a:ext cx="4991100" cy="256857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694" y="1943051"/>
            <a:ext cx="171446" cy="171446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514437" y="1924002"/>
            <a:ext cx="2618929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政策驱动：AI+医疗的战略机遇</a:t>
            </a:r>
            <a:endParaRPr lang="en-US" sz="15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694" y="2466913"/>
            <a:ext cx="76198" cy="76198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419190" y="2390715"/>
            <a:ext cx="4180990" cy="466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《关于促进和规范"人工智能+医疗卫生"应用发展实施意见》明确发展路径</a:t>
            </a:r>
            <a:endParaRPr lang="en-US" sz="112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694" y="3124122"/>
            <a:ext cx="76198" cy="76198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419190" y="3047924"/>
            <a:ext cx="3552355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"东数西算"国家算力网建设，为AI医疗提供基础设施支撑</a:t>
            </a:r>
            <a:endParaRPr lang="en-US" sz="112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694" y="3552736"/>
            <a:ext cx="76198" cy="76198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419190" y="3476538"/>
            <a:ext cx="3114216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2027/2030年基层AI全覆盖目标，政策窗口期已到</a:t>
            </a:r>
            <a:endParaRPr lang="en-US" sz="112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694" y="3971826"/>
            <a:ext cx="76198" cy="76198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1419190" y="3895628"/>
            <a:ext cx="3866673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算力成本持续下降，国产大模型日趋成熟，应用场景不断扩展</a:t>
            </a:r>
            <a:endParaRPr lang="en-US" sz="1120" dirty="0"/>
          </a:p>
        </p:txBody>
      </p:sp>
      <p:grpSp>
        <p:nvGrpSpPr>
          <p:cNvPr id="44" name="组合 43"/>
          <p:cNvGrpSpPr/>
          <p:nvPr/>
        </p:nvGrpSpPr>
        <p:grpSpPr>
          <a:xfrm>
            <a:off x="923925" y="4229100"/>
            <a:ext cx="4991100" cy="1828800"/>
            <a:chOff x="9900" y="2490"/>
            <a:chExt cx="7860" cy="2880"/>
          </a:xfrm>
        </p:grpSpPr>
        <p:pic>
          <p:nvPicPr>
            <p:cNvPr id="20" name="Image 11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00" y="2490"/>
              <a:ext cx="7860" cy="2880"/>
            </a:xfrm>
            <a:prstGeom prst="rect">
              <a:avLst/>
            </a:prstGeom>
          </p:spPr>
        </p:pic>
        <p:pic>
          <p:nvPicPr>
            <p:cNvPr id="21" name="Image 12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75" y="2940"/>
              <a:ext cx="270" cy="270"/>
            </a:xfrm>
            <a:prstGeom prst="rect">
              <a:avLst/>
            </a:prstGeom>
          </p:spPr>
        </p:pic>
        <p:sp>
          <p:nvSpPr>
            <p:cNvPr id="22" name="Text 7"/>
            <p:cNvSpPr/>
            <p:nvPr/>
          </p:nvSpPr>
          <p:spPr>
            <a:xfrm>
              <a:off x="10725" y="2910"/>
              <a:ext cx="4214" cy="33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F172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现实鸿沟：医疗资源的倒金字塔</a:t>
              </a:r>
              <a:endParaRPr lang="en-US" sz="1500" dirty="0"/>
            </a:p>
          </p:txBody>
        </p:sp>
        <p:sp>
          <p:nvSpPr>
            <p:cNvPr id="23" name="Text 8"/>
            <p:cNvSpPr/>
            <p:nvPr/>
          </p:nvSpPr>
          <p:spPr>
            <a:xfrm>
              <a:off x="10275" y="3525"/>
              <a:ext cx="1694" cy="48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0F766E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105.5万</a:t>
              </a:r>
              <a:endParaRPr lang="en-US" sz="2400" dirty="0"/>
            </a:p>
          </p:txBody>
        </p:sp>
        <p:sp>
          <p:nvSpPr>
            <p:cNvPr id="24" name="Text 9"/>
            <p:cNvSpPr/>
            <p:nvPr/>
          </p:nvSpPr>
          <p:spPr>
            <a:xfrm>
              <a:off x="12075" y="3705"/>
              <a:ext cx="1739" cy="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个基层医疗机构 vs</a:t>
              </a:r>
              <a:endParaRPr lang="en-US" sz="1050" dirty="0"/>
            </a:p>
          </p:txBody>
        </p:sp>
        <p:sp>
          <p:nvSpPr>
            <p:cNvPr id="25" name="Text 10"/>
            <p:cNvSpPr/>
            <p:nvPr/>
          </p:nvSpPr>
          <p:spPr>
            <a:xfrm>
              <a:off x="13905" y="3525"/>
              <a:ext cx="1079" cy="48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0F172A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1976</a:t>
              </a:r>
              <a:endParaRPr lang="en-US" sz="2400" dirty="0"/>
            </a:p>
          </p:txBody>
        </p:sp>
        <p:sp>
          <p:nvSpPr>
            <p:cNvPr id="26" name="Text 11"/>
            <p:cNvSpPr/>
            <p:nvPr/>
          </p:nvSpPr>
          <p:spPr>
            <a:xfrm>
              <a:off x="15090" y="3705"/>
              <a:ext cx="1064" cy="3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家三甲</a:t>
              </a:r>
              <a:r>
                <a:rPr lang="zh-CN" altLang="en-US" sz="105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及以上</a:t>
              </a:r>
              <a:r>
                <a:rPr lang="en-US" sz="105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医院</a:t>
              </a:r>
              <a:endParaRPr lang="en-US" sz="1050" dirty="0"/>
            </a:p>
          </p:txBody>
        </p:sp>
        <p:pic>
          <p:nvPicPr>
            <p:cNvPr id="27" name="Image 13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75" y="4275"/>
              <a:ext cx="90" cy="90"/>
            </a:xfrm>
            <a:prstGeom prst="rect">
              <a:avLst/>
            </a:prstGeom>
          </p:spPr>
        </p:pic>
        <p:sp>
          <p:nvSpPr>
            <p:cNvPr id="28" name="Text 12"/>
            <p:cNvSpPr/>
            <p:nvPr/>
          </p:nvSpPr>
          <p:spPr>
            <a:xfrm>
              <a:off x="10485" y="4185"/>
              <a:ext cx="2534" cy="34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服务量巨大但能力鸿沟显著</a:t>
              </a:r>
              <a:endParaRPr lang="en-US" sz="1050" dirty="0"/>
            </a:p>
          </p:txBody>
        </p:sp>
        <p:pic>
          <p:nvPicPr>
            <p:cNvPr id="29" name="Image 14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75" y="4740"/>
              <a:ext cx="90" cy="90"/>
            </a:xfrm>
            <a:prstGeom prst="rect">
              <a:avLst/>
            </a:prstGeom>
          </p:spPr>
        </p:pic>
        <p:sp>
          <p:nvSpPr>
            <p:cNvPr id="30" name="Text 13"/>
            <p:cNvSpPr/>
            <p:nvPr/>
          </p:nvSpPr>
          <p:spPr>
            <a:xfrm>
              <a:off x="10485" y="4650"/>
              <a:ext cx="5684" cy="34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核心挑战：如何让基层医院用上、用好AI，实现诊疗同质化？</a:t>
              </a:r>
              <a:endParaRPr lang="en-US" sz="1050" dirty="0"/>
            </a:p>
          </p:txBody>
        </p:sp>
      </p:grpSp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77" y="5857729"/>
            <a:ext cx="10362941" cy="466713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914377" y="6057749"/>
            <a:ext cx="1037208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这不仅是商业问题，更是重大的</a:t>
            </a:r>
            <a:r>
              <a:rPr lang="en-US" sz="13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社会价值</a:t>
            </a:r>
            <a:r>
              <a:rPr lang="en-US" sz="135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和</a:t>
            </a:r>
            <a:r>
              <a:rPr lang="en-US" sz="13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学术命题</a:t>
            </a:r>
            <a:endParaRPr lang="en-US" sz="135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0820129" y="6210145"/>
            <a:ext cx="57149" cy="57149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0953476" y="6210145"/>
            <a:ext cx="57149" cy="57149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1086823" y="6210145"/>
            <a:ext cx="57149" cy="57149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1220169" y="6210145"/>
            <a:ext cx="57149" cy="57149"/>
          </a:xfrm>
          <a:prstGeom prst="rect">
            <a:avLst/>
          </a:prstGeom>
        </p:spPr>
      </p:pic>
      <p:pic>
        <p:nvPicPr>
          <p:cNvPr id="40" name="Image 22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0820129" y="6343491"/>
            <a:ext cx="57149" cy="57149"/>
          </a:xfrm>
          <a:prstGeom prst="rect">
            <a:avLst/>
          </a:prstGeom>
        </p:spPr>
      </p:pic>
      <p:pic>
        <p:nvPicPr>
          <p:cNvPr id="41" name="Image 23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0953476" y="6343491"/>
            <a:ext cx="57149" cy="57149"/>
          </a:xfrm>
          <a:prstGeom prst="rect">
            <a:avLst/>
          </a:prstGeom>
        </p:spPr>
      </p:pic>
      <p:pic>
        <p:nvPicPr>
          <p:cNvPr id="42" name="Image 24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1086823" y="6343491"/>
            <a:ext cx="57149" cy="57149"/>
          </a:xfrm>
          <a:prstGeom prst="rect">
            <a:avLst/>
          </a:prstGeom>
        </p:spPr>
      </p:pic>
      <p:pic>
        <p:nvPicPr>
          <p:cNvPr id="43" name="Image 25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11220169" y="6343491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523862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457189"/>
            <a:ext cx="122831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723882"/>
            <a:ext cx="10372085" cy="4762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我们的答卷：MedAiAssistant系统</a:t>
            </a:r>
            <a:endParaRPr lang="en-US" sz="30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428714"/>
            <a:ext cx="6086323" cy="442901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1714457"/>
            <a:ext cx="171446" cy="171446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438239" y="1695408"/>
            <a:ext cx="1533106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已开发的核心功能</a:t>
            </a:r>
            <a:endParaRPr lang="en-US" sz="15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496" y="2162121"/>
            <a:ext cx="57149" cy="57149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285843" y="2085923"/>
            <a:ext cx="1885522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AI诊断辅助系统</a:t>
            </a:r>
            <a:endParaRPr lang="en-US" sz="970" dirty="0"/>
          </a:p>
        </p:txBody>
      </p:sp>
      <p:sp>
        <p:nvSpPr>
          <p:cNvPr id="14" name="Text 4"/>
          <p:cNvSpPr/>
          <p:nvPr/>
        </p:nvSpPr>
        <p:spPr>
          <a:xfrm>
            <a:off x="1285843" y="2276418"/>
            <a:ext cx="1885522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基于AI</a:t>
            </a:r>
            <a:r>
              <a:rPr lang="zh-CN" alt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的</a:t>
            </a: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诊</a:t>
            </a:r>
            <a:r>
              <a:rPr lang="zh-CN" alt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断</a:t>
            </a: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建议</a:t>
            </a:r>
            <a:r>
              <a:rPr lang="zh-CN" alt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</a:t>
            </a: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生成</a:t>
            </a:r>
            <a:endParaRPr lang="en-US" sz="9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496" y="2628834"/>
            <a:ext cx="57149" cy="57149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285843" y="2552636"/>
            <a:ext cx="1523581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DRG智能分组与盈亏分析</a:t>
            </a:r>
            <a:endParaRPr lang="en-US" sz="970" dirty="0"/>
          </a:p>
        </p:txBody>
      </p:sp>
      <p:sp>
        <p:nvSpPr>
          <p:cNvPr id="17" name="Text 6"/>
          <p:cNvSpPr/>
          <p:nvPr/>
        </p:nvSpPr>
        <p:spPr>
          <a:xfrm>
            <a:off x="1285843" y="2743131"/>
            <a:ext cx="1523581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三级匹配机制+MCC/CC预筛查</a:t>
            </a:r>
            <a:endParaRPr lang="en-US" sz="9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496" y="3086023"/>
            <a:ext cx="57149" cy="57149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285843" y="3009825"/>
            <a:ext cx="1723601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970" b="1" dirty="0"/>
              <a:t>诊疗计划智能辅助</a:t>
            </a:r>
            <a:endParaRPr lang="zh-CN" altLang="en-US" sz="970" b="1" dirty="0"/>
          </a:p>
        </p:txBody>
      </p:sp>
      <p:sp>
        <p:nvSpPr>
          <p:cNvPr id="20" name="Text 8"/>
          <p:cNvSpPr/>
          <p:nvPr/>
        </p:nvSpPr>
        <p:spPr>
          <a:xfrm>
            <a:off x="1285843" y="3200320"/>
            <a:ext cx="1723601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/>
              <a:t>基于单病程质控、指南、共识的诊疗计划辅助。</a:t>
            </a:r>
            <a:endParaRPr lang="zh-CN" altLang="en-US" sz="90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496" y="3552736"/>
            <a:ext cx="57149" cy="57149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285843" y="3476538"/>
            <a:ext cx="1447383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待办事项智能管理</a:t>
            </a:r>
            <a:endParaRPr lang="en-US" sz="970" dirty="0"/>
          </a:p>
        </p:txBody>
      </p:sp>
      <p:sp>
        <p:nvSpPr>
          <p:cNvPr id="23" name="Text 10"/>
          <p:cNvSpPr/>
          <p:nvPr/>
        </p:nvSpPr>
        <p:spPr>
          <a:xfrm>
            <a:off x="1285843" y="3657509"/>
            <a:ext cx="144738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</a:t>
            </a: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病历自动分析生成+多源接入</a:t>
            </a:r>
            <a:endParaRPr lang="en-US" sz="9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7549" y="2162121"/>
            <a:ext cx="57149" cy="57149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4190895" y="2085923"/>
            <a:ext cx="1675977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手术任务管理</a:t>
            </a:r>
            <a:endParaRPr lang="en-US" sz="970" dirty="0"/>
          </a:p>
        </p:txBody>
      </p:sp>
      <p:sp>
        <p:nvSpPr>
          <p:cNvPr id="26" name="Text 12"/>
          <p:cNvSpPr/>
          <p:nvPr/>
        </p:nvSpPr>
        <p:spPr>
          <a:xfrm>
            <a:off x="4190895" y="2276418"/>
            <a:ext cx="167597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标准化字典树+术前术后任务闭环</a:t>
            </a:r>
            <a:endParaRPr lang="en-US" sz="900" dirty="0"/>
          </a:p>
        </p:txBody>
      </p:sp>
      <p:grpSp>
        <p:nvGrpSpPr>
          <p:cNvPr id="67" name="组合 66"/>
          <p:cNvGrpSpPr/>
          <p:nvPr/>
        </p:nvGrpSpPr>
        <p:grpSpPr>
          <a:xfrm>
            <a:off x="4057549" y="2552636"/>
            <a:ext cx="1761700" cy="424879"/>
            <a:chOff x="6390" y="4020"/>
            <a:chExt cx="2774" cy="669"/>
          </a:xfrm>
        </p:grpSpPr>
        <p:pic>
          <p:nvPicPr>
            <p:cNvPr id="27" name="Image 12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0" y="4140"/>
              <a:ext cx="90" cy="90"/>
            </a:xfrm>
            <a:prstGeom prst="rect">
              <a:avLst/>
            </a:prstGeom>
          </p:spPr>
        </p:pic>
        <p:sp>
          <p:nvSpPr>
            <p:cNvPr id="28" name="Text 13"/>
            <p:cNvSpPr/>
            <p:nvPr/>
          </p:nvSpPr>
          <p:spPr>
            <a:xfrm>
              <a:off x="6600" y="4020"/>
              <a:ext cx="2564" cy="27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70" b="1" dirty="0">
                  <a:solidFill>
                    <a:srgbClr val="1E293B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病历智能录入</a:t>
              </a:r>
              <a:endParaRPr lang="en-US" sz="970" dirty="0"/>
            </a:p>
          </p:txBody>
        </p:sp>
        <p:sp>
          <p:nvSpPr>
            <p:cNvPr id="29" name="Text 14"/>
            <p:cNvSpPr/>
            <p:nvPr/>
          </p:nvSpPr>
          <p:spPr>
            <a:xfrm>
              <a:off x="6600" y="4320"/>
              <a:ext cx="2564" cy="369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语音识别+智录+智能草稿</a:t>
              </a:r>
              <a:endPara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endParaRPr>
            </a:p>
            <a:p>
              <a:pPr marL="0" indent="0" algn="l">
                <a:buNone/>
              </a:pPr>
              <a:r>
                <a:rPr lang="zh-CN" altLang="en-US" sz="90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实现</a:t>
              </a:r>
              <a:r>
                <a:rPr lang="en-US" altLang="zh-CN" sz="90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“</a:t>
              </a:r>
              <a:r>
                <a:rPr lang="zh-CN" altLang="en-US" sz="90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查房结束，病历书写完成</a:t>
              </a:r>
              <a:r>
                <a:rPr lang="en-US" altLang="zh-CN" sz="90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”</a:t>
              </a:r>
              <a:endParaRPr lang="en-US" altLang="zh-CN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4057650" y="3081020"/>
            <a:ext cx="1228090" cy="351790"/>
            <a:chOff x="6390" y="4740"/>
            <a:chExt cx="1934" cy="554"/>
          </a:xfrm>
        </p:grpSpPr>
        <p:pic>
          <p:nvPicPr>
            <p:cNvPr id="30" name="Image 13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0" y="4860"/>
              <a:ext cx="90" cy="90"/>
            </a:xfrm>
            <a:prstGeom prst="rect">
              <a:avLst/>
            </a:prstGeom>
          </p:spPr>
        </p:pic>
        <p:sp>
          <p:nvSpPr>
            <p:cNvPr id="31" name="Text 15"/>
            <p:cNvSpPr/>
            <p:nvPr/>
          </p:nvSpPr>
          <p:spPr>
            <a:xfrm>
              <a:off x="6600" y="4740"/>
              <a:ext cx="1724" cy="27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70" b="1" dirty="0">
                  <a:solidFill>
                    <a:srgbClr val="1E293B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质量控制引擎</a:t>
              </a:r>
              <a:endParaRPr lang="en-US" sz="970" dirty="0"/>
            </a:p>
          </p:txBody>
        </p:sp>
        <p:sp>
          <p:nvSpPr>
            <p:cNvPr id="32" name="Text 16"/>
            <p:cNvSpPr/>
            <p:nvPr/>
          </p:nvSpPr>
          <p:spPr>
            <a:xfrm>
              <a:off x="6600" y="5040"/>
              <a:ext cx="1724" cy="25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病种匹配+AI质控分析</a:t>
              </a:r>
              <a:endParaRPr lang="en-US" sz="900" dirty="0"/>
            </a:p>
          </p:txBody>
        </p:sp>
      </p:grp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9294" y="1428714"/>
            <a:ext cx="4057549" cy="2124022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314" y="1685883"/>
            <a:ext cx="190495" cy="152396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7696008" y="1666833"/>
            <a:ext cx="103781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系统架构特色</a:t>
            </a:r>
            <a:endParaRPr lang="en-US" sz="1350" dirty="0"/>
          </a:p>
        </p:txBody>
      </p:sp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314" y="2066873"/>
            <a:ext cx="38099" cy="38099"/>
          </a:xfrm>
          <a:prstGeom prst="rect">
            <a:avLst/>
          </a:prstGeom>
        </p:spPr>
      </p:pic>
      <p:sp>
        <p:nvSpPr>
          <p:cNvPr id="37" name="Text 18"/>
          <p:cNvSpPr/>
          <p:nvPr/>
        </p:nvSpPr>
        <p:spPr>
          <a:xfrm>
            <a:off x="7543611" y="2009725"/>
            <a:ext cx="2066493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主服务器+执行服务器双节点分离架构</a:t>
            </a:r>
            <a:endParaRPr lang="en-US" sz="970" dirty="0"/>
          </a:p>
        </p:txBody>
      </p:sp>
      <p:pic>
        <p:nvPicPr>
          <p:cNvPr id="38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314" y="2333567"/>
            <a:ext cx="38099" cy="38099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7543611" y="2276418"/>
            <a:ext cx="1495007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数据库轮询驱动，天然解耦</a:t>
            </a:r>
            <a:endParaRPr lang="en-US" sz="970" dirty="0"/>
          </a:p>
        </p:txBody>
      </p:sp>
      <p:pic>
        <p:nvPicPr>
          <p:cNvPr id="4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314" y="2600260"/>
            <a:ext cx="38099" cy="38099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7543611" y="2543111"/>
            <a:ext cx="1466433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AES-256-CBC全程加密传输</a:t>
            </a:r>
            <a:endParaRPr lang="en-US" sz="970" dirty="0"/>
          </a:p>
        </p:txBody>
      </p:sp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314" y="2866953"/>
            <a:ext cx="38099" cy="38099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7543611" y="2809805"/>
            <a:ext cx="1275937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Docker容器化一键部署</a:t>
            </a:r>
            <a:endParaRPr lang="en-US" sz="970" dirty="0"/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314" y="3133647"/>
            <a:ext cx="38099" cy="38099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7543611" y="3076498"/>
            <a:ext cx="1866473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低成本投入：几万元硬件即可运行</a:t>
            </a:r>
            <a:endParaRPr lang="en-US" sz="970" dirty="0"/>
          </a:p>
        </p:txBody>
      </p:sp>
      <p:pic>
        <p:nvPicPr>
          <p:cNvPr id="46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9294" y="3743231"/>
            <a:ext cx="4057549" cy="2124022"/>
          </a:xfrm>
          <a:prstGeom prst="rect">
            <a:avLst/>
          </a:prstGeom>
        </p:spPr>
      </p:pic>
      <p:pic>
        <p:nvPicPr>
          <p:cNvPr id="47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314" y="4000400"/>
            <a:ext cx="114297" cy="152396"/>
          </a:xfrm>
          <a:prstGeom prst="rect">
            <a:avLst/>
          </a:prstGeom>
        </p:spPr>
      </p:pic>
      <p:sp>
        <p:nvSpPr>
          <p:cNvPr id="48" name="Text 23"/>
          <p:cNvSpPr/>
          <p:nvPr/>
        </p:nvSpPr>
        <p:spPr>
          <a:xfrm>
            <a:off x="7619809" y="3981350"/>
            <a:ext cx="69492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核心优势</a:t>
            </a:r>
            <a:endParaRPr lang="en-US" sz="1350" dirty="0"/>
          </a:p>
        </p:txBody>
      </p:sp>
      <p:pic>
        <p:nvPicPr>
          <p:cNvPr id="49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314" y="4381390"/>
            <a:ext cx="57149" cy="57149"/>
          </a:xfrm>
          <a:prstGeom prst="rect">
            <a:avLst/>
          </a:prstGeom>
        </p:spPr>
      </p:pic>
      <p:sp>
        <p:nvSpPr>
          <p:cNvPr id="50" name="Text 24"/>
          <p:cNvSpPr/>
          <p:nvPr/>
        </p:nvSpPr>
        <p:spPr>
          <a:xfrm>
            <a:off x="7562661" y="4324242"/>
            <a:ext cx="1914096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全国罕见的"医生+开发者"双重身份</a:t>
            </a:r>
            <a:endParaRPr lang="en-US" sz="970" dirty="0"/>
          </a:p>
        </p:txBody>
      </p:sp>
      <p:pic>
        <p:nvPicPr>
          <p:cNvPr id="51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314" y="4667133"/>
            <a:ext cx="57149" cy="57149"/>
          </a:xfrm>
          <a:prstGeom prst="rect">
            <a:avLst/>
          </a:prstGeom>
        </p:spPr>
      </p:pic>
      <p:sp>
        <p:nvSpPr>
          <p:cNvPr id="52" name="Text 25"/>
          <p:cNvSpPr/>
          <p:nvPr/>
        </p:nvSpPr>
        <p:spPr>
          <a:xfrm>
            <a:off x="7562661" y="4609985"/>
            <a:ext cx="2361760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冠脉及结构性心脏病介入专家亲自主导开发</a:t>
            </a:r>
            <a:endParaRPr lang="en-US" sz="970" dirty="0"/>
          </a:p>
        </p:txBody>
      </p:sp>
      <p:pic>
        <p:nvPicPr>
          <p:cNvPr id="53" name="Image 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314" y="4952876"/>
            <a:ext cx="57149" cy="57149"/>
          </a:xfrm>
          <a:prstGeom prst="rect">
            <a:avLst/>
          </a:prstGeom>
        </p:spPr>
      </p:pic>
      <p:sp>
        <p:nvSpPr>
          <p:cNvPr id="54" name="Text 26"/>
          <p:cNvSpPr/>
          <p:nvPr/>
        </p:nvSpPr>
        <p:spPr>
          <a:xfrm>
            <a:off x="7562661" y="4895728"/>
            <a:ext cx="2857048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系统已在成都市第五人民医院心血管一病区稳定运行</a:t>
            </a:r>
            <a:endParaRPr lang="en-US" sz="970" dirty="0"/>
          </a:p>
        </p:txBody>
      </p:sp>
      <p:pic>
        <p:nvPicPr>
          <p:cNvPr id="55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77" y="6086323"/>
            <a:ext cx="10362941" cy="314317"/>
          </a:xfrm>
          <a:prstGeom prst="rect">
            <a:avLst/>
          </a:prstGeom>
        </p:spPr>
      </p:pic>
      <p:pic>
        <p:nvPicPr>
          <p:cNvPr id="56" name="Image 2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377" y="6257769"/>
            <a:ext cx="133347" cy="133347"/>
          </a:xfrm>
          <a:prstGeom prst="rect">
            <a:avLst/>
          </a:prstGeom>
        </p:spPr>
      </p:pic>
      <p:sp>
        <p:nvSpPr>
          <p:cNvPr id="57" name="Text 27"/>
          <p:cNvSpPr/>
          <p:nvPr/>
        </p:nvSpPr>
        <p:spPr>
          <a:xfrm>
            <a:off x="1123922" y="6248244"/>
            <a:ext cx="197124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医疗级安全标准 · 临床验证 · 稳定运行</a:t>
            </a:r>
            <a:endParaRPr lang="en-US" sz="900" dirty="0"/>
          </a:p>
        </p:txBody>
      </p:sp>
      <p:sp>
        <p:nvSpPr>
          <p:cNvPr id="58" name="Text 28"/>
          <p:cNvSpPr/>
          <p:nvPr/>
        </p:nvSpPr>
        <p:spPr>
          <a:xfrm>
            <a:off x="10143871" y="6248244"/>
            <a:ext cx="115211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MedAiAssistant v2.0</a:t>
            </a:r>
            <a:endParaRPr lang="en-US" sz="900" dirty="0"/>
          </a:p>
        </p:txBody>
      </p:sp>
      <p:pic>
        <p:nvPicPr>
          <p:cNvPr id="59" name="Image 28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820129" y="6210145"/>
            <a:ext cx="57149" cy="57149"/>
          </a:xfrm>
          <a:prstGeom prst="rect">
            <a:avLst/>
          </a:prstGeom>
        </p:spPr>
      </p:pic>
      <p:pic>
        <p:nvPicPr>
          <p:cNvPr id="60" name="Image 29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953476" y="6210145"/>
            <a:ext cx="57149" cy="57149"/>
          </a:xfrm>
          <a:prstGeom prst="rect">
            <a:avLst/>
          </a:prstGeom>
        </p:spPr>
      </p:pic>
      <p:pic>
        <p:nvPicPr>
          <p:cNvPr id="61" name="Image 30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086823" y="6210145"/>
            <a:ext cx="57149" cy="57149"/>
          </a:xfrm>
          <a:prstGeom prst="rect">
            <a:avLst/>
          </a:prstGeom>
        </p:spPr>
      </p:pic>
      <p:pic>
        <p:nvPicPr>
          <p:cNvPr id="62" name="Image 31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220169" y="6210145"/>
            <a:ext cx="57149" cy="57149"/>
          </a:xfrm>
          <a:prstGeom prst="rect">
            <a:avLst/>
          </a:prstGeom>
        </p:spPr>
      </p:pic>
      <p:pic>
        <p:nvPicPr>
          <p:cNvPr id="63" name="Image 32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820129" y="6343491"/>
            <a:ext cx="57149" cy="57149"/>
          </a:xfrm>
          <a:prstGeom prst="rect">
            <a:avLst/>
          </a:prstGeom>
        </p:spPr>
      </p:pic>
      <p:pic>
        <p:nvPicPr>
          <p:cNvPr id="64" name="Image 33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953476" y="6343491"/>
            <a:ext cx="57149" cy="57149"/>
          </a:xfrm>
          <a:prstGeom prst="rect">
            <a:avLst/>
          </a:prstGeom>
        </p:spPr>
      </p:pic>
      <p:pic>
        <p:nvPicPr>
          <p:cNvPr id="65" name="Image 34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086823" y="6343491"/>
            <a:ext cx="57149" cy="57149"/>
          </a:xfrm>
          <a:prstGeom prst="rect">
            <a:avLst/>
          </a:prstGeom>
        </p:spPr>
      </p:pic>
      <p:pic>
        <p:nvPicPr>
          <p:cNvPr id="66" name="Image 3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1220169" y="6343491"/>
            <a:ext cx="57149" cy="57149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4057650" y="3538855"/>
            <a:ext cx="1761490" cy="351790"/>
            <a:chOff x="6390" y="4020"/>
            <a:chExt cx="2774" cy="554"/>
          </a:xfrm>
        </p:grpSpPr>
        <p:pic>
          <p:nvPicPr>
            <p:cNvPr id="69" name="Image 12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0" y="4140"/>
              <a:ext cx="90" cy="90"/>
            </a:xfrm>
            <a:prstGeom prst="rect">
              <a:avLst/>
            </a:prstGeom>
          </p:spPr>
        </p:pic>
        <p:sp>
          <p:nvSpPr>
            <p:cNvPr id="70" name="Text 13"/>
            <p:cNvSpPr/>
            <p:nvPr/>
          </p:nvSpPr>
          <p:spPr>
            <a:xfrm>
              <a:off x="6600" y="4020"/>
              <a:ext cx="2564" cy="27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70" b="1" dirty="0">
                  <a:solidFill>
                    <a:srgbClr val="1E293B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病历智能</a:t>
              </a:r>
              <a:r>
                <a:rPr lang="zh-CN" altLang="en-US" sz="970" b="1" dirty="0">
                  <a:solidFill>
                    <a:srgbClr val="1E293B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生成</a:t>
              </a:r>
              <a:endParaRPr lang="zh-CN" alt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endParaRPr>
            </a:p>
          </p:txBody>
        </p:sp>
        <p:sp>
          <p:nvSpPr>
            <p:cNvPr id="71" name="Text 14"/>
            <p:cNvSpPr/>
            <p:nvPr/>
          </p:nvSpPr>
          <p:spPr>
            <a:xfrm>
              <a:off x="6600" y="4320"/>
              <a:ext cx="2564" cy="25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900" dirty="0">
                  <a:solidFill>
                    <a:srgbClr val="475569"/>
                  </a:solidFill>
                  <a:latin typeface="等线" panose="02010600030101010101" pitchFamily="34" charset="-122"/>
                  <a:ea typeface="等线" panose="02010600030101010101" pitchFamily="34" charset="-122"/>
                  <a:cs typeface="等线" panose="02010600030101010101" pitchFamily="34" charset="-120"/>
                </a:rPr>
                <a:t>从入院到出院的所有记录均可智能生成</a:t>
              </a:r>
              <a:endParaRPr lang="en-US" altLang="zh-CN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47664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380990"/>
            <a:ext cx="129498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Core Technology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609585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核心技术剖析：可信医疗AI</a:t>
            </a:r>
            <a:endParaRPr lang="en-US" sz="2850" dirty="0"/>
          </a:p>
        </p:txBody>
      </p:sp>
      <p:sp>
        <p:nvSpPr>
          <p:cNvPr id="9" name="Text 2"/>
          <p:cNvSpPr/>
          <p:nvPr/>
        </p:nvSpPr>
        <p:spPr>
          <a:xfrm>
            <a:off x="914377" y="1142971"/>
            <a:ext cx="10372085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技术原理与学术界关注的核心问题高度契合，合作潜力巨大</a:t>
            </a:r>
            <a:endParaRPr lang="en-US" sz="105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552536"/>
            <a:ext cx="5086223" cy="140014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298" y="1800180"/>
            <a:ext cx="152396" cy="133347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304892" y="1752556"/>
            <a:ext cx="1914096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1. 临床决策支持（AI-Diag）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1076298" y="2057349"/>
            <a:ext cx="4771525" cy="295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技术原理：</a:t>
            </a:r>
            <a:r>
              <a:rPr lang="en-US" sz="820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基于RAG的Prompt智能组装，从结构化患者数据中提取信息，结合临床指南动态生成Prompt。</a:t>
            </a:r>
            <a:endParaRPr lang="en-US" sz="820" dirty="0"/>
          </a:p>
        </p:txBody>
      </p:sp>
      <p:sp>
        <p:nvSpPr>
          <p:cNvPr id="14" name="Text 5"/>
          <p:cNvSpPr/>
          <p:nvPr/>
        </p:nvSpPr>
        <p:spPr>
          <a:xfrm>
            <a:off x="1076298" y="2400240"/>
            <a:ext cx="477152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学术潜力：</a:t>
            </a: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医疗RAG可信性、知识冲突消解、Prompt模板通用性与个性化研究。</a:t>
            </a:r>
            <a:endParaRPr lang="en-US" sz="82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298" y="2619310"/>
            <a:ext cx="114297" cy="9524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247744" y="2600260"/>
            <a:ext cx="2104592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特色：科室特殊内容解耦，独立维护诊疗规则</a:t>
            </a:r>
            <a:endParaRPr lang="en-US" sz="82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3105072"/>
            <a:ext cx="5086223" cy="140014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298" y="3524162"/>
            <a:ext cx="133347" cy="133347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285843" y="3476538"/>
            <a:ext cx="2161740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2. DRG</a:t>
            </a:r>
            <a:r>
              <a:rPr lang="zh-CN" alt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智能分组</a:t>
            </a:r>
            <a:endParaRPr lang="zh-CN" altLang="en-US" sz="1200" b="1" dirty="0">
              <a:solidFill>
                <a:srgbClr val="0F76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34" charset="-12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076298" y="3781330"/>
            <a:ext cx="477152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技术原理：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手术分流过滤</a:t>
            </a:r>
            <a:r>
              <a:rPr lang="en-US" altLang="zh-CN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+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级联匹配</a:t>
            </a:r>
            <a:r>
              <a:rPr lang="en-US" altLang="zh-CN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+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别名匹配，精准匹配</a:t>
            </a:r>
            <a:r>
              <a:rPr lang="en-US" altLang="zh-CN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分组与医保费用</a:t>
            </a: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分析。</a:t>
            </a:r>
            <a:endParaRPr lang="zh-CN" altLang="en-US" sz="820" dirty="0"/>
          </a:p>
        </p:txBody>
      </p:sp>
      <p:sp>
        <p:nvSpPr>
          <p:cNvPr id="21" name="Text 9"/>
          <p:cNvSpPr/>
          <p:nvPr/>
        </p:nvSpPr>
        <p:spPr>
          <a:xfrm>
            <a:off x="1076325" y="3981450"/>
            <a:ext cx="4771390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学术潜力：</a:t>
            </a: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可合作研究DRG分组模型的精准度优化、医保支付精细化分析、AI辅助的医院运营绩效评价体系。</a:t>
            </a:r>
            <a:endParaRPr lang="zh-CN" altLang="en-US" sz="82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4657609"/>
            <a:ext cx="5086223" cy="140014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298" y="5000500"/>
            <a:ext cx="133347" cy="133347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1285843" y="4952876"/>
            <a:ext cx="1533106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3. 诊疗计划</a:t>
            </a:r>
            <a:r>
              <a:rPr lang="zh-CN" alt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智能辅助</a:t>
            </a:r>
            <a:endParaRPr lang="zh-CN" altLang="en-US" sz="1200" b="1" dirty="0">
              <a:solidFill>
                <a:srgbClr val="0F76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34" charset="-120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1076298" y="5257669"/>
            <a:ext cx="4771525" cy="295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技术原理：</a:t>
            </a: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</a:t>
            </a:r>
            <a:r>
              <a:rPr lang="zh-CN" altLang="en-US" sz="820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单病程质控、指南、共识的诊疗计划辅助</a:t>
            </a:r>
            <a:r>
              <a:rPr lang="en-US" sz="820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。</a:t>
            </a:r>
            <a:r>
              <a:rPr lang="zh-CN" altLang="en-US" sz="820" dirty="0"/>
              <a:t>准确性高，关键在解决向基层推广的难题。</a:t>
            </a:r>
            <a:endParaRPr lang="zh-CN" altLang="en-US" sz="820" dirty="0"/>
          </a:p>
        </p:txBody>
      </p:sp>
      <p:sp>
        <p:nvSpPr>
          <p:cNvPr id="26" name="Text 12"/>
          <p:cNvSpPr/>
          <p:nvPr/>
        </p:nvSpPr>
        <p:spPr>
          <a:xfrm>
            <a:off x="1076298" y="5610085"/>
            <a:ext cx="477152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学术潜力：</a:t>
            </a:r>
            <a:r>
              <a:rPr lang="zh-CN" altLang="en-US" sz="820" dirty="0"/>
              <a:t>可合作研究基层医疗同质化诊疗的</a:t>
            </a:r>
            <a:r>
              <a:rPr lang="en-US" altLang="zh-CN" sz="820" dirty="0"/>
              <a:t>AI</a:t>
            </a:r>
            <a:r>
              <a:rPr lang="zh-CN" altLang="en-US" sz="820" dirty="0"/>
              <a:t>实现路径与推广方法。</a:t>
            </a:r>
            <a:endParaRPr lang="zh-CN" altLang="en-US" sz="82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095" y="1552536"/>
            <a:ext cx="5086223" cy="2485963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3016" y="1762081"/>
            <a:ext cx="152396" cy="133347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6581610" y="1714457"/>
            <a:ext cx="1380710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4. 病历智能录入体系</a:t>
            </a:r>
            <a:endParaRPr lang="en-US" sz="120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3016" y="2057349"/>
            <a:ext cx="1543011" cy="600060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739" y="2162121"/>
            <a:ext cx="85723" cy="95248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6562561" y="2152596"/>
            <a:ext cx="428234" cy="12382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智能草稿</a:t>
            </a:r>
            <a:endParaRPr lang="en-US" sz="820" dirty="0"/>
          </a:p>
        </p:txBody>
      </p:sp>
      <p:sp>
        <p:nvSpPr>
          <p:cNvPr id="33" name="Text 15"/>
          <p:cNvSpPr/>
          <p:nvPr/>
        </p:nvSpPr>
        <p:spPr>
          <a:xfrm>
            <a:off x="6438739" y="2304992"/>
            <a:ext cx="1380710" cy="266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服务端存储，跨设备续写，11种场景自动保存，三层防重复</a:t>
            </a:r>
            <a:endParaRPr lang="en-US" sz="750" dirty="0"/>
          </a:p>
        </p:txBody>
      </p:sp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2226" y="2057349"/>
            <a:ext cx="1543011" cy="600060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57949" y="2162121"/>
            <a:ext cx="85723" cy="95248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8181770" y="2152596"/>
            <a:ext cx="428234" cy="12382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智录输入</a:t>
            </a:r>
            <a:endParaRPr lang="en-US" sz="820" dirty="0"/>
          </a:p>
        </p:txBody>
      </p:sp>
      <p:sp>
        <p:nvSpPr>
          <p:cNvPr id="37" name="Text 17"/>
          <p:cNvSpPr/>
          <p:nvPr/>
        </p:nvSpPr>
        <p:spPr>
          <a:xfrm>
            <a:off x="8057949" y="2304992"/>
            <a:ext cx="1380710" cy="266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</a:t>
            </a:r>
            <a:r>
              <a:rPr lang="en-US" sz="7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专业库，快速搜索+上下文推荐</a:t>
            </a:r>
            <a:endParaRPr lang="en-US" sz="750" dirty="0"/>
          </a:p>
        </p:txBody>
      </p:sp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81910" y="2057349"/>
            <a:ext cx="1543011" cy="600060"/>
          </a:xfrm>
          <a:prstGeom prst="rect">
            <a:avLst/>
          </a:prstGeom>
        </p:spPr>
      </p:pic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7633" y="2162121"/>
            <a:ext cx="76198" cy="95248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9781930" y="2152596"/>
            <a:ext cx="428234" cy="12382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语音识别</a:t>
            </a:r>
            <a:endParaRPr lang="en-US" sz="820" dirty="0"/>
          </a:p>
        </p:txBody>
      </p:sp>
      <p:sp>
        <p:nvSpPr>
          <p:cNvPr id="41" name="Text 19"/>
          <p:cNvSpPr/>
          <p:nvPr/>
        </p:nvSpPr>
        <p:spPr>
          <a:xfrm>
            <a:off x="9667633" y="2304992"/>
            <a:ext cx="1380710" cy="2666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阿里云ASR实时流式识别，延迟&lt;1秒</a:t>
            </a:r>
            <a:endParaRPr lang="en-US" sz="750" dirty="0"/>
          </a:p>
        </p:txBody>
      </p:sp>
      <p:sp>
        <p:nvSpPr>
          <p:cNvPr id="42" name="Text 20"/>
          <p:cNvSpPr/>
          <p:nvPr/>
        </p:nvSpPr>
        <p:spPr>
          <a:xfrm>
            <a:off x="6353016" y="2724082"/>
            <a:ext cx="4771525" cy="380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学术潜力：</a:t>
            </a: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多模态（文本+语音）交互效率与认知负荷；AI生成文本临床可接受度；跨设备数据一致性保障。</a:t>
            </a:r>
            <a:endParaRPr lang="en-US" sz="820" dirty="0"/>
          </a:p>
        </p:txBody>
      </p:sp>
      <p:pic>
        <p:nvPicPr>
          <p:cNvPr id="43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1095" y="4190895"/>
            <a:ext cx="5086223" cy="1866853"/>
          </a:xfrm>
          <a:prstGeom prst="rect">
            <a:avLst/>
          </a:prstGeom>
        </p:spPr>
      </p:pic>
      <p:pic>
        <p:nvPicPr>
          <p:cNvPr id="44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3016" y="4686183"/>
            <a:ext cx="171446" cy="133347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6600660" y="4638559"/>
            <a:ext cx="1475957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5. OpenClaw AI Agent</a:t>
            </a:r>
            <a:r>
              <a:rPr lang="zh-CN" alt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，智能眼镜</a:t>
            </a:r>
            <a:r>
              <a:rPr lang="en-US" altLang="zh-CN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-</a:t>
            </a:r>
            <a:r>
              <a:rPr lang="zh-CN" alt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平板多模态协同</a:t>
            </a:r>
            <a:endParaRPr lang="zh-CN" altLang="en-US" sz="1200" b="1" dirty="0">
              <a:solidFill>
                <a:srgbClr val="0F76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34" charset="-120"/>
            </a:endParaRPr>
          </a:p>
        </p:txBody>
      </p:sp>
      <p:pic>
        <p:nvPicPr>
          <p:cNvPr id="46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62921" y="4648084"/>
            <a:ext cx="962001" cy="200020"/>
          </a:xfrm>
          <a:prstGeom prst="rect">
            <a:avLst/>
          </a:prstGeom>
        </p:spPr>
      </p:pic>
      <p:sp>
        <p:nvSpPr>
          <p:cNvPr id="47" name="Text 22"/>
          <p:cNvSpPr/>
          <p:nvPr/>
        </p:nvSpPr>
        <p:spPr>
          <a:xfrm>
            <a:off x="10239119" y="4667133"/>
            <a:ext cx="818749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待实现·可联合攻关</a:t>
            </a:r>
            <a:endParaRPr lang="en-US" sz="750" dirty="0"/>
          </a:p>
        </p:txBody>
      </p:sp>
      <p:sp>
        <p:nvSpPr>
          <p:cNvPr id="48" name="Text 23"/>
          <p:cNvSpPr/>
          <p:nvPr/>
        </p:nvSpPr>
        <p:spPr>
          <a:xfrm>
            <a:off x="6353016" y="4943351"/>
            <a:ext cx="477152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构想方案：</a:t>
            </a:r>
            <a:r>
              <a:rPr lang="en-US" sz="820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自然语言驱动的多步骤API编排引擎，整合180+ REST API为统一自然语言服务。</a:t>
            </a:r>
            <a:endParaRPr lang="en-US" sz="820" dirty="0">
              <a:solidFill>
                <a:srgbClr val="1E293B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  <a:p>
            <a:pPr marL="0" indent="0" algn="l">
              <a:buNone/>
            </a:pPr>
            <a:r>
              <a:rPr lang="en-US" sz="820" dirty="0"/>
              <a:t>                       </a:t>
            </a:r>
            <a:r>
              <a:rPr lang="zh-CN" altLang="en-US" sz="820" dirty="0"/>
              <a:t>以</a:t>
            </a:r>
            <a:r>
              <a:rPr lang="en-US" altLang="zh-CN" sz="820" dirty="0"/>
              <a:t>Rokid</a:t>
            </a:r>
            <a:r>
              <a:rPr lang="zh-CN" altLang="en-US" sz="820" dirty="0"/>
              <a:t>等智能眼镜为外设、平板为主控，探索手术场景下的语音采集</a:t>
            </a:r>
            <a:r>
              <a:rPr lang="en-US" altLang="zh-CN" sz="820" dirty="0"/>
              <a:t>+</a:t>
            </a:r>
            <a:r>
              <a:rPr lang="zh-CN" altLang="en-US" sz="820" dirty="0"/>
              <a:t>信息推送交互模式</a:t>
            </a:r>
            <a:endParaRPr lang="zh-CN" altLang="en-US" sz="820" dirty="0"/>
          </a:p>
        </p:txBody>
      </p:sp>
      <p:sp>
        <p:nvSpPr>
          <p:cNvPr id="49" name="Text 24"/>
          <p:cNvSpPr/>
          <p:nvPr/>
        </p:nvSpPr>
        <p:spPr>
          <a:xfrm>
            <a:off x="6353175" y="5143500"/>
            <a:ext cx="477139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学术潜力：</a:t>
            </a: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医疗场景意图识别与API编排、领域Agent Skill机制、多用户并发隔离与会话管理。</a:t>
            </a:r>
            <a:b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</a:b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                   </a:t>
            </a:r>
            <a:r>
              <a:rPr lang="zh-CN" alt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多模态交互、边缘智能、情境感知计算交叉领域的理想实验平台。</a:t>
            </a:r>
            <a:endParaRPr lang="zh-CN" altLang="en-US" sz="820" dirty="0">
              <a:solidFill>
                <a:srgbClr val="475569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</p:txBody>
      </p:sp>
      <p:pic>
        <p:nvPicPr>
          <p:cNvPr id="50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2541" y="5552941"/>
            <a:ext cx="4762381" cy="266693"/>
          </a:xfrm>
          <a:prstGeom prst="rect">
            <a:avLst/>
          </a:prstGeom>
        </p:spPr>
      </p:pic>
      <p:pic>
        <p:nvPicPr>
          <p:cNvPr id="51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0165" y="5527540"/>
            <a:ext cx="95248" cy="95248"/>
          </a:xfrm>
          <a:prstGeom prst="rect">
            <a:avLst/>
          </a:prstGeom>
        </p:spPr>
      </p:pic>
      <p:sp>
        <p:nvSpPr>
          <p:cNvPr id="52" name="Text 25"/>
          <p:cNvSpPr/>
          <p:nvPr/>
        </p:nvSpPr>
        <p:spPr>
          <a:xfrm>
            <a:off x="6562725" y="5508625"/>
            <a:ext cx="2856865" cy="4089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当前基础：完整REST API体系（180+接口）与标准化返回格式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，且已跑通本系统通过</a:t>
            </a:r>
            <a:r>
              <a:rPr lang="en-US" altLang="zh-CN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OpenClaw API</a:t>
            </a:r>
            <a:endParaRPr lang="en-US" altLang="zh-CN" sz="820" dirty="0">
              <a:solidFill>
                <a:srgbClr val="334155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  <a:p>
            <a:pPr marL="0" indent="0" algn="l">
              <a:buNone/>
            </a:pPr>
            <a:r>
              <a:rPr lang="en-US" altLang="zh-CN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            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调用本系统</a:t>
            </a:r>
            <a:r>
              <a:rPr lang="en-US" altLang="zh-CN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API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。</a:t>
            </a:r>
            <a:endParaRPr lang="zh-CN" altLang="en-US" sz="820" dirty="0">
              <a:solidFill>
                <a:srgbClr val="334155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  <a:p>
            <a:pPr marL="0" indent="0" algn="l">
              <a:buNone/>
            </a:pPr>
            <a:r>
              <a:rPr lang="en-US" altLang="zh-CN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            </a:t>
            </a:r>
            <a:r>
              <a:rPr lang="en-US" altLang="zh-CN" sz="820" dirty="0">
                <a:sym typeface="+mn-ea"/>
              </a:rPr>
              <a:t>Rokid</a:t>
            </a:r>
            <a:r>
              <a:rPr lang="zh-CN" altLang="en-US" sz="820" dirty="0">
                <a:sym typeface="+mn-ea"/>
              </a:rPr>
              <a:t>智能眼镜有</a:t>
            </a:r>
            <a:r>
              <a:rPr lang="en-US" altLang="zh-CN" sz="820" dirty="0">
                <a:sym typeface="+mn-ea"/>
              </a:rPr>
              <a:t>SDK</a:t>
            </a:r>
            <a:r>
              <a:rPr lang="zh-CN" altLang="en-US" sz="820" dirty="0">
                <a:sym typeface="+mn-ea"/>
              </a:rPr>
              <a:t>开发工具。</a:t>
            </a:r>
            <a:endParaRPr lang="zh-CN" altLang="en-US" sz="820" dirty="0">
              <a:solidFill>
                <a:srgbClr val="334155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  <a:sym typeface="+mn-ea"/>
            </a:endParaRPr>
          </a:p>
        </p:txBody>
      </p:sp>
      <p:pic>
        <p:nvPicPr>
          <p:cNvPr id="53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377" y="6200620"/>
            <a:ext cx="10362941" cy="276218"/>
          </a:xfrm>
          <a:prstGeom prst="rect">
            <a:avLst/>
          </a:prstGeom>
        </p:spPr>
      </p:pic>
      <p:pic>
        <p:nvPicPr>
          <p:cNvPr id="54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377" y="6333967"/>
            <a:ext cx="104772" cy="133347"/>
          </a:xfrm>
          <a:prstGeom prst="rect">
            <a:avLst/>
          </a:prstGeom>
        </p:spPr>
      </p:pic>
      <p:sp>
        <p:nvSpPr>
          <p:cNvPr id="55" name="Text 26"/>
          <p:cNvSpPr/>
          <p:nvPr/>
        </p:nvSpPr>
        <p:spPr>
          <a:xfrm>
            <a:off x="1095348" y="6324442"/>
            <a:ext cx="163787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技术透明可解释 · 学术合作开放</a:t>
            </a:r>
            <a:endParaRPr lang="en-US" sz="900" dirty="0"/>
          </a:p>
        </p:txBody>
      </p:sp>
      <p:sp>
        <p:nvSpPr>
          <p:cNvPr id="56" name="Text 27"/>
          <p:cNvSpPr/>
          <p:nvPr/>
        </p:nvSpPr>
        <p:spPr>
          <a:xfrm>
            <a:off x="10020049" y="6324442"/>
            <a:ext cx="127593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Technical Architecture</a:t>
            </a:r>
            <a:endParaRPr lang="en-US" sz="900" dirty="0"/>
          </a:p>
        </p:txBody>
      </p:sp>
      <p:pic>
        <p:nvPicPr>
          <p:cNvPr id="57" name="Image 27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0820129" y="6286343"/>
            <a:ext cx="57149" cy="57149"/>
          </a:xfrm>
          <a:prstGeom prst="rect">
            <a:avLst/>
          </a:prstGeom>
        </p:spPr>
      </p:pic>
      <p:pic>
        <p:nvPicPr>
          <p:cNvPr id="58" name="Image 28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0953476" y="6286343"/>
            <a:ext cx="57149" cy="57149"/>
          </a:xfrm>
          <a:prstGeom prst="rect">
            <a:avLst/>
          </a:prstGeom>
        </p:spPr>
      </p:pic>
      <p:pic>
        <p:nvPicPr>
          <p:cNvPr id="59" name="Image 29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1086823" y="6286343"/>
            <a:ext cx="57149" cy="57149"/>
          </a:xfrm>
          <a:prstGeom prst="rect">
            <a:avLst/>
          </a:prstGeom>
        </p:spPr>
      </p:pic>
      <p:pic>
        <p:nvPicPr>
          <p:cNvPr id="60" name="Image 30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1220169" y="6286343"/>
            <a:ext cx="57149" cy="57149"/>
          </a:xfrm>
          <a:prstGeom prst="rect">
            <a:avLst/>
          </a:prstGeom>
        </p:spPr>
      </p:pic>
      <p:pic>
        <p:nvPicPr>
          <p:cNvPr id="61" name="Image 31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0820129" y="6419690"/>
            <a:ext cx="57149" cy="57149"/>
          </a:xfrm>
          <a:prstGeom prst="rect">
            <a:avLst/>
          </a:prstGeom>
        </p:spPr>
      </p:pic>
      <p:pic>
        <p:nvPicPr>
          <p:cNvPr id="62" name="Image 32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0953476" y="6419690"/>
            <a:ext cx="57149" cy="57149"/>
          </a:xfrm>
          <a:prstGeom prst="rect">
            <a:avLst/>
          </a:prstGeom>
        </p:spPr>
      </p:pic>
      <p:pic>
        <p:nvPicPr>
          <p:cNvPr id="63" name="Image 33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1086823" y="6419690"/>
            <a:ext cx="57149" cy="57149"/>
          </a:xfrm>
          <a:prstGeom prst="rect">
            <a:avLst/>
          </a:prstGeom>
        </p:spPr>
      </p:pic>
      <p:pic>
        <p:nvPicPr>
          <p:cNvPr id="64" name="Image 34" descr="preencoded.png"/>
          <p:cNvPicPr>
            <a:picLocks noChangeAspect="1"/>
          </p:cNvPicPr>
          <p:nvPr/>
        </p:nvPicPr>
        <p:blipFill>
          <a:blip r:embed="rId24">
            <a:alphaModFix amt="20000"/>
          </a:blip>
          <a:stretch>
            <a:fillRect/>
          </a:stretch>
        </p:blipFill>
        <p:spPr>
          <a:xfrm>
            <a:off x="11220169" y="6419690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47664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380990"/>
            <a:ext cx="182837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Architecture Advantage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609585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架构优势：为前沿研究铺路</a:t>
            </a:r>
            <a:endParaRPr lang="en-US" sz="2850" dirty="0"/>
          </a:p>
        </p:txBody>
      </p:sp>
      <p:sp>
        <p:nvSpPr>
          <p:cNvPr id="9" name="Text 2"/>
          <p:cNvSpPr/>
          <p:nvPr/>
        </p:nvSpPr>
        <p:spPr>
          <a:xfrm>
            <a:off x="914377" y="1142971"/>
            <a:ext cx="10372085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系统架构经过一线临床检验，天然支持隐私保护和异步计算，为未来技术研究奠定基础。</a:t>
            </a:r>
            <a:endParaRPr lang="en-US" sz="105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552536"/>
            <a:ext cx="5086223" cy="207639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397" y="1809705"/>
            <a:ext cx="152396" cy="152396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342991" y="1790655"/>
            <a:ext cx="251415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主服务器+执行服务器双节点架构</a:t>
            </a:r>
            <a:endParaRPr lang="en-US" sz="135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397" y="2190695"/>
            <a:ext cx="38099" cy="38099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228694" y="2133547"/>
            <a:ext cx="4581030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职责分离：</a:t>
            </a:r>
            <a:r>
              <a:rPr lang="en-US" sz="97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主服务器负责业务编排、API服务、数据管理；执行服务器专注AI计算与重任务处理</a:t>
            </a:r>
            <a:endParaRPr lang="en-US" sz="97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397" y="2600260"/>
            <a:ext cx="38099" cy="38099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228694" y="2543111"/>
            <a:ext cx="4581030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核心机制：</a:t>
            </a:r>
            <a:r>
              <a:rPr lang="en-US" sz="97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数据库轮询驱动——以ENCRYPTED_DATA_TEMP临时加密表为交换媒介，实现异步任务处理</a:t>
            </a:r>
            <a:endParaRPr lang="en-US" sz="97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397" y="3019350"/>
            <a:ext cx="38099" cy="38099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228694" y="2962201"/>
            <a:ext cx="4581030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科研价值：</a:t>
            </a:r>
            <a:r>
              <a:rPr lang="en-US" sz="97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天然支持异步任务处理，适合部署需要长时间计算的科研任务；故障隔离确保AI计算不阻塞业务系统</a:t>
            </a:r>
            <a:endParaRPr lang="en-US" sz="97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095" y="1552536"/>
            <a:ext cx="5086223" cy="2076398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115" y="1809705"/>
            <a:ext cx="133347" cy="152396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600660" y="1790655"/>
            <a:ext cx="138071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数据加密传输闭环</a:t>
            </a:r>
            <a:endParaRPr lang="en-US" sz="135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115" y="2133547"/>
            <a:ext cx="4686183" cy="761981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514937" y="2257369"/>
            <a:ext cx="637778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主服务器加密</a:t>
            </a:r>
            <a:endParaRPr lang="en-US" sz="82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5037" y="2276418"/>
            <a:ext cx="85723" cy="95248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7962701" y="2257369"/>
            <a:ext cx="323461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中转表</a:t>
            </a:r>
            <a:endParaRPr lang="en-US" sz="82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8484" y="2276418"/>
            <a:ext cx="85723" cy="95248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9096148" y="2257369"/>
            <a:ext cx="742551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执行服务器解密</a:t>
            </a:r>
            <a:endParaRPr lang="en-US" sz="82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1020" y="2276418"/>
            <a:ext cx="85723" cy="95248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10648684" y="2257369"/>
            <a:ext cx="323461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AI分析</a:t>
            </a:r>
            <a:endParaRPr lang="en-US" sz="82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632" y="2457389"/>
            <a:ext cx="76198" cy="95248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6514937" y="2628834"/>
            <a:ext cx="847323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主服务器获取入库</a:t>
            </a:r>
            <a:endParaRPr lang="en-US" sz="82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0880" y="2647884"/>
            <a:ext cx="85723" cy="95248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10324842" y="2628834"/>
            <a:ext cx="637778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结果加密写回</a:t>
            </a:r>
            <a:endParaRPr lang="en-US" sz="82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115" y="3057449"/>
            <a:ext cx="38099" cy="38099"/>
          </a:xfrm>
          <a:prstGeom prst="rect">
            <a:avLst/>
          </a:prstGeom>
        </p:spPr>
      </p:pic>
      <p:sp>
        <p:nvSpPr>
          <p:cNvPr id="35" name="Text 14"/>
          <p:cNvSpPr/>
          <p:nvPr/>
        </p:nvSpPr>
        <p:spPr>
          <a:xfrm>
            <a:off x="6505412" y="3000300"/>
            <a:ext cx="2647503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技术规格：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AES-256-CBC加密，PBKDF2密钥派生</a:t>
            </a:r>
            <a:endParaRPr lang="en-US" sz="97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115" y="3305092"/>
            <a:ext cx="38099" cy="38099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6505412" y="3247944"/>
            <a:ext cx="4342911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科研价值：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为隐私保护计算、安全多方计算研究提供真实、经过验证的实验环境</a:t>
            </a:r>
            <a:endParaRPr lang="en-US" sz="97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377" y="3809905"/>
            <a:ext cx="5086223" cy="2371666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4397" y="4067073"/>
            <a:ext cx="152396" cy="152396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1342991" y="4048024"/>
            <a:ext cx="103781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低成本可推广</a:t>
            </a:r>
            <a:endParaRPr lang="en-US" sz="1350" dirty="0"/>
          </a:p>
        </p:txBody>
      </p:sp>
      <p:pic>
        <p:nvPicPr>
          <p:cNvPr id="41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397" y="4409965"/>
            <a:ext cx="228594" cy="228594"/>
          </a:xfrm>
          <a:prstGeom prst="rect">
            <a:avLst/>
          </a:prstGeom>
        </p:spPr>
      </p:pic>
      <p:sp>
        <p:nvSpPr>
          <p:cNvPr id="42" name="Text 17"/>
          <p:cNvSpPr/>
          <p:nvPr/>
        </p:nvSpPr>
        <p:spPr>
          <a:xfrm>
            <a:off x="1171546" y="4448064"/>
            <a:ext cx="1424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01</a:t>
            </a:r>
            <a:endParaRPr lang="en-US" sz="900" dirty="0"/>
          </a:p>
        </p:txBody>
      </p:sp>
      <p:sp>
        <p:nvSpPr>
          <p:cNvPr id="43" name="Text 18"/>
          <p:cNvSpPr/>
          <p:nvPr/>
        </p:nvSpPr>
        <p:spPr>
          <a:xfrm>
            <a:off x="1457289" y="4400440"/>
            <a:ext cx="875897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几万元硬件投入</a:t>
            </a:r>
            <a:endParaRPr lang="en-US" sz="970" dirty="0"/>
          </a:p>
        </p:txBody>
      </p:sp>
      <p:sp>
        <p:nvSpPr>
          <p:cNvPr id="44" name="Text 19"/>
          <p:cNvSpPr/>
          <p:nvPr/>
        </p:nvSpPr>
        <p:spPr>
          <a:xfrm>
            <a:off x="1457289" y="4562361"/>
            <a:ext cx="229508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即可在基层医院稳定运行，无需自建GPU集群</a:t>
            </a:r>
            <a:endParaRPr lang="en-US" sz="900" dirty="0"/>
          </a:p>
        </p:txBody>
      </p:sp>
      <p:pic>
        <p:nvPicPr>
          <p:cNvPr id="4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397" y="4848104"/>
            <a:ext cx="228594" cy="228594"/>
          </a:xfrm>
          <a:prstGeom prst="rect">
            <a:avLst/>
          </a:prstGeom>
        </p:spPr>
      </p:pic>
      <p:sp>
        <p:nvSpPr>
          <p:cNvPr id="46" name="Text 20"/>
          <p:cNvSpPr/>
          <p:nvPr/>
        </p:nvSpPr>
        <p:spPr>
          <a:xfrm>
            <a:off x="1171546" y="4886203"/>
            <a:ext cx="1424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02</a:t>
            </a:r>
            <a:endParaRPr lang="en-US" sz="900" dirty="0"/>
          </a:p>
        </p:txBody>
      </p:sp>
      <p:sp>
        <p:nvSpPr>
          <p:cNvPr id="47" name="Text 21"/>
          <p:cNvSpPr/>
          <p:nvPr/>
        </p:nvSpPr>
        <p:spPr>
          <a:xfrm>
            <a:off x="1457289" y="4838579"/>
            <a:ext cx="1028294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Docker容器化部署</a:t>
            </a:r>
            <a:endParaRPr lang="en-US" sz="970" dirty="0"/>
          </a:p>
        </p:txBody>
      </p:sp>
      <p:sp>
        <p:nvSpPr>
          <p:cNvPr id="48" name="Text 22"/>
          <p:cNvSpPr/>
          <p:nvPr/>
        </p:nvSpPr>
        <p:spPr>
          <a:xfrm>
            <a:off x="1457289" y="5000500"/>
            <a:ext cx="166645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标准化交付，1-2周即可上线运行</a:t>
            </a:r>
            <a:endParaRPr lang="en-US" sz="900" dirty="0"/>
          </a:p>
        </p:txBody>
      </p:sp>
      <p:pic>
        <p:nvPicPr>
          <p:cNvPr id="49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397" y="5295768"/>
            <a:ext cx="228594" cy="228594"/>
          </a:xfrm>
          <a:prstGeom prst="rect">
            <a:avLst/>
          </a:prstGeom>
        </p:spPr>
      </p:pic>
      <p:sp>
        <p:nvSpPr>
          <p:cNvPr id="50" name="Text 23"/>
          <p:cNvSpPr/>
          <p:nvPr/>
        </p:nvSpPr>
        <p:spPr>
          <a:xfrm>
            <a:off x="1171546" y="5333867"/>
            <a:ext cx="1424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03</a:t>
            </a:r>
            <a:endParaRPr lang="en-US" sz="900" dirty="0"/>
          </a:p>
        </p:txBody>
      </p:sp>
      <p:sp>
        <p:nvSpPr>
          <p:cNvPr id="51" name="Text 24"/>
          <p:cNvSpPr/>
          <p:nvPr/>
        </p:nvSpPr>
        <p:spPr>
          <a:xfrm>
            <a:off x="1457289" y="5286243"/>
            <a:ext cx="875897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零GPU运维成本</a:t>
            </a:r>
            <a:endParaRPr lang="en-US" sz="970" dirty="0"/>
          </a:p>
        </p:txBody>
      </p:sp>
      <p:sp>
        <p:nvSpPr>
          <p:cNvPr id="52" name="Text 25"/>
          <p:cNvSpPr/>
          <p:nvPr/>
        </p:nvSpPr>
        <p:spPr>
          <a:xfrm>
            <a:off x="1457289" y="5448164"/>
            <a:ext cx="229508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通过远程调用方式获取AI算力，降低硬件门槛</a:t>
            </a:r>
            <a:endParaRPr lang="en-US" sz="900" dirty="0"/>
          </a:p>
        </p:txBody>
      </p:sp>
      <p:pic>
        <p:nvPicPr>
          <p:cNvPr id="53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095" y="3809905"/>
            <a:ext cx="5086223" cy="2371666"/>
          </a:xfrm>
          <a:prstGeom prst="rect">
            <a:avLst/>
          </a:prstGeom>
        </p:spPr>
      </p:pic>
      <p:pic>
        <p:nvPicPr>
          <p:cNvPr id="54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1115" y="4067073"/>
            <a:ext cx="190495" cy="152396"/>
          </a:xfrm>
          <a:prstGeom prst="rect">
            <a:avLst/>
          </a:prstGeom>
        </p:spPr>
      </p:pic>
      <p:sp>
        <p:nvSpPr>
          <p:cNvPr id="55" name="Text 26"/>
          <p:cNvSpPr/>
          <p:nvPr/>
        </p:nvSpPr>
        <p:spPr>
          <a:xfrm>
            <a:off x="6657809" y="4048024"/>
            <a:ext cx="277132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天然</a:t>
            </a:r>
            <a:r>
              <a:rPr lang="zh-CN" alt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适配</a:t>
            </a: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"东数西算"</a:t>
            </a:r>
            <a:r>
              <a:rPr lang="zh-CN" alt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、</a:t>
            </a:r>
            <a:r>
              <a:rPr 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国家算力中心</a:t>
            </a:r>
            <a:r>
              <a:rPr lang="zh-CN" altLang="en-US" sz="135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等基础算力设施</a:t>
            </a:r>
            <a:endParaRPr lang="zh-CN" altLang="en-US" sz="1350" b="1" dirty="0">
              <a:solidFill>
                <a:srgbClr val="0F766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34" charset="-120"/>
            </a:endParaRPr>
          </a:p>
        </p:txBody>
      </p:sp>
      <p:pic>
        <p:nvPicPr>
          <p:cNvPr id="56" name="Image 2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115" y="4448064"/>
            <a:ext cx="38099" cy="38099"/>
          </a:xfrm>
          <a:prstGeom prst="rect">
            <a:avLst/>
          </a:prstGeom>
        </p:spPr>
      </p:pic>
      <p:sp>
        <p:nvSpPr>
          <p:cNvPr id="57" name="Text 27"/>
          <p:cNvSpPr/>
          <p:nvPr/>
        </p:nvSpPr>
        <p:spPr>
          <a:xfrm>
            <a:off x="6505412" y="4390915"/>
            <a:ext cx="4581030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架构适配：</a:t>
            </a:r>
            <a:r>
              <a:rPr lang="en-US" sz="97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"主服务器本地部署（数据面）+ 执行服务器远程部署（算力面）"天然适配国家"东数西算"战略</a:t>
            </a:r>
            <a:endParaRPr lang="en-US" sz="970" dirty="0"/>
          </a:p>
        </p:txBody>
      </p:sp>
      <p:pic>
        <p:nvPicPr>
          <p:cNvPr id="58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115" y="4867153"/>
            <a:ext cx="38099" cy="38099"/>
          </a:xfrm>
          <a:prstGeom prst="rect">
            <a:avLst/>
          </a:prstGeom>
        </p:spPr>
      </p:pic>
      <p:sp>
        <p:nvSpPr>
          <p:cNvPr id="59" name="Text 28"/>
          <p:cNvSpPr/>
          <p:nvPr/>
        </p:nvSpPr>
        <p:spPr>
          <a:xfrm>
            <a:off x="6505412" y="4810005"/>
            <a:ext cx="4581030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算力获取：</a:t>
            </a:r>
            <a:r>
              <a:rPr lang="en-US" sz="97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基层医院无需采购昂贵GPU，通过执行服务器远程调用国家算力中心的AI能力</a:t>
            </a:r>
            <a:endParaRPr lang="en-US" sz="970" dirty="0"/>
          </a:p>
        </p:txBody>
      </p:sp>
      <p:pic>
        <p:nvPicPr>
          <p:cNvPr id="60" name="Image 2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115" y="5276718"/>
            <a:ext cx="38099" cy="38099"/>
          </a:xfrm>
          <a:prstGeom prst="rect">
            <a:avLst/>
          </a:prstGeom>
        </p:spPr>
      </p:pic>
      <p:sp>
        <p:nvSpPr>
          <p:cNvPr id="61" name="Text 29"/>
          <p:cNvSpPr/>
          <p:nvPr/>
        </p:nvSpPr>
        <p:spPr>
          <a:xfrm>
            <a:off x="6505412" y="5219570"/>
            <a:ext cx="4581030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科研价值：</a:t>
            </a:r>
            <a:r>
              <a:rPr lang="en-US" sz="97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为研究"算力网+医疗"的协同调度优化、数据面与算力面分离下的隐私保护策略提供实验平台</a:t>
            </a:r>
            <a:endParaRPr lang="en-US" sz="970" dirty="0"/>
          </a:p>
        </p:txBody>
      </p:sp>
      <p:pic>
        <p:nvPicPr>
          <p:cNvPr id="62" name="Image 3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115" y="5695808"/>
            <a:ext cx="38099" cy="38099"/>
          </a:xfrm>
          <a:prstGeom prst="rect">
            <a:avLst/>
          </a:prstGeom>
        </p:spPr>
      </p:pic>
      <p:sp>
        <p:nvSpPr>
          <p:cNvPr id="63" name="Text 30"/>
          <p:cNvSpPr/>
          <p:nvPr/>
        </p:nvSpPr>
        <p:spPr>
          <a:xfrm>
            <a:off x="6505412" y="5638659"/>
            <a:ext cx="4581030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扩展路径：</a:t>
            </a:r>
            <a:r>
              <a:rPr lang="en-US" sz="97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随着国家算力网完善，可逐步迁移至算力中心节点，实现"数据不出院、算力在云端"</a:t>
            </a:r>
            <a:endParaRPr lang="en-US" sz="970" dirty="0"/>
          </a:p>
        </p:txBody>
      </p:sp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377" y="6200620"/>
            <a:ext cx="10362941" cy="276218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4377" y="6333967"/>
            <a:ext cx="133347" cy="133347"/>
          </a:xfrm>
          <a:prstGeom prst="rect">
            <a:avLst/>
          </a:prstGeom>
        </p:spPr>
      </p:pic>
      <p:sp>
        <p:nvSpPr>
          <p:cNvPr id="66" name="Text 31"/>
          <p:cNvSpPr/>
          <p:nvPr/>
        </p:nvSpPr>
        <p:spPr>
          <a:xfrm>
            <a:off x="1123922" y="6324442"/>
            <a:ext cx="241890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临床验证 · 隐私保护 · 异步计算 · 东数西算就绪</a:t>
            </a:r>
            <a:endParaRPr lang="en-US" sz="900" dirty="0"/>
          </a:p>
        </p:txBody>
      </p:sp>
      <p:sp>
        <p:nvSpPr>
          <p:cNvPr id="67" name="Text 32"/>
          <p:cNvSpPr/>
          <p:nvPr/>
        </p:nvSpPr>
        <p:spPr>
          <a:xfrm>
            <a:off x="9686683" y="6324442"/>
            <a:ext cx="160930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MedAiAssistant Architecture</a:t>
            </a:r>
            <a:endParaRPr lang="en-US" sz="900" dirty="0"/>
          </a:p>
        </p:txBody>
      </p:sp>
      <p:pic>
        <p:nvPicPr>
          <p:cNvPr id="68" name="Image 33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820129" y="6286343"/>
            <a:ext cx="57149" cy="57149"/>
          </a:xfrm>
          <a:prstGeom prst="rect">
            <a:avLst/>
          </a:prstGeom>
        </p:spPr>
      </p:pic>
      <p:pic>
        <p:nvPicPr>
          <p:cNvPr id="69" name="Image 34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953476" y="6286343"/>
            <a:ext cx="57149" cy="57149"/>
          </a:xfrm>
          <a:prstGeom prst="rect">
            <a:avLst/>
          </a:prstGeom>
        </p:spPr>
      </p:pic>
      <p:pic>
        <p:nvPicPr>
          <p:cNvPr id="70" name="Image 35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086823" y="6286343"/>
            <a:ext cx="57149" cy="57149"/>
          </a:xfrm>
          <a:prstGeom prst="rect">
            <a:avLst/>
          </a:prstGeom>
        </p:spPr>
      </p:pic>
      <p:pic>
        <p:nvPicPr>
          <p:cNvPr id="71" name="Image 36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220169" y="6286343"/>
            <a:ext cx="57149" cy="57149"/>
          </a:xfrm>
          <a:prstGeom prst="rect">
            <a:avLst/>
          </a:prstGeom>
        </p:spPr>
      </p:pic>
      <p:pic>
        <p:nvPicPr>
          <p:cNvPr id="72" name="Image 37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820129" y="6419690"/>
            <a:ext cx="57149" cy="57149"/>
          </a:xfrm>
          <a:prstGeom prst="rect">
            <a:avLst/>
          </a:prstGeom>
        </p:spPr>
      </p:pic>
      <p:pic>
        <p:nvPicPr>
          <p:cNvPr id="73" name="Image 38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953476" y="6419690"/>
            <a:ext cx="57149" cy="57149"/>
          </a:xfrm>
          <a:prstGeom prst="rect">
            <a:avLst/>
          </a:prstGeom>
        </p:spPr>
      </p:pic>
      <p:pic>
        <p:nvPicPr>
          <p:cNvPr id="74" name="Image 39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086823" y="6419690"/>
            <a:ext cx="57149" cy="57149"/>
          </a:xfrm>
          <a:prstGeom prst="rect">
            <a:avLst/>
          </a:prstGeom>
        </p:spPr>
      </p:pic>
      <p:pic>
        <p:nvPicPr>
          <p:cNvPr id="75" name="Image 40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220169" y="6419690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47664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380990"/>
            <a:ext cx="143785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Clinical Operation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609585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临床稳定运行：合作提升起点</a:t>
            </a:r>
            <a:endParaRPr lang="en-US" sz="2850" dirty="0"/>
          </a:p>
        </p:txBody>
      </p:sp>
      <p:sp>
        <p:nvSpPr>
          <p:cNvPr id="9" name="Text 2"/>
          <p:cNvSpPr/>
          <p:nvPr/>
        </p:nvSpPr>
        <p:spPr>
          <a:xfrm>
            <a:off x="914377" y="1142971"/>
            <a:ext cx="8543331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系统已在成都市第五人民医院心血管一病区稳定运行，经受日常临床检验，但其效益的科学量化与学术论证需要与高校合作来系统开展。</a:t>
            </a:r>
            <a:endParaRPr lang="en-US" sz="105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590635"/>
            <a:ext cx="5067173" cy="2124022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397" y="1790655"/>
            <a:ext cx="228594" cy="22859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171546" y="1828754"/>
            <a:ext cx="12344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01</a:t>
            </a:r>
            <a:endParaRPr lang="en-US" sz="9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9190" y="1838279"/>
            <a:ext cx="171446" cy="133347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666833" y="1790655"/>
            <a:ext cx="618729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当前状态</a:t>
            </a:r>
            <a:endParaRPr lang="en-US" sz="12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397" y="2152596"/>
            <a:ext cx="76198" cy="95248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266793" y="2133547"/>
            <a:ext cx="279037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部署科室：</a:t>
            </a: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成都市第五人民医院（心血管一病区·刘朝晖组）</a:t>
            </a:r>
            <a:r>
              <a:rPr lang="zh-CN" alt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，即将在某县级医院部署</a:t>
            </a:r>
            <a:endParaRPr lang="zh-CN" altLang="en-US" sz="820" dirty="0">
              <a:solidFill>
                <a:srgbClr val="334155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397" y="2390715"/>
            <a:ext cx="123822" cy="95248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314417" y="2371666"/>
            <a:ext cx="379999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运行范围：</a:t>
            </a: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病历书写辅助、AI诊断辅助、DRG分析等核心功能在生产环境稳定运行</a:t>
            </a:r>
            <a:endParaRPr lang="en-US" sz="82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397" y="2628834"/>
            <a:ext cx="85723" cy="952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276318" y="2609785"/>
            <a:ext cx="303801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数据来源：</a:t>
            </a: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与医院HIS/LIS/EMR系统实时对接，获取真实临床数据</a:t>
            </a:r>
            <a:endParaRPr lang="en-US" sz="82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3895628"/>
            <a:ext cx="5067173" cy="2124022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397" y="4095648"/>
            <a:ext cx="228594" cy="228594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1171546" y="4133747"/>
            <a:ext cx="12344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</a:t>
            </a:r>
            <a:endParaRPr lang="en-US" sz="90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19190" y="4143271"/>
            <a:ext cx="104772" cy="133347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1600160" y="4095648"/>
            <a:ext cx="1533106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运行效果（临床反馈）</a:t>
            </a:r>
            <a:endParaRPr lang="en-US" sz="120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397" y="4495688"/>
            <a:ext cx="57149" cy="57149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1247744" y="4438539"/>
            <a:ext cx="223793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病历书写与质控校验：</a:t>
            </a: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医务人员负担有显著减轻</a:t>
            </a:r>
            <a:endParaRPr lang="en-US" sz="82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397" y="4714757"/>
            <a:ext cx="57149" cy="57149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1247744" y="4657609"/>
            <a:ext cx="234271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AI辅助诊疗：</a:t>
            </a: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为医生提供诊断参考和</a:t>
            </a:r>
            <a:r>
              <a:rPr lang="zh-CN" alt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诊疗辅助</a:t>
            </a:r>
            <a:endParaRPr lang="en-US" altLang="zh-CN" sz="820" dirty="0">
              <a:solidFill>
                <a:srgbClr val="475569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397" y="4933827"/>
            <a:ext cx="57149" cy="57149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1247744" y="4876678"/>
            <a:ext cx="244748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DRG分析：</a:t>
            </a: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自动匹配DRG分组，辅助医保精细化管理</a:t>
            </a:r>
            <a:endParaRPr lang="en-US" sz="82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145" y="1590635"/>
            <a:ext cx="5067173" cy="4429014"/>
          </a:xfrm>
          <a:prstGeom prst="rect">
            <a:avLst/>
          </a:prstGeom>
        </p:spPr>
      </p:pic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739" y="1790655"/>
            <a:ext cx="228594" cy="228594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6495888" y="1828754"/>
            <a:ext cx="12344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</a:t>
            </a:r>
            <a:endParaRPr lang="en-US" sz="900" dirty="0"/>
          </a:p>
        </p:txBody>
      </p:sp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43531" y="1838279"/>
            <a:ext cx="133347" cy="133347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6953076" y="1790655"/>
            <a:ext cx="3057068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合作契机：联合进行科学严谨的临床效能评价</a:t>
            </a:r>
            <a:endParaRPr lang="en-US" sz="1200" dirty="0"/>
          </a:p>
        </p:txBody>
      </p:sp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739" y="2171646"/>
            <a:ext cx="4638559" cy="600060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2561" y="2314517"/>
            <a:ext cx="95248" cy="95248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6714957" y="2295468"/>
            <a:ext cx="42823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当前缺乏</a:t>
            </a:r>
            <a:endParaRPr lang="en-US" sz="820" dirty="0"/>
          </a:p>
        </p:txBody>
      </p:sp>
      <p:sp>
        <p:nvSpPr>
          <p:cNvPr id="40" name="Text 16"/>
          <p:cNvSpPr/>
          <p:nvPr/>
        </p:nvSpPr>
        <p:spPr>
          <a:xfrm>
            <a:off x="6562561" y="2495488"/>
            <a:ext cx="440005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系统化的临床效果评估、统计显著性的严格检验、学术论文发表</a:t>
            </a:r>
            <a:endParaRPr lang="en-US" sz="820" dirty="0"/>
          </a:p>
        </p:txBody>
      </p:sp>
      <p:pic>
        <p:nvPicPr>
          <p:cNvPr id="41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739" y="2876478"/>
            <a:ext cx="4638559" cy="600060"/>
          </a:xfrm>
          <a:prstGeom prst="rect">
            <a:avLst/>
          </a:prstGeom>
        </p:spPr>
      </p:pic>
      <p:pic>
        <p:nvPicPr>
          <p:cNvPr id="42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2561" y="3028874"/>
            <a:ext cx="123822" cy="95248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6743531" y="3000300"/>
            <a:ext cx="42823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15E5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合作方向</a:t>
            </a:r>
            <a:endParaRPr lang="en-US" sz="820" dirty="0"/>
          </a:p>
        </p:txBody>
      </p:sp>
      <p:sp>
        <p:nvSpPr>
          <p:cNvPr id="44" name="Text 18"/>
          <p:cNvSpPr/>
          <p:nvPr/>
        </p:nvSpPr>
        <p:spPr>
          <a:xfrm>
            <a:off x="6562561" y="3200320"/>
            <a:ext cx="440005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与科技大学联合设计并实施一项符合学术规范的临床效能评价研究</a:t>
            </a:r>
            <a:endParaRPr lang="en-US" sz="820" dirty="0"/>
          </a:p>
        </p:txBody>
      </p:sp>
      <p:pic>
        <p:nvPicPr>
          <p:cNvPr id="45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739" y="3581310"/>
            <a:ext cx="4638559" cy="600060"/>
          </a:xfrm>
          <a:prstGeom prst="rect">
            <a:avLst/>
          </a:prstGeom>
        </p:spPr>
      </p:pic>
      <p:pic>
        <p:nvPicPr>
          <p:cNvPr id="46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62561" y="3733707"/>
            <a:ext cx="114297" cy="95248"/>
          </a:xfrm>
          <a:prstGeom prst="rect">
            <a:avLst/>
          </a:prstGeom>
        </p:spPr>
      </p:pic>
      <p:sp>
        <p:nvSpPr>
          <p:cNvPr id="47" name="Text 19"/>
          <p:cNvSpPr/>
          <p:nvPr/>
        </p:nvSpPr>
        <p:spPr>
          <a:xfrm>
            <a:off x="6734007" y="3705132"/>
            <a:ext cx="42823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预期产出</a:t>
            </a:r>
            <a:endParaRPr lang="en-US" sz="820" dirty="0"/>
          </a:p>
        </p:txBody>
      </p:sp>
      <p:sp>
        <p:nvSpPr>
          <p:cNvPr id="48" name="Text 20"/>
          <p:cNvSpPr/>
          <p:nvPr/>
        </p:nvSpPr>
        <p:spPr>
          <a:xfrm>
            <a:off x="6562561" y="3905152"/>
            <a:ext cx="440005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共同发表高质量论文、形成权威的临床评价报告</a:t>
            </a:r>
            <a:endParaRPr lang="en-US" sz="820" dirty="0"/>
          </a:p>
        </p:txBody>
      </p:sp>
      <p:pic>
        <p:nvPicPr>
          <p:cNvPr id="49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8739" y="4952876"/>
            <a:ext cx="4638559" cy="866753"/>
          </a:xfrm>
          <a:prstGeom prst="rect">
            <a:avLst/>
          </a:prstGeom>
        </p:spPr>
      </p:pic>
      <p:pic>
        <p:nvPicPr>
          <p:cNvPr id="50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739" y="5095748"/>
            <a:ext cx="104772" cy="114297"/>
          </a:xfrm>
          <a:prstGeom prst="rect">
            <a:avLst/>
          </a:prstGeom>
        </p:spPr>
      </p:pic>
      <p:sp>
        <p:nvSpPr>
          <p:cNvPr id="51" name="Text 21"/>
          <p:cNvSpPr/>
          <p:nvPr/>
        </p:nvSpPr>
        <p:spPr>
          <a:xfrm>
            <a:off x="6600660" y="5076698"/>
            <a:ext cx="6949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研究问题示例</a:t>
            </a:r>
            <a:endParaRPr lang="en-US" sz="900" dirty="0"/>
          </a:p>
        </p:txBody>
      </p:sp>
      <p:sp>
        <p:nvSpPr>
          <p:cNvPr id="52" name="Text 22"/>
          <p:cNvSpPr/>
          <p:nvPr/>
        </p:nvSpPr>
        <p:spPr>
          <a:xfrm>
            <a:off x="6438739" y="5305292"/>
            <a:ext cx="47243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•</a:t>
            </a:r>
            <a:endParaRPr lang="en-US" sz="750" dirty="0"/>
          </a:p>
        </p:txBody>
      </p:sp>
      <p:sp>
        <p:nvSpPr>
          <p:cNvPr id="53" name="Text 23"/>
          <p:cNvSpPr/>
          <p:nvPr/>
        </p:nvSpPr>
        <p:spPr>
          <a:xfrm>
            <a:off x="6533987" y="5305292"/>
            <a:ext cx="2266513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AI辅助诊断对基层医生诊断准确率的影响（RCT设计）</a:t>
            </a:r>
            <a:endParaRPr lang="en-US" sz="750" dirty="0"/>
          </a:p>
        </p:txBody>
      </p:sp>
      <p:sp>
        <p:nvSpPr>
          <p:cNvPr id="54" name="Text 24"/>
          <p:cNvSpPr/>
          <p:nvPr/>
        </p:nvSpPr>
        <p:spPr>
          <a:xfrm>
            <a:off x="6438739" y="5495788"/>
            <a:ext cx="47243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•</a:t>
            </a:r>
            <a:endParaRPr lang="en-US" sz="750" dirty="0"/>
          </a:p>
        </p:txBody>
      </p:sp>
      <p:sp>
        <p:nvSpPr>
          <p:cNvPr id="55" name="Text 25"/>
          <p:cNvSpPr/>
          <p:nvPr/>
        </p:nvSpPr>
        <p:spPr>
          <a:xfrm>
            <a:off x="6533987" y="5495788"/>
            <a:ext cx="1723601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DRG智能分组对医保收益管理的真实效果</a:t>
            </a:r>
            <a:endParaRPr lang="en-US" sz="750" dirty="0"/>
          </a:p>
        </p:txBody>
      </p:sp>
      <p:sp>
        <p:nvSpPr>
          <p:cNvPr id="56" name="Text 26"/>
          <p:cNvSpPr/>
          <p:nvPr/>
        </p:nvSpPr>
        <p:spPr>
          <a:xfrm>
            <a:off x="6438739" y="5686283"/>
            <a:ext cx="47243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•</a:t>
            </a:r>
            <a:endParaRPr lang="en-US" sz="750" dirty="0"/>
          </a:p>
        </p:txBody>
      </p:sp>
      <p:sp>
        <p:nvSpPr>
          <p:cNvPr id="57" name="Text 27"/>
          <p:cNvSpPr/>
          <p:nvPr/>
        </p:nvSpPr>
        <p:spPr>
          <a:xfrm>
            <a:off x="6533987" y="5686283"/>
            <a:ext cx="1818849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AI辅助病历书写对医生工作负荷的量化影响</a:t>
            </a:r>
            <a:endParaRPr lang="en-US" sz="750" dirty="0"/>
          </a:p>
        </p:txBody>
      </p:sp>
      <p:pic>
        <p:nvPicPr>
          <p:cNvPr id="58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4377" y="6200620"/>
            <a:ext cx="10362941" cy="276218"/>
          </a:xfrm>
          <a:prstGeom prst="rect">
            <a:avLst/>
          </a:prstGeom>
        </p:spPr>
      </p:pic>
      <p:pic>
        <p:nvPicPr>
          <p:cNvPr id="59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4377" y="6333967"/>
            <a:ext cx="133347" cy="133347"/>
          </a:xfrm>
          <a:prstGeom prst="rect">
            <a:avLst/>
          </a:prstGeom>
        </p:spPr>
      </p:pic>
      <p:sp>
        <p:nvSpPr>
          <p:cNvPr id="60" name="Text 28"/>
          <p:cNvSpPr/>
          <p:nvPr/>
        </p:nvSpPr>
        <p:spPr>
          <a:xfrm>
            <a:off x="1123922" y="6324442"/>
            <a:ext cx="199029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从临床验证到学术论证 · 合作提升价值</a:t>
            </a:r>
            <a:endParaRPr lang="en-US" sz="900" dirty="0"/>
          </a:p>
        </p:txBody>
      </p:sp>
      <p:sp>
        <p:nvSpPr>
          <p:cNvPr id="61" name="Text 29"/>
          <p:cNvSpPr/>
          <p:nvPr/>
        </p:nvSpPr>
        <p:spPr>
          <a:xfrm>
            <a:off x="8753256" y="6324442"/>
            <a:ext cx="254273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Clinical Validation &amp; Academic Collaboration</a:t>
            </a:r>
            <a:endParaRPr lang="en-US" sz="900" dirty="0"/>
          </a:p>
        </p:txBody>
      </p:sp>
      <p:pic>
        <p:nvPicPr>
          <p:cNvPr id="62" name="Image 30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0820129" y="6286343"/>
            <a:ext cx="57149" cy="57149"/>
          </a:xfrm>
          <a:prstGeom prst="rect">
            <a:avLst/>
          </a:prstGeom>
        </p:spPr>
      </p:pic>
      <p:pic>
        <p:nvPicPr>
          <p:cNvPr id="63" name="Image 31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0953476" y="6286343"/>
            <a:ext cx="57149" cy="57149"/>
          </a:xfrm>
          <a:prstGeom prst="rect">
            <a:avLst/>
          </a:prstGeom>
        </p:spPr>
      </p:pic>
      <p:pic>
        <p:nvPicPr>
          <p:cNvPr id="64" name="Image 32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1086823" y="6286343"/>
            <a:ext cx="57149" cy="57149"/>
          </a:xfrm>
          <a:prstGeom prst="rect">
            <a:avLst/>
          </a:prstGeom>
        </p:spPr>
      </p:pic>
      <p:pic>
        <p:nvPicPr>
          <p:cNvPr id="65" name="Image 33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1220169" y="6286343"/>
            <a:ext cx="57149" cy="57149"/>
          </a:xfrm>
          <a:prstGeom prst="rect">
            <a:avLst/>
          </a:prstGeom>
        </p:spPr>
      </p:pic>
      <p:pic>
        <p:nvPicPr>
          <p:cNvPr id="66" name="Image 34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0820129" y="6419690"/>
            <a:ext cx="57149" cy="57149"/>
          </a:xfrm>
          <a:prstGeom prst="rect">
            <a:avLst/>
          </a:prstGeom>
        </p:spPr>
      </p:pic>
      <p:pic>
        <p:nvPicPr>
          <p:cNvPr id="67" name="Image 35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0953476" y="6419690"/>
            <a:ext cx="57149" cy="57149"/>
          </a:xfrm>
          <a:prstGeom prst="rect">
            <a:avLst/>
          </a:prstGeom>
        </p:spPr>
      </p:pic>
      <p:pic>
        <p:nvPicPr>
          <p:cNvPr id="68" name="Image 36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1086823" y="6419690"/>
            <a:ext cx="57149" cy="57149"/>
          </a:xfrm>
          <a:prstGeom prst="rect">
            <a:avLst/>
          </a:prstGeom>
        </p:spPr>
      </p:pic>
      <p:pic>
        <p:nvPicPr>
          <p:cNvPr id="69" name="Image 37" descr="preencoded.png"/>
          <p:cNvPicPr>
            <a:picLocks noChangeAspect="1"/>
          </p:cNvPicPr>
          <p:nvPr/>
        </p:nvPicPr>
        <p:blipFill>
          <a:blip r:embed="rId27">
            <a:alphaModFix amt="20000"/>
          </a:blip>
          <a:stretch>
            <a:fillRect/>
          </a:stretch>
        </p:blipFill>
        <p:spPr>
          <a:xfrm>
            <a:off x="11220169" y="6419690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47664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380990"/>
            <a:ext cx="132356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Policy Alignment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609585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与国家政策的全面对标</a:t>
            </a:r>
            <a:endParaRPr lang="en-US" sz="285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219170"/>
            <a:ext cx="10362941" cy="552436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199" y="1342991"/>
            <a:ext cx="38099" cy="304792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190595" y="1390615"/>
            <a:ext cx="380952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系统设计高度契合国家AI+医疗政策方向，是政策落地的典型范例</a:t>
            </a:r>
            <a:endParaRPr lang="en-US" sz="105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377" y="1924002"/>
            <a:ext cx="10362941" cy="4048024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02" y="1933527"/>
            <a:ext cx="10343891" cy="390515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02" y="1933527"/>
            <a:ext cx="2485963" cy="390515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1038199" y="2047824"/>
            <a:ext cx="226651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政策应用方向</a:t>
            </a:r>
            <a:endParaRPr lang="en-US" sz="900" dirty="0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9865" y="1933527"/>
            <a:ext cx="2076398" cy="390515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3524162" y="2047824"/>
            <a:ext cx="1856948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系统功能</a:t>
            </a:r>
            <a:endParaRPr lang="en-US" sz="90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6738" y="1933527"/>
            <a:ext cx="1657309" cy="390515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5591035" y="2047824"/>
            <a:ext cx="1437858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当前状态</a:t>
            </a:r>
            <a:endParaRPr lang="en-US" sz="900" dirty="0"/>
          </a:p>
        </p:txBody>
      </p:sp>
      <p:sp>
        <p:nvSpPr>
          <p:cNvPr id="20" name="Text 6"/>
          <p:cNvSpPr/>
          <p:nvPr/>
        </p:nvSpPr>
        <p:spPr>
          <a:xfrm>
            <a:off x="7134047" y="1933527"/>
            <a:ext cx="4152415" cy="390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合作课题方向</a:t>
            </a:r>
            <a:endParaRPr lang="en-US" sz="9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02" y="2314517"/>
            <a:ext cx="2485963" cy="523862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1038199" y="2409765"/>
            <a:ext cx="2266513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医共体内部智能化</a:t>
            </a:r>
            <a:endParaRPr lang="en-US" sz="82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865" y="2314517"/>
            <a:ext cx="2076398" cy="52386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524162" y="2409765"/>
            <a:ext cx="1856948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DRG分析、MCC/CC筛查</a:t>
            </a:r>
            <a:endParaRPr lang="en-US" sz="820" dirty="0"/>
          </a:p>
        </p:txBody>
      </p:sp>
      <p:sp>
        <p:nvSpPr>
          <p:cNvPr id="25" name="Text 9"/>
          <p:cNvSpPr/>
          <p:nvPr/>
        </p:nvSpPr>
        <p:spPr>
          <a:xfrm>
            <a:off x="5476738" y="2314517"/>
            <a:ext cx="1666453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已开发完成</a:t>
            </a:r>
            <a:endParaRPr lang="en-US" sz="820" dirty="0"/>
          </a:p>
        </p:txBody>
      </p:sp>
      <p:sp>
        <p:nvSpPr>
          <p:cNvPr id="26" name="Text 10"/>
          <p:cNvSpPr/>
          <p:nvPr/>
        </p:nvSpPr>
        <p:spPr>
          <a:xfrm>
            <a:off x="7134047" y="2314517"/>
            <a:ext cx="4152415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基于DRG的精细化管理研究</a:t>
            </a:r>
            <a:endParaRPr lang="en-US" sz="82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02" y="2838379"/>
            <a:ext cx="10343891" cy="52386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02" y="2838379"/>
            <a:ext cx="2485963" cy="523862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1038199" y="2933627"/>
            <a:ext cx="2266513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基层医生"AI助手"</a:t>
            </a:r>
            <a:endParaRPr lang="en-US" sz="82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865" y="2838379"/>
            <a:ext cx="2076398" cy="523862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3524162" y="2933627"/>
            <a:ext cx="1856948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AI诊疗辅助系统</a:t>
            </a:r>
            <a:endParaRPr lang="en-US" sz="820" dirty="0"/>
          </a:p>
        </p:txBody>
      </p:sp>
      <p:sp>
        <p:nvSpPr>
          <p:cNvPr id="32" name="Text 13"/>
          <p:cNvSpPr/>
          <p:nvPr/>
        </p:nvSpPr>
        <p:spPr>
          <a:xfrm>
            <a:off x="5476738" y="2838379"/>
            <a:ext cx="1666453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已开发完成</a:t>
            </a:r>
            <a:endParaRPr lang="en-US" sz="820" dirty="0"/>
          </a:p>
        </p:txBody>
      </p:sp>
      <p:sp>
        <p:nvSpPr>
          <p:cNvPr id="33" name="Text 14"/>
          <p:cNvSpPr/>
          <p:nvPr/>
        </p:nvSpPr>
        <p:spPr>
          <a:xfrm>
            <a:off x="7134047" y="2838379"/>
            <a:ext cx="4152415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AI辅助决策的可接受性与效能研究</a:t>
            </a:r>
            <a:endParaRPr lang="en-US" sz="820" dirty="0"/>
          </a:p>
        </p:txBody>
      </p:sp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02" y="3362241"/>
            <a:ext cx="10343891" cy="523862"/>
          </a:xfrm>
          <a:prstGeom prst="rect">
            <a:avLst/>
          </a:prstGeom>
        </p:spPr>
      </p:pic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02" y="3362241"/>
            <a:ext cx="2485963" cy="523862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1038199" y="3457489"/>
            <a:ext cx="2266513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慢性病与重点人群管理</a:t>
            </a:r>
            <a:endParaRPr lang="en-US" sz="820" dirty="0"/>
          </a:p>
        </p:txBody>
      </p:sp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865" y="3362241"/>
            <a:ext cx="2076398" cy="523862"/>
          </a:xfrm>
          <a:prstGeom prst="rect">
            <a:avLst/>
          </a:prstGeom>
        </p:spPr>
      </p:pic>
      <p:sp>
        <p:nvSpPr>
          <p:cNvPr id="38" name="Text 16"/>
          <p:cNvSpPr/>
          <p:nvPr/>
        </p:nvSpPr>
        <p:spPr>
          <a:xfrm>
            <a:off x="3524162" y="3457489"/>
            <a:ext cx="1856948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患者数据管理、待办事项</a:t>
            </a:r>
            <a:endParaRPr lang="en-US" sz="820" dirty="0"/>
          </a:p>
        </p:txBody>
      </p:sp>
      <p:sp>
        <p:nvSpPr>
          <p:cNvPr id="39" name="Text 17"/>
          <p:cNvSpPr/>
          <p:nvPr/>
        </p:nvSpPr>
        <p:spPr>
          <a:xfrm>
            <a:off x="5476738" y="3362241"/>
            <a:ext cx="1666453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D4ED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已基础实现</a:t>
            </a:r>
            <a:endParaRPr lang="en-US" sz="820" dirty="0"/>
          </a:p>
        </p:txBody>
      </p:sp>
      <p:sp>
        <p:nvSpPr>
          <p:cNvPr id="40" name="Text 18"/>
          <p:cNvSpPr/>
          <p:nvPr/>
        </p:nvSpPr>
        <p:spPr>
          <a:xfrm>
            <a:off x="7134047" y="3362241"/>
            <a:ext cx="4152415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基于AI的慢病风险预测模型</a:t>
            </a:r>
            <a:endParaRPr lang="en-US" sz="820" dirty="0"/>
          </a:p>
        </p:txBody>
      </p:sp>
      <p:pic>
        <p:nvPicPr>
          <p:cNvPr id="41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902" y="3886103"/>
            <a:ext cx="10343891" cy="523862"/>
          </a:xfrm>
          <a:prstGeom prst="rect">
            <a:avLst/>
          </a:prstGeom>
        </p:spPr>
      </p:pic>
      <p:pic>
        <p:nvPicPr>
          <p:cNvPr id="42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02" y="3886103"/>
            <a:ext cx="2485963" cy="523862"/>
          </a:xfrm>
          <a:prstGeom prst="rect">
            <a:avLst/>
          </a:prstGeom>
        </p:spPr>
      </p:pic>
      <p:sp>
        <p:nvSpPr>
          <p:cNvPr id="43" name="Text 19"/>
          <p:cNvSpPr/>
          <p:nvPr/>
        </p:nvSpPr>
        <p:spPr>
          <a:xfrm>
            <a:off x="1038199" y="3981350"/>
            <a:ext cx="2266513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数据安全与隐私保护</a:t>
            </a:r>
            <a:endParaRPr lang="en-US" sz="820" dirty="0"/>
          </a:p>
        </p:txBody>
      </p:sp>
      <p:pic>
        <p:nvPicPr>
          <p:cNvPr id="4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865" y="3886103"/>
            <a:ext cx="2076398" cy="523862"/>
          </a:xfrm>
          <a:prstGeom prst="rect">
            <a:avLst/>
          </a:prstGeom>
        </p:spPr>
      </p:pic>
      <p:sp>
        <p:nvSpPr>
          <p:cNvPr id="45" name="Text 20"/>
          <p:cNvSpPr/>
          <p:nvPr/>
        </p:nvSpPr>
        <p:spPr>
          <a:xfrm>
            <a:off x="3524162" y="3981350"/>
            <a:ext cx="1856948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多层安全体系、本地化部署</a:t>
            </a:r>
            <a:endParaRPr lang="en-US" sz="820" dirty="0"/>
          </a:p>
        </p:txBody>
      </p:sp>
      <p:sp>
        <p:nvSpPr>
          <p:cNvPr id="46" name="Text 21"/>
          <p:cNvSpPr/>
          <p:nvPr/>
        </p:nvSpPr>
        <p:spPr>
          <a:xfrm>
            <a:off x="5476738" y="3886103"/>
            <a:ext cx="1666453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47857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已完整实现</a:t>
            </a:r>
            <a:endParaRPr lang="en-US" sz="820" dirty="0"/>
          </a:p>
        </p:txBody>
      </p:sp>
      <p:sp>
        <p:nvSpPr>
          <p:cNvPr id="47" name="Text 22"/>
          <p:cNvSpPr/>
          <p:nvPr/>
        </p:nvSpPr>
        <p:spPr>
          <a:xfrm>
            <a:off x="7134047" y="3886103"/>
            <a:ext cx="4152415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医疗数据隐私保护与合规技术研究</a:t>
            </a:r>
            <a:endParaRPr lang="en-US" sz="820" dirty="0"/>
          </a:p>
        </p:txBody>
      </p:sp>
      <p:pic>
        <p:nvPicPr>
          <p:cNvPr id="48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02" y="4400440"/>
            <a:ext cx="10343891" cy="523862"/>
          </a:xfrm>
          <a:prstGeom prst="rect">
            <a:avLst/>
          </a:prstGeom>
        </p:spPr>
      </p:pic>
      <p:pic>
        <p:nvPicPr>
          <p:cNvPr id="49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02" y="4400440"/>
            <a:ext cx="2485963" cy="523862"/>
          </a:xfrm>
          <a:prstGeom prst="rect">
            <a:avLst/>
          </a:prstGeom>
        </p:spPr>
      </p:pic>
      <p:sp>
        <p:nvSpPr>
          <p:cNvPr id="50" name="Text 23"/>
          <p:cNvSpPr/>
          <p:nvPr/>
        </p:nvSpPr>
        <p:spPr>
          <a:xfrm>
            <a:off x="1038199" y="4495688"/>
            <a:ext cx="2266513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病历质量与质控</a:t>
            </a:r>
            <a:endParaRPr lang="en-US" sz="820" dirty="0"/>
          </a:p>
        </p:txBody>
      </p:sp>
      <p:pic>
        <p:nvPicPr>
          <p:cNvPr id="51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865" y="4400440"/>
            <a:ext cx="2076398" cy="523862"/>
          </a:xfrm>
          <a:prstGeom prst="rect">
            <a:avLst/>
          </a:prstGeom>
        </p:spPr>
      </p:pic>
      <p:sp>
        <p:nvSpPr>
          <p:cNvPr id="52" name="Text 24"/>
          <p:cNvSpPr/>
          <p:nvPr/>
        </p:nvSpPr>
        <p:spPr>
          <a:xfrm>
            <a:off x="3524162" y="4495688"/>
            <a:ext cx="1856948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质量控制引擎、诊疗计划管理</a:t>
            </a:r>
            <a:endParaRPr lang="en-US" sz="820" dirty="0"/>
          </a:p>
        </p:txBody>
      </p:sp>
      <p:sp>
        <p:nvSpPr>
          <p:cNvPr id="53" name="Text 25"/>
          <p:cNvSpPr/>
          <p:nvPr/>
        </p:nvSpPr>
        <p:spPr>
          <a:xfrm>
            <a:off x="5476738" y="4400440"/>
            <a:ext cx="1666453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已开发完成</a:t>
            </a:r>
            <a:endParaRPr lang="en-US" sz="820" dirty="0"/>
          </a:p>
        </p:txBody>
      </p:sp>
      <p:sp>
        <p:nvSpPr>
          <p:cNvPr id="54" name="Text 26"/>
          <p:cNvSpPr/>
          <p:nvPr/>
        </p:nvSpPr>
        <p:spPr>
          <a:xfrm>
            <a:off x="7134047" y="4400440"/>
            <a:ext cx="4152415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AI辅助医疗质控评价体系研究</a:t>
            </a:r>
            <a:endParaRPr lang="en-US" sz="820" dirty="0"/>
          </a:p>
        </p:txBody>
      </p:sp>
      <p:pic>
        <p:nvPicPr>
          <p:cNvPr id="55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902" y="4924302"/>
            <a:ext cx="10343891" cy="523862"/>
          </a:xfrm>
          <a:prstGeom prst="rect">
            <a:avLst/>
          </a:prstGeom>
        </p:spPr>
      </p:pic>
      <p:pic>
        <p:nvPicPr>
          <p:cNvPr id="56" name="Image 2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02" y="4924302"/>
            <a:ext cx="2485963" cy="523862"/>
          </a:xfrm>
          <a:prstGeom prst="rect">
            <a:avLst/>
          </a:prstGeom>
        </p:spPr>
      </p:pic>
      <p:sp>
        <p:nvSpPr>
          <p:cNvPr id="57" name="Text 27"/>
          <p:cNvSpPr/>
          <p:nvPr/>
        </p:nvSpPr>
        <p:spPr>
          <a:xfrm>
            <a:off x="1038199" y="5019550"/>
            <a:ext cx="2266513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多模型AI能力</a:t>
            </a:r>
            <a:endParaRPr lang="en-US" sz="820" dirty="0"/>
          </a:p>
        </p:txBody>
      </p:sp>
      <p:pic>
        <p:nvPicPr>
          <p:cNvPr id="58" name="Image 2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865" y="4924302"/>
            <a:ext cx="2076398" cy="523862"/>
          </a:xfrm>
          <a:prstGeom prst="rect">
            <a:avLst/>
          </a:prstGeom>
        </p:spPr>
      </p:pic>
      <p:sp>
        <p:nvSpPr>
          <p:cNvPr id="59" name="Text 28"/>
          <p:cNvSpPr/>
          <p:nvPr/>
        </p:nvSpPr>
        <p:spPr>
          <a:xfrm>
            <a:off x="3524162" y="5019550"/>
            <a:ext cx="1856948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DeepSeek/阿里百炼多模型切换</a:t>
            </a:r>
            <a:endParaRPr lang="en-US" sz="820" dirty="0"/>
          </a:p>
        </p:txBody>
      </p:sp>
      <p:sp>
        <p:nvSpPr>
          <p:cNvPr id="60" name="Text 29"/>
          <p:cNvSpPr/>
          <p:nvPr/>
        </p:nvSpPr>
        <p:spPr>
          <a:xfrm>
            <a:off x="5476738" y="4924302"/>
            <a:ext cx="1666453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已实现</a:t>
            </a:r>
            <a:endParaRPr lang="en-US" sz="820" dirty="0"/>
          </a:p>
        </p:txBody>
      </p:sp>
      <p:sp>
        <p:nvSpPr>
          <p:cNvPr id="61" name="Text 30"/>
          <p:cNvSpPr/>
          <p:nvPr/>
        </p:nvSpPr>
        <p:spPr>
          <a:xfrm>
            <a:off x="7134047" y="4924302"/>
            <a:ext cx="4152415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多模型医疗场景下的模型选择与路由优化</a:t>
            </a:r>
            <a:endParaRPr lang="en-US" sz="820" dirty="0"/>
          </a:p>
        </p:txBody>
      </p:sp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902" y="5448164"/>
            <a:ext cx="10343891" cy="523862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02" y="5448164"/>
            <a:ext cx="2485963" cy="523862"/>
          </a:xfrm>
          <a:prstGeom prst="rect">
            <a:avLst/>
          </a:prstGeom>
        </p:spPr>
      </p:pic>
      <p:sp>
        <p:nvSpPr>
          <p:cNvPr id="64" name="Text 31"/>
          <p:cNvSpPr/>
          <p:nvPr/>
        </p:nvSpPr>
        <p:spPr>
          <a:xfrm>
            <a:off x="1038199" y="5543411"/>
            <a:ext cx="2266513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东数西算与国家算力网对接</a:t>
            </a:r>
            <a:endParaRPr lang="en-US" sz="820" dirty="0"/>
          </a:p>
        </p:txBody>
      </p:sp>
      <p:pic>
        <p:nvPicPr>
          <p:cNvPr id="65" name="Image 3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9865" y="5448164"/>
            <a:ext cx="2076398" cy="523862"/>
          </a:xfrm>
          <a:prstGeom prst="rect">
            <a:avLst/>
          </a:prstGeom>
        </p:spPr>
      </p:pic>
      <p:sp>
        <p:nvSpPr>
          <p:cNvPr id="66" name="Text 32"/>
          <p:cNvSpPr/>
          <p:nvPr/>
        </p:nvSpPr>
        <p:spPr>
          <a:xfrm>
            <a:off x="3524162" y="5543411"/>
            <a:ext cx="1856948" cy="333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双服务器分离架构天然适配</a:t>
            </a:r>
            <a:endParaRPr lang="en-US" sz="820" dirty="0"/>
          </a:p>
        </p:txBody>
      </p:sp>
      <p:sp>
        <p:nvSpPr>
          <p:cNvPr id="67" name="Text 33"/>
          <p:cNvSpPr/>
          <p:nvPr/>
        </p:nvSpPr>
        <p:spPr>
          <a:xfrm>
            <a:off x="5476738" y="5448164"/>
            <a:ext cx="1666453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4530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架构就绪</a:t>
            </a:r>
            <a:endParaRPr lang="en-US" sz="820" dirty="0"/>
          </a:p>
        </p:txBody>
      </p:sp>
      <p:sp>
        <p:nvSpPr>
          <p:cNvPr id="68" name="Text 34"/>
          <p:cNvSpPr/>
          <p:nvPr/>
        </p:nvSpPr>
        <p:spPr>
          <a:xfrm>
            <a:off x="7134047" y="5448164"/>
            <a:ext cx="4152415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全国一体化算力网在医疗AI中的调度优化研究</a:t>
            </a:r>
            <a:endParaRPr lang="en-US" sz="820" dirty="0"/>
          </a:p>
        </p:txBody>
      </p:sp>
      <p:pic>
        <p:nvPicPr>
          <p:cNvPr id="69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377" y="6086323"/>
            <a:ext cx="10362941" cy="400040"/>
          </a:xfrm>
          <a:prstGeom prst="rect">
            <a:avLst/>
          </a:prstGeom>
        </p:spPr>
      </p:pic>
      <p:pic>
        <p:nvPicPr>
          <p:cNvPr id="70" name="Image 3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9150" y="6210145"/>
            <a:ext cx="114297" cy="114297"/>
          </a:xfrm>
          <a:prstGeom prst="rect">
            <a:avLst/>
          </a:prstGeom>
        </p:spPr>
      </p:pic>
      <p:sp>
        <p:nvSpPr>
          <p:cNvPr id="71" name="Text 35"/>
          <p:cNvSpPr/>
          <p:nvPr/>
        </p:nvSpPr>
        <p:spPr>
          <a:xfrm>
            <a:off x="1209645" y="6191095"/>
            <a:ext cx="458103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说明：</a:t>
            </a: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系统已在成都市第五人民医院心血管一病区稳定运行，架构支持多科室、多医院扩展</a:t>
            </a:r>
            <a:endParaRPr lang="en-US" sz="900" dirty="0"/>
          </a:p>
        </p:txBody>
      </p:sp>
      <p:pic>
        <p:nvPicPr>
          <p:cNvPr id="72" name="Image 34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820129" y="6286343"/>
            <a:ext cx="57149" cy="57149"/>
          </a:xfrm>
          <a:prstGeom prst="rect">
            <a:avLst/>
          </a:prstGeom>
        </p:spPr>
      </p:pic>
      <p:pic>
        <p:nvPicPr>
          <p:cNvPr id="73" name="Image 35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953476" y="6286343"/>
            <a:ext cx="57149" cy="57149"/>
          </a:xfrm>
          <a:prstGeom prst="rect">
            <a:avLst/>
          </a:prstGeom>
        </p:spPr>
      </p:pic>
      <p:pic>
        <p:nvPicPr>
          <p:cNvPr id="74" name="Image 36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086823" y="6286343"/>
            <a:ext cx="57149" cy="57149"/>
          </a:xfrm>
          <a:prstGeom prst="rect">
            <a:avLst/>
          </a:prstGeom>
        </p:spPr>
      </p:pic>
      <p:pic>
        <p:nvPicPr>
          <p:cNvPr id="75" name="Image 37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220169" y="6286343"/>
            <a:ext cx="57149" cy="57149"/>
          </a:xfrm>
          <a:prstGeom prst="rect">
            <a:avLst/>
          </a:prstGeom>
        </p:spPr>
      </p:pic>
      <p:pic>
        <p:nvPicPr>
          <p:cNvPr id="76" name="Image 38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820129" y="6419690"/>
            <a:ext cx="57149" cy="57149"/>
          </a:xfrm>
          <a:prstGeom prst="rect">
            <a:avLst/>
          </a:prstGeom>
        </p:spPr>
      </p:pic>
      <p:pic>
        <p:nvPicPr>
          <p:cNvPr id="77" name="Image 39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0953476" y="6419690"/>
            <a:ext cx="57149" cy="57149"/>
          </a:xfrm>
          <a:prstGeom prst="rect">
            <a:avLst/>
          </a:prstGeom>
        </p:spPr>
      </p:pic>
      <p:pic>
        <p:nvPicPr>
          <p:cNvPr id="78" name="Image 40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086823" y="6419690"/>
            <a:ext cx="57149" cy="57149"/>
          </a:xfrm>
          <a:prstGeom prst="rect">
            <a:avLst/>
          </a:prstGeom>
        </p:spPr>
      </p:pic>
      <p:pic>
        <p:nvPicPr>
          <p:cNvPr id="79" name="Image 41" descr="preencoded.png"/>
          <p:cNvPicPr>
            <a:picLocks noChangeAspect="1"/>
          </p:cNvPicPr>
          <p:nvPr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11220169" y="6419690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523862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457189"/>
            <a:ext cx="199981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Collaboration Framework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723882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合作框架：三位一体模式</a:t>
            </a:r>
            <a:endParaRPr lang="en-US" sz="2850" dirty="0"/>
          </a:p>
        </p:txBody>
      </p:sp>
      <p:sp>
        <p:nvSpPr>
          <p:cNvPr id="9" name="Text 2"/>
          <p:cNvSpPr/>
          <p:nvPr/>
        </p:nvSpPr>
        <p:spPr>
          <a:xfrm>
            <a:off x="914377" y="1295368"/>
            <a:ext cx="7324161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以"真实临床场景+可运行平台"为核心资源，构建产学研合作闭环</a:t>
            </a:r>
            <a:endParaRPr lang="en-US" sz="112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828754"/>
            <a:ext cx="3305092" cy="4038499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02" y="1838279"/>
            <a:ext cx="3286043" cy="962001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397" y="2085923"/>
            <a:ext cx="380990" cy="38099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219" y="2190695"/>
            <a:ext cx="152396" cy="171446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609685" y="2028774"/>
            <a:ext cx="115211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联合科研攻关</a:t>
            </a:r>
            <a:endParaRPr lang="en-US" sz="1500" dirty="0"/>
          </a:p>
        </p:txBody>
      </p:sp>
      <p:sp>
        <p:nvSpPr>
          <p:cNvPr id="15" name="Text 4"/>
          <p:cNvSpPr/>
          <p:nvPr/>
        </p:nvSpPr>
        <p:spPr>
          <a:xfrm>
            <a:off x="1609685" y="2352616"/>
            <a:ext cx="590154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Research</a:t>
            </a:r>
            <a:endParaRPr lang="en-US" sz="9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397" y="3066973"/>
            <a:ext cx="57149" cy="57149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247744" y="2990775"/>
            <a:ext cx="2295087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首要方向</a:t>
            </a:r>
            <a:endParaRPr lang="en-US" sz="900" dirty="0"/>
          </a:p>
        </p:txBody>
      </p:sp>
      <p:sp>
        <p:nvSpPr>
          <p:cNvPr id="18" name="Text 6"/>
          <p:cNvSpPr/>
          <p:nvPr/>
        </p:nvSpPr>
        <p:spPr>
          <a:xfrm>
            <a:off x="1247744" y="3190795"/>
            <a:ext cx="22950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临床AI应用的效果评测与安全性评价体系构建</a:t>
            </a:r>
            <a:endParaRPr lang="en-US" sz="9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397" y="3552736"/>
            <a:ext cx="57149" cy="57149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247744" y="3476538"/>
            <a:ext cx="217126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医疗领域RAG的可信性、知识冲突消解研究</a:t>
            </a:r>
            <a:endParaRPr lang="en-US" sz="120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397" y="3895628"/>
            <a:ext cx="57149" cy="57149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1247744" y="3819430"/>
            <a:ext cx="275227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建立不断自我完善的临床质控、指南、专家共识指标库</a:t>
            </a:r>
            <a:endParaRPr lang="en-US" sz="12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397" y="4238519"/>
            <a:ext cx="57149" cy="57149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1247744" y="4162321"/>
            <a:ext cx="2247463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医疗场景AI Agent的意图识别与Skill编排研究</a:t>
            </a:r>
            <a:endParaRPr lang="en-US" sz="120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397" y="4543311"/>
            <a:ext cx="2905052" cy="723882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114397" y="4705232"/>
            <a:ext cx="2914196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合作机制</a:t>
            </a:r>
            <a:endParaRPr lang="en-US" sz="820" dirty="0"/>
          </a:p>
        </p:txBody>
      </p:sp>
      <p:sp>
        <p:nvSpPr>
          <p:cNvPr id="27" name="Text 11"/>
          <p:cNvSpPr/>
          <p:nvPr/>
        </p:nvSpPr>
        <p:spPr>
          <a:xfrm>
            <a:off x="1114397" y="4924302"/>
            <a:ext cx="2914196" cy="342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医院出场景与需求、医生+开发者提供临床洞察与平台能力、高校负责学术论证与方法创新</a:t>
            </a:r>
            <a:endParaRPr lang="en-US" sz="82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8064" y="1828754"/>
            <a:ext cx="3305092" cy="4038499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589" y="1838279"/>
            <a:ext cx="3286043" cy="962001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084" y="2085923"/>
            <a:ext cx="380990" cy="380990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2856" y="2190695"/>
            <a:ext cx="171446" cy="171446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5143371" y="2028774"/>
            <a:ext cx="77112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人才培养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5143371" y="2352616"/>
            <a:ext cx="437758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Talent</a:t>
            </a:r>
            <a:endParaRPr lang="en-US" sz="9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48084" y="3009825"/>
            <a:ext cx="228594" cy="228594"/>
          </a:xfrm>
          <a:prstGeom prst="rect">
            <a:avLst/>
          </a:prstGeom>
        </p:spPr>
      </p:pic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95708" y="3066973"/>
            <a:ext cx="142871" cy="114297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4990975" y="2990775"/>
            <a:ext cx="2571305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联合培养</a:t>
            </a:r>
            <a:endParaRPr lang="en-US" sz="970" dirty="0"/>
          </a:p>
        </p:txBody>
      </p:sp>
      <p:sp>
        <p:nvSpPr>
          <p:cNvPr id="37" name="Text 15"/>
          <p:cNvSpPr/>
          <p:nvPr/>
        </p:nvSpPr>
        <p:spPr>
          <a:xfrm>
            <a:off x="4990975" y="3190795"/>
            <a:ext cx="2571305" cy="3143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设立"研究生联合培养基地"，提供真实脱敏医疗数据与技术平台</a:t>
            </a:r>
            <a:endParaRPr lang="en-US" sz="90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48084" y="3676558"/>
            <a:ext cx="228594" cy="228594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95708" y="3733707"/>
            <a:ext cx="133347" cy="114297"/>
          </a:xfrm>
          <a:prstGeom prst="rect">
            <a:avLst/>
          </a:prstGeom>
        </p:spPr>
      </p:pic>
      <p:sp>
        <p:nvSpPr>
          <p:cNvPr id="40" name="Text 16"/>
          <p:cNvSpPr/>
          <p:nvPr/>
        </p:nvSpPr>
        <p:spPr>
          <a:xfrm>
            <a:off x="4990975" y="3657509"/>
            <a:ext cx="2571305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交叉课程</a:t>
            </a:r>
            <a:endParaRPr lang="en-US" sz="970" dirty="0"/>
          </a:p>
        </p:txBody>
      </p:sp>
      <p:sp>
        <p:nvSpPr>
          <p:cNvPr id="41" name="Text 17"/>
          <p:cNvSpPr/>
          <p:nvPr/>
        </p:nvSpPr>
        <p:spPr>
          <a:xfrm>
            <a:off x="4990975" y="3848004"/>
            <a:ext cx="2571305" cy="3143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共同开设《人工智能+医学》交叉学科课程或工作坊</a:t>
            </a:r>
            <a:endParaRPr lang="en-US" sz="900" dirty="0"/>
          </a:p>
        </p:txBody>
      </p:sp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48084" y="4333767"/>
            <a:ext cx="228594" cy="228594"/>
          </a:xfrm>
          <a:prstGeom prst="rect">
            <a:avLst/>
          </a:prstGeom>
        </p:spPr>
      </p:pic>
      <p:pic>
        <p:nvPicPr>
          <p:cNvPr id="43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05232" y="4390915"/>
            <a:ext cx="114297" cy="114297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4990975" y="4314717"/>
            <a:ext cx="160930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实习就业</a:t>
            </a:r>
            <a:endParaRPr lang="en-US" sz="970" dirty="0"/>
          </a:p>
        </p:txBody>
      </p:sp>
      <p:sp>
        <p:nvSpPr>
          <p:cNvPr id="45" name="Text 19"/>
          <p:cNvSpPr/>
          <p:nvPr/>
        </p:nvSpPr>
        <p:spPr>
          <a:xfrm>
            <a:off x="4990975" y="4505212"/>
            <a:ext cx="160930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欢迎优秀学生来实习、参与开发</a:t>
            </a:r>
            <a:endParaRPr lang="en-US" sz="900" dirty="0"/>
          </a:p>
        </p:txBody>
      </p:sp>
      <p:pic>
        <p:nvPicPr>
          <p:cNvPr id="46" name="Image 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750" y="1828754"/>
            <a:ext cx="3305092" cy="4038499"/>
          </a:xfrm>
          <a:prstGeom prst="rect">
            <a:avLst/>
          </a:prstGeom>
        </p:spPr>
      </p:pic>
      <p:pic>
        <p:nvPicPr>
          <p:cNvPr id="47" name="Image 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275" y="1838279"/>
            <a:ext cx="3286043" cy="962001"/>
          </a:xfrm>
          <a:prstGeom prst="rect">
            <a:avLst/>
          </a:prstGeom>
        </p:spPr>
      </p:pic>
      <p:pic>
        <p:nvPicPr>
          <p:cNvPr id="48" name="Image 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1770" y="2085923"/>
            <a:ext cx="380990" cy="380990"/>
          </a:xfrm>
          <a:prstGeom prst="rect">
            <a:avLst/>
          </a:prstGeom>
        </p:spPr>
      </p:pic>
      <p:pic>
        <p:nvPicPr>
          <p:cNvPr id="49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5592" y="2190695"/>
            <a:ext cx="133347" cy="171446"/>
          </a:xfrm>
          <a:prstGeom prst="rect">
            <a:avLst/>
          </a:prstGeom>
        </p:spPr>
      </p:pic>
      <p:sp>
        <p:nvSpPr>
          <p:cNvPr id="50" name="Text 20"/>
          <p:cNvSpPr/>
          <p:nvPr/>
        </p:nvSpPr>
        <p:spPr>
          <a:xfrm>
            <a:off x="8677058" y="2028774"/>
            <a:ext cx="771125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平台建设</a:t>
            </a:r>
            <a:endParaRPr lang="en-US" sz="1500" dirty="0"/>
          </a:p>
        </p:txBody>
      </p:sp>
      <p:sp>
        <p:nvSpPr>
          <p:cNvPr id="51" name="Text 21"/>
          <p:cNvSpPr/>
          <p:nvPr/>
        </p:nvSpPr>
        <p:spPr>
          <a:xfrm>
            <a:off x="8677058" y="2352616"/>
            <a:ext cx="618729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Platform</a:t>
            </a:r>
            <a:endParaRPr lang="en-US" sz="900" dirty="0"/>
          </a:p>
        </p:txBody>
      </p:sp>
      <p:pic>
        <p:nvPicPr>
          <p:cNvPr id="52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81770" y="2990775"/>
            <a:ext cx="2905052" cy="838179"/>
          </a:xfrm>
          <a:prstGeom prst="rect">
            <a:avLst/>
          </a:prstGeom>
        </p:spPr>
      </p:pic>
      <p:pic>
        <p:nvPicPr>
          <p:cNvPr id="53" name="Image 2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5592" y="3143171"/>
            <a:ext cx="133347" cy="133347"/>
          </a:xfrm>
          <a:prstGeom prst="rect">
            <a:avLst/>
          </a:prstGeom>
        </p:spPr>
      </p:pic>
      <p:sp>
        <p:nvSpPr>
          <p:cNvPr id="54" name="Text 22"/>
          <p:cNvSpPr/>
          <p:nvPr/>
        </p:nvSpPr>
        <p:spPr>
          <a:xfrm>
            <a:off x="8515137" y="3114597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共建实验室</a:t>
            </a:r>
            <a:endParaRPr lang="en-US" sz="970" dirty="0"/>
          </a:p>
        </p:txBody>
      </p:sp>
      <p:sp>
        <p:nvSpPr>
          <p:cNvPr id="55" name="Text 23"/>
          <p:cNvSpPr/>
          <p:nvPr/>
        </p:nvSpPr>
        <p:spPr>
          <a:xfrm>
            <a:off x="8305592" y="3362241"/>
            <a:ext cx="266655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"基层医疗AI"联合实验室</a:t>
            </a:r>
            <a:endParaRPr lang="en-US" sz="900" dirty="0"/>
          </a:p>
        </p:txBody>
      </p:sp>
      <p:sp>
        <p:nvSpPr>
          <p:cNvPr id="56" name="Text 24"/>
          <p:cNvSpPr/>
          <p:nvPr/>
        </p:nvSpPr>
        <p:spPr>
          <a:xfrm>
            <a:off x="8305592" y="3552736"/>
            <a:ext cx="266655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科大提供学术背书和研究生，公司提供研发平台和数据</a:t>
            </a:r>
            <a:endParaRPr lang="en-US" sz="820" dirty="0"/>
          </a:p>
        </p:txBody>
      </p:sp>
      <p:pic>
        <p:nvPicPr>
          <p:cNvPr id="57" name="Image 3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81770" y="3990875"/>
            <a:ext cx="228594" cy="228594"/>
          </a:xfrm>
          <a:prstGeom prst="rect">
            <a:avLst/>
          </a:prstGeom>
        </p:spPr>
      </p:pic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19869" y="4048024"/>
            <a:ext cx="142871" cy="114297"/>
          </a:xfrm>
          <a:prstGeom prst="rect">
            <a:avLst/>
          </a:prstGeom>
        </p:spPr>
      </p:pic>
      <p:sp>
        <p:nvSpPr>
          <p:cNvPr id="59" name="Text 25"/>
          <p:cNvSpPr/>
          <p:nvPr/>
        </p:nvSpPr>
        <p:spPr>
          <a:xfrm>
            <a:off x="8524662" y="3971826"/>
            <a:ext cx="2571305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共建平台</a:t>
            </a:r>
            <a:endParaRPr lang="en-US" sz="970" dirty="0"/>
          </a:p>
        </p:txBody>
      </p:sp>
      <p:sp>
        <p:nvSpPr>
          <p:cNvPr id="60" name="Text 26"/>
          <p:cNvSpPr/>
          <p:nvPr/>
        </p:nvSpPr>
        <p:spPr>
          <a:xfrm>
            <a:off x="8524662" y="4171846"/>
            <a:ext cx="2571305" cy="3143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将MedAiAssistant系统作为科大医学院/计算机学院的教学科研平台</a:t>
            </a:r>
            <a:endParaRPr lang="en-US" sz="900" dirty="0"/>
          </a:p>
        </p:txBody>
      </p:sp>
      <p:pic>
        <p:nvPicPr>
          <p:cNvPr id="61" name="Image 3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81770" y="4657609"/>
            <a:ext cx="228594" cy="228594"/>
          </a:xfrm>
          <a:prstGeom prst="rect">
            <a:avLst/>
          </a:prstGeom>
        </p:spPr>
      </p:pic>
      <p:pic>
        <p:nvPicPr>
          <p:cNvPr id="62" name="Image 3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19869" y="4714757"/>
            <a:ext cx="142871" cy="114297"/>
          </a:xfrm>
          <a:prstGeom prst="rect">
            <a:avLst/>
          </a:prstGeom>
        </p:spPr>
      </p:pic>
      <p:sp>
        <p:nvSpPr>
          <p:cNvPr id="63" name="Text 27"/>
          <p:cNvSpPr/>
          <p:nvPr/>
        </p:nvSpPr>
        <p:spPr>
          <a:xfrm>
            <a:off x="8524662" y="4638559"/>
            <a:ext cx="229508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E293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共同引才</a:t>
            </a:r>
            <a:endParaRPr lang="en-US" sz="970" dirty="0"/>
          </a:p>
        </p:txBody>
      </p:sp>
      <p:sp>
        <p:nvSpPr>
          <p:cNvPr id="64" name="Text 28"/>
          <p:cNvSpPr/>
          <p:nvPr/>
        </p:nvSpPr>
        <p:spPr>
          <a:xfrm>
            <a:off x="8524662" y="4829054"/>
            <a:ext cx="229508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利用项目优势，联合引进相关领域高层次人才</a:t>
            </a:r>
            <a:endParaRPr lang="en-US" sz="900" dirty="0"/>
          </a:p>
        </p:txBody>
      </p:sp>
      <p:pic>
        <p:nvPicPr>
          <p:cNvPr id="65" name="Image 3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4377" y="6086323"/>
            <a:ext cx="10362941" cy="314317"/>
          </a:xfrm>
          <a:prstGeom prst="rect">
            <a:avLst/>
          </a:prstGeom>
        </p:spPr>
      </p:pic>
      <p:pic>
        <p:nvPicPr>
          <p:cNvPr id="66" name="Image 3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4377" y="6257769"/>
            <a:ext cx="171446" cy="133347"/>
          </a:xfrm>
          <a:prstGeom prst="rect">
            <a:avLst/>
          </a:prstGeom>
        </p:spPr>
      </p:pic>
      <p:sp>
        <p:nvSpPr>
          <p:cNvPr id="67" name="Text 29"/>
          <p:cNvSpPr/>
          <p:nvPr/>
        </p:nvSpPr>
        <p:spPr>
          <a:xfrm>
            <a:off x="1162021" y="6248244"/>
            <a:ext cx="69492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真实临床场景</a:t>
            </a:r>
            <a:endParaRPr lang="en-US" sz="900" dirty="0"/>
          </a:p>
        </p:txBody>
      </p:sp>
      <p:pic>
        <p:nvPicPr>
          <p:cNvPr id="68" name="Image 3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76398" y="6248244"/>
            <a:ext cx="9525" cy="152396"/>
          </a:xfrm>
          <a:prstGeom prst="rect">
            <a:avLst/>
          </a:prstGeom>
        </p:spPr>
      </p:pic>
      <p:pic>
        <p:nvPicPr>
          <p:cNvPr id="69" name="Image 3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14517" y="6257769"/>
            <a:ext cx="133347" cy="133347"/>
          </a:xfrm>
          <a:prstGeom prst="rect">
            <a:avLst/>
          </a:prstGeom>
        </p:spPr>
      </p:pic>
      <p:sp>
        <p:nvSpPr>
          <p:cNvPr id="70" name="Text 30"/>
          <p:cNvSpPr/>
          <p:nvPr/>
        </p:nvSpPr>
        <p:spPr>
          <a:xfrm>
            <a:off x="2524062" y="6248244"/>
            <a:ext cx="58063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可运行平台</a:t>
            </a:r>
            <a:endParaRPr lang="en-US" sz="900" dirty="0"/>
          </a:p>
        </p:txBody>
      </p:sp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24142" y="6248244"/>
            <a:ext cx="9525" cy="152396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62261" y="6257769"/>
            <a:ext cx="133347" cy="133347"/>
          </a:xfrm>
          <a:prstGeom prst="rect">
            <a:avLst/>
          </a:prstGeom>
        </p:spPr>
      </p:pic>
      <p:sp>
        <p:nvSpPr>
          <p:cNvPr id="73" name="Text 31"/>
          <p:cNvSpPr/>
          <p:nvPr/>
        </p:nvSpPr>
        <p:spPr>
          <a:xfrm>
            <a:off x="3771806" y="6248244"/>
            <a:ext cx="58063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产学研闭环</a:t>
            </a:r>
            <a:endParaRPr lang="en-US" sz="900" dirty="0"/>
          </a:p>
        </p:txBody>
      </p:sp>
      <p:sp>
        <p:nvSpPr>
          <p:cNvPr id="74" name="Text 32"/>
          <p:cNvSpPr/>
          <p:nvPr/>
        </p:nvSpPr>
        <p:spPr>
          <a:xfrm>
            <a:off x="9724782" y="6248244"/>
            <a:ext cx="157120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Trinity Collaboration Model</a:t>
            </a:r>
            <a:endParaRPr lang="en-US" sz="900" dirty="0"/>
          </a:p>
        </p:txBody>
      </p:sp>
      <p:pic>
        <p:nvPicPr>
          <p:cNvPr id="75" name="Image 40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0820129" y="6210145"/>
            <a:ext cx="57149" cy="57149"/>
          </a:xfrm>
          <a:prstGeom prst="rect">
            <a:avLst/>
          </a:prstGeom>
        </p:spPr>
      </p:pic>
      <p:pic>
        <p:nvPicPr>
          <p:cNvPr id="76" name="Image 41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0953476" y="6210145"/>
            <a:ext cx="57149" cy="57149"/>
          </a:xfrm>
          <a:prstGeom prst="rect">
            <a:avLst/>
          </a:prstGeom>
        </p:spPr>
      </p:pic>
      <p:pic>
        <p:nvPicPr>
          <p:cNvPr id="77" name="Image 42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1086823" y="6210145"/>
            <a:ext cx="57149" cy="57149"/>
          </a:xfrm>
          <a:prstGeom prst="rect">
            <a:avLst/>
          </a:prstGeom>
        </p:spPr>
      </p:pic>
      <p:pic>
        <p:nvPicPr>
          <p:cNvPr id="78" name="Image 43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1220169" y="6210145"/>
            <a:ext cx="57149" cy="57149"/>
          </a:xfrm>
          <a:prstGeom prst="rect">
            <a:avLst/>
          </a:prstGeom>
        </p:spPr>
      </p:pic>
      <p:pic>
        <p:nvPicPr>
          <p:cNvPr id="79" name="Image 44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0820129" y="6343491"/>
            <a:ext cx="57149" cy="57149"/>
          </a:xfrm>
          <a:prstGeom prst="rect">
            <a:avLst/>
          </a:prstGeom>
        </p:spPr>
      </p:pic>
      <p:pic>
        <p:nvPicPr>
          <p:cNvPr id="80" name="Image 45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0953476" y="6343491"/>
            <a:ext cx="57149" cy="57149"/>
          </a:xfrm>
          <a:prstGeom prst="rect">
            <a:avLst/>
          </a:prstGeom>
        </p:spPr>
      </p:pic>
      <p:pic>
        <p:nvPicPr>
          <p:cNvPr id="81" name="Image 46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1086823" y="6343491"/>
            <a:ext cx="57149" cy="57149"/>
          </a:xfrm>
          <a:prstGeom prst="rect">
            <a:avLst/>
          </a:prstGeom>
        </p:spPr>
      </p:pic>
      <p:pic>
        <p:nvPicPr>
          <p:cNvPr id="82" name="Image 47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1220169" y="6343491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47664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380990"/>
            <a:ext cx="142833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Strategic Roadmap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609585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合作路线图：三步走战略</a:t>
            </a:r>
            <a:endParaRPr lang="en-US" sz="2850" dirty="0"/>
          </a:p>
        </p:txBody>
      </p:sp>
      <p:sp>
        <p:nvSpPr>
          <p:cNvPr id="9" name="Text 2"/>
          <p:cNvSpPr/>
          <p:nvPr/>
        </p:nvSpPr>
        <p:spPr>
          <a:xfrm>
            <a:off x="914377" y="1142971"/>
            <a:ext cx="10372085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明确分阶段实施路径，从启动到推广的完整规划</a:t>
            </a:r>
            <a:endParaRPr lang="en-US" sz="105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590635"/>
            <a:ext cx="3333667" cy="442901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02" y="1600160"/>
            <a:ext cx="3314617" cy="58101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298" y="1733507"/>
            <a:ext cx="304792" cy="304792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162021" y="1790655"/>
            <a:ext cx="14249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4"/>
          <p:cNvSpPr/>
          <p:nvPr/>
        </p:nvSpPr>
        <p:spPr>
          <a:xfrm>
            <a:off x="1495388" y="1714457"/>
            <a:ext cx="72350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第一阶段</a:t>
            </a:r>
            <a:endParaRPr lang="en-US" sz="1050" dirty="0"/>
          </a:p>
        </p:txBody>
      </p:sp>
      <p:sp>
        <p:nvSpPr>
          <p:cNvPr id="15" name="Text 5"/>
          <p:cNvSpPr/>
          <p:nvPr/>
        </p:nvSpPr>
        <p:spPr>
          <a:xfrm>
            <a:off x="1495388" y="1904952"/>
            <a:ext cx="72350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2026年下半年</a:t>
            </a:r>
            <a:endParaRPr lang="en-US" sz="900" dirty="0"/>
          </a:p>
        </p:txBody>
      </p:sp>
      <p:sp>
        <p:nvSpPr>
          <p:cNvPr id="16" name="Text 6"/>
          <p:cNvSpPr/>
          <p:nvPr/>
        </p:nvSpPr>
        <p:spPr>
          <a:xfrm>
            <a:off x="1076298" y="2333567"/>
            <a:ext cx="301896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启动与基线建立</a:t>
            </a:r>
            <a:endParaRPr lang="en-US" sz="105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298" y="2695508"/>
            <a:ext cx="38099" cy="38099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190595" y="2638359"/>
            <a:ext cx="105686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签署战略合作框架协议</a:t>
            </a:r>
            <a:endParaRPr lang="en-US" sz="82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298" y="2914577"/>
            <a:ext cx="38099" cy="38099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190595" y="2857429"/>
            <a:ext cx="281894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成立联合工作组，启动"临床AI辅助诊疗系统的效能评价研究"</a:t>
            </a:r>
            <a:endParaRPr lang="en-US" sz="82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298" y="3133647"/>
            <a:ext cx="38099" cy="38099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190595" y="3076498"/>
            <a:ext cx="239033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完成临床效能评价方案设计（RCT或队列研究设计）</a:t>
            </a:r>
            <a:endParaRPr lang="en-US" sz="82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298" y="3352716"/>
            <a:ext cx="38099" cy="38099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1190595" y="3295568"/>
            <a:ext cx="116164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开始数据采集与基线分析</a:t>
            </a:r>
            <a:endParaRPr lang="en-US" sz="82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298" y="5381490"/>
            <a:ext cx="3009825" cy="476238"/>
          </a:xfrm>
          <a:prstGeom prst="rect">
            <a:avLst/>
          </a:prstGeom>
        </p:spPr>
      </p:pic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298" y="5524362"/>
            <a:ext cx="133347" cy="114297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1266793" y="5505312"/>
            <a:ext cx="399659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预期成果</a:t>
            </a:r>
            <a:endParaRPr lang="en-US" sz="750" dirty="0"/>
          </a:p>
        </p:txBody>
      </p:sp>
      <p:sp>
        <p:nvSpPr>
          <p:cNvPr id="28" name="Text 12"/>
          <p:cNvSpPr/>
          <p:nvPr/>
        </p:nvSpPr>
        <p:spPr>
          <a:xfrm>
            <a:off x="1076298" y="5705332"/>
            <a:ext cx="301896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形成评价方案、积累基线数据、完成1篇方法学论文初稿</a:t>
            </a:r>
            <a:endParaRPr lang="en-US" sz="820" dirty="0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539" y="1590635"/>
            <a:ext cx="3333667" cy="4429014"/>
          </a:xfrm>
          <a:prstGeom prst="rect">
            <a:avLst/>
          </a:prstGeom>
        </p:spPr>
      </p:pic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064" y="1600160"/>
            <a:ext cx="3314617" cy="581010"/>
          </a:xfrm>
          <a:prstGeom prst="rect">
            <a:avLst/>
          </a:prstGeom>
        </p:spPr>
      </p:pic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460" y="1733507"/>
            <a:ext cx="304792" cy="304792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4686183" y="1790655"/>
            <a:ext cx="14249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</a:t>
            </a:r>
            <a:endParaRPr lang="en-US" sz="1050" dirty="0"/>
          </a:p>
        </p:txBody>
      </p:sp>
      <p:sp>
        <p:nvSpPr>
          <p:cNvPr id="33" name="Text 14"/>
          <p:cNvSpPr/>
          <p:nvPr/>
        </p:nvSpPr>
        <p:spPr>
          <a:xfrm>
            <a:off x="5019550" y="1714457"/>
            <a:ext cx="54253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第二阶段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5019550" y="1904952"/>
            <a:ext cx="54253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2027年</a:t>
            </a:r>
            <a:endParaRPr lang="en-US" sz="900" dirty="0"/>
          </a:p>
        </p:txBody>
      </p:sp>
      <p:sp>
        <p:nvSpPr>
          <p:cNvPr id="35" name="Text 16"/>
          <p:cNvSpPr/>
          <p:nvPr/>
        </p:nvSpPr>
        <p:spPr>
          <a:xfrm>
            <a:off x="4600460" y="2333567"/>
            <a:ext cx="301896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成果产出与课题申报</a:t>
            </a:r>
            <a:endParaRPr lang="en-US" sz="1050" dirty="0"/>
          </a:p>
        </p:txBody>
      </p:sp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460" y="2695508"/>
            <a:ext cx="38099" cy="38099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4714757" y="2638359"/>
            <a:ext cx="241890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基于临床数据，产出学术成果（论文、软件著作权）</a:t>
            </a:r>
            <a:endParaRPr lang="en-US" sz="820" dirty="0"/>
          </a:p>
        </p:txBody>
      </p:sp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460" y="2914577"/>
            <a:ext cx="38099" cy="38099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4714757" y="2857429"/>
            <a:ext cx="225698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联合申报国家或省级重点研发计划/自然科学基金</a:t>
            </a:r>
            <a:endParaRPr lang="en-US" sz="820" dirty="0"/>
          </a:p>
        </p:txBody>
      </p:sp>
      <p:pic>
        <p:nvPicPr>
          <p:cNvPr id="40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460" y="3133647"/>
            <a:ext cx="38099" cy="38099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4714757" y="3076498"/>
            <a:ext cx="1733126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启动OpenClaw医疗AI Agent联合研发</a:t>
            </a:r>
            <a:endParaRPr lang="en-US" sz="820" dirty="0"/>
          </a:p>
        </p:txBody>
      </p:sp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460" y="3352716"/>
            <a:ext cx="38099" cy="38099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4714757" y="3295568"/>
            <a:ext cx="161882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启动眼镜-平板多模态协同联合研发</a:t>
            </a:r>
            <a:endParaRPr lang="en-US" sz="820" dirty="0"/>
          </a:p>
        </p:txBody>
      </p:sp>
      <p:pic>
        <p:nvPicPr>
          <p:cNvPr id="44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460" y="3571786"/>
            <a:ext cx="38099" cy="38099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4714757" y="3514637"/>
            <a:ext cx="126641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将联合实验室初步建设起来</a:t>
            </a:r>
            <a:endParaRPr lang="en-US" sz="820" dirty="0"/>
          </a:p>
        </p:txBody>
      </p:sp>
      <p:pic>
        <p:nvPicPr>
          <p:cNvPr id="46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0460" y="5381490"/>
            <a:ext cx="3009825" cy="476238"/>
          </a:xfrm>
          <a:prstGeom prst="rect">
            <a:avLst/>
          </a:prstGeom>
        </p:spPr>
      </p:pic>
      <p:pic>
        <p:nvPicPr>
          <p:cNvPr id="47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0460" y="5524362"/>
            <a:ext cx="133347" cy="114297"/>
          </a:xfrm>
          <a:prstGeom prst="rect">
            <a:avLst/>
          </a:prstGeom>
        </p:spPr>
      </p:pic>
      <p:sp>
        <p:nvSpPr>
          <p:cNvPr id="48" name="Text 22"/>
          <p:cNvSpPr/>
          <p:nvPr/>
        </p:nvSpPr>
        <p:spPr>
          <a:xfrm>
            <a:off x="4781430" y="5505312"/>
            <a:ext cx="399659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预期成果</a:t>
            </a:r>
            <a:endParaRPr lang="en-US" sz="750" dirty="0"/>
          </a:p>
        </p:txBody>
      </p:sp>
      <p:sp>
        <p:nvSpPr>
          <p:cNvPr id="49" name="Text 23"/>
          <p:cNvSpPr/>
          <p:nvPr/>
        </p:nvSpPr>
        <p:spPr>
          <a:xfrm>
            <a:off x="4600460" y="5705332"/>
            <a:ext cx="301896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争取获得科研课题立项、发表1-2篇高质量论文、培养研究生</a:t>
            </a:r>
            <a:endParaRPr lang="en-US" sz="820" dirty="0"/>
          </a:p>
        </p:txBody>
      </p:sp>
      <p:pic>
        <p:nvPicPr>
          <p:cNvPr id="50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176" y="1590635"/>
            <a:ext cx="3333667" cy="4429014"/>
          </a:xfrm>
          <a:prstGeom prst="rect">
            <a:avLst/>
          </a:prstGeom>
        </p:spPr>
      </p:pic>
      <p:pic>
        <p:nvPicPr>
          <p:cNvPr id="51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2701" y="1600160"/>
            <a:ext cx="3314617" cy="581010"/>
          </a:xfrm>
          <a:prstGeom prst="rect">
            <a:avLst/>
          </a:prstGeom>
        </p:spPr>
      </p:pic>
      <p:pic>
        <p:nvPicPr>
          <p:cNvPr id="52" name="Image 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097" y="1733507"/>
            <a:ext cx="304792" cy="304792"/>
          </a:xfrm>
          <a:prstGeom prst="rect">
            <a:avLst/>
          </a:prstGeom>
        </p:spPr>
      </p:pic>
      <p:sp>
        <p:nvSpPr>
          <p:cNvPr id="53" name="Text 24"/>
          <p:cNvSpPr/>
          <p:nvPr/>
        </p:nvSpPr>
        <p:spPr>
          <a:xfrm>
            <a:off x="8200820" y="1790655"/>
            <a:ext cx="14249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</a:t>
            </a:r>
            <a:endParaRPr lang="en-US" sz="1050" dirty="0"/>
          </a:p>
        </p:txBody>
      </p:sp>
      <p:sp>
        <p:nvSpPr>
          <p:cNvPr id="54" name="Text 25"/>
          <p:cNvSpPr/>
          <p:nvPr/>
        </p:nvSpPr>
        <p:spPr>
          <a:xfrm>
            <a:off x="8534187" y="1714457"/>
            <a:ext cx="72350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第三阶段</a:t>
            </a:r>
            <a:endParaRPr lang="en-US" sz="1050" dirty="0"/>
          </a:p>
        </p:txBody>
      </p:sp>
      <p:sp>
        <p:nvSpPr>
          <p:cNvPr id="55" name="Text 26"/>
          <p:cNvSpPr/>
          <p:nvPr/>
        </p:nvSpPr>
        <p:spPr>
          <a:xfrm>
            <a:off x="8534187" y="1904952"/>
            <a:ext cx="72350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2028年及以后</a:t>
            </a:r>
            <a:endParaRPr lang="en-US" sz="900" dirty="0"/>
          </a:p>
        </p:txBody>
      </p:sp>
      <p:sp>
        <p:nvSpPr>
          <p:cNvPr id="56" name="Text 27"/>
          <p:cNvSpPr/>
          <p:nvPr/>
        </p:nvSpPr>
        <p:spPr>
          <a:xfrm>
            <a:off x="8115097" y="2333567"/>
            <a:ext cx="301896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模式推广与标准探索</a:t>
            </a:r>
            <a:endParaRPr lang="en-US" sz="1050" dirty="0"/>
          </a:p>
        </p:txBody>
      </p:sp>
      <p:pic>
        <p:nvPicPr>
          <p:cNvPr id="57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097" y="2695508"/>
            <a:ext cx="38099" cy="38099"/>
          </a:xfrm>
          <a:prstGeom prst="rect">
            <a:avLst/>
          </a:prstGeom>
        </p:spPr>
      </p:pic>
      <p:sp>
        <p:nvSpPr>
          <p:cNvPr id="58" name="Text 28"/>
          <p:cNvSpPr/>
          <p:nvPr/>
        </p:nvSpPr>
        <p:spPr>
          <a:xfrm>
            <a:off x="8229394" y="2638359"/>
            <a:ext cx="199981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联合实验室模式向更多科室、更多病种扩展</a:t>
            </a:r>
            <a:endParaRPr lang="en-US" sz="820" dirty="0"/>
          </a:p>
        </p:txBody>
      </p:sp>
      <p:pic>
        <p:nvPicPr>
          <p:cNvPr id="59" name="Image 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097" y="2914577"/>
            <a:ext cx="38099" cy="38099"/>
          </a:xfrm>
          <a:prstGeom prst="rect">
            <a:avLst/>
          </a:prstGeom>
        </p:spPr>
      </p:pic>
      <p:sp>
        <p:nvSpPr>
          <p:cNvPr id="60" name="Text 29"/>
          <p:cNvSpPr/>
          <p:nvPr/>
        </p:nvSpPr>
        <p:spPr>
          <a:xfrm>
            <a:off x="8229394" y="2857429"/>
            <a:ext cx="126641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参与行业标准的探讨与制定</a:t>
            </a:r>
            <a:endParaRPr lang="en-US" sz="820" dirty="0"/>
          </a:p>
        </p:txBody>
      </p:sp>
      <p:pic>
        <p:nvPicPr>
          <p:cNvPr id="61" name="Image 2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097" y="3133647"/>
            <a:ext cx="38099" cy="38099"/>
          </a:xfrm>
          <a:prstGeom prst="rect">
            <a:avLst/>
          </a:prstGeom>
        </p:spPr>
      </p:pic>
      <p:sp>
        <p:nvSpPr>
          <p:cNvPr id="62" name="Text 30"/>
          <p:cNvSpPr/>
          <p:nvPr/>
        </p:nvSpPr>
        <p:spPr>
          <a:xfrm>
            <a:off x="8229394" y="3076498"/>
            <a:ext cx="137118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合作模式向其他地区复制推广</a:t>
            </a:r>
            <a:endParaRPr lang="en-US" sz="820" dirty="0"/>
          </a:p>
        </p:txBody>
      </p:sp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5097" y="5381490"/>
            <a:ext cx="3009825" cy="476238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5097" y="5524362"/>
            <a:ext cx="133347" cy="114297"/>
          </a:xfrm>
          <a:prstGeom prst="rect">
            <a:avLst/>
          </a:prstGeom>
        </p:spPr>
      </p:pic>
      <p:sp>
        <p:nvSpPr>
          <p:cNvPr id="65" name="Text 31"/>
          <p:cNvSpPr/>
          <p:nvPr/>
        </p:nvSpPr>
        <p:spPr>
          <a:xfrm>
            <a:off x="8305592" y="5505312"/>
            <a:ext cx="399659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预期成果</a:t>
            </a:r>
            <a:endParaRPr lang="en-US" sz="750" dirty="0"/>
          </a:p>
        </p:txBody>
      </p:sp>
      <p:sp>
        <p:nvSpPr>
          <p:cNvPr id="66" name="Text 32"/>
          <p:cNvSpPr/>
          <p:nvPr/>
        </p:nvSpPr>
        <p:spPr>
          <a:xfrm>
            <a:off x="8115097" y="5705332"/>
            <a:ext cx="3018969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成为领域内有影响力的合作典范</a:t>
            </a:r>
            <a:endParaRPr lang="en-US" sz="820" dirty="0"/>
          </a:p>
        </p:txBody>
      </p:sp>
      <p:pic>
        <p:nvPicPr>
          <p:cNvPr id="67" name="Image 3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377" y="6200620"/>
            <a:ext cx="10362941" cy="276218"/>
          </a:xfrm>
          <a:prstGeom prst="rect">
            <a:avLst/>
          </a:prstGeom>
        </p:spPr>
      </p:pic>
      <p:pic>
        <p:nvPicPr>
          <p:cNvPr id="68" name="Image 3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377" y="6333967"/>
            <a:ext cx="133347" cy="133347"/>
          </a:xfrm>
          <a:prstGeom prst="rect">
            <a:avLst/>
          </a:prstGeom>
        </p:spPr>
      </p:pic>
      <p:sp>
        <p:nvSpPr>
          <p:cNvPr id="69" name="Text 33"/>
          <p:cNvSpPr/>
          <p:nvPr/>
        </p:nvSpPr>
        <p:spPr>
          <a:xfrm>
            <a:off x="1123922" y="6324442"/>
            <a:ext cx="197124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分阶段实施 · 渐进式推进 · 可持续扩展</a:t>
            </a:r>
            <a:endParaRPr lang="en-US" sz="900" dirty="0"/>
          </a:p>
        </p:txBody>
      </p:sp>
      <p:sp>
        <p:nvSpPr>
          <p:cNvPr id="70" name="Text 34"/>
          <p:cNvSpPr/>
          <p:nvPr/>
        </p:nvSpPr>
        <p:spPr>
          <a:xfrm>
            <a:off x="9429514" y="6324442"/>
            <a:ext cx="186647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Phased Implementation Strategy</a:t>
            </a:r>
            <a:endParaRPr lang="en-US" sz="900" dirty="0"/>
          </a:p>
        </p:txBody>
      </p:sp>
      <p:pic>
        <p:nvPicPr>
          <p:cNvPr id="71" name="Image 34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820129" y="6286343"/>
            <a:ext cx="57149" cy="57149"/>
          </a:xfrm>
          <a:prstGeom prst="rect">
            <a:avLst/>
          </a:prstGeom>
        </p:spPr>
      </p:pic>
      <p:pic>
        <p:nvPicPr>
          <p:cNvPr id="72" name="Image 35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953476" y="6286343"/>
            <a:ext cx="57149" cy="57149"/>
          </a:xfrm>
          <a:prstGeom prst="rect">
            <a:avLst/>
          </a:prstGeom>
        </p:spPr>
      </p:pic>
      <p:pic>
        <p:nvPicPr>
          <p:cNvPr id="73" name="Image 36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086823" y="6286343"/>
            <a:ext cx="57149" cy="57149"/>
          </a:xfrm>
          <a:prstGeom prst="rect">
            <a:avLst/>
          </a:prstGeom>
        </p:spPr>
      </p:pic>
      <p:pic>
        <p:nvPicPr>
          <p:cNvPr id="74" name="Image 37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220169" y="6286343"/>
            <a:ext cx="57149" cy="57149"/>
          </a:xfrm>
          <a:prstGeom prst="rect">
            <a:avLst/>
          </a:prstGeom>
        </p:spPr>
      </p:pic>
      <p:pic>
        <p:nvPicPr>
          <p:cNvPr id="75" name="Image 38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820129" y="6419690"/>
            <a:ext cx="57149" cy="57149"/>
          </a:xfrm>
          <a:prstGeom prst="rect">
            <a:avLst/>
          </a:prstGeom>
        </p:spPr>
      </p:pic>
      <p:pic>
        <p:nvPicPr>
          <p:cNvPr id="76" name="Image 39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953476" y="6419690"/>
            <a:ext cx="57149" cy="57149"/>
          </a:xfrm>
          <a:prstGeom prst="rect">
            <a:avLst/>
          </a:prstGeom>
        </p:spPr>
      </p:pic>
      <p:pic>
        <p:nvPicPr>
          <p:cNvPr id="77" name="Image 40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086823" y="6419690"/>
            <a:ext cx="57149" cy="57149"/>
          </a:xfrm>
          <a:prstGeom prst="rect">
            <a:avLst/>
          </a:prstGeom>
        </p:spPr>
      </p:pic>
      <p:pic>
        <p:nvPicPr>
          <p:cNvPr id="78" name="Image 41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220169" y="6419690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47664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380990"/>
            <a:ext cx="142833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Cooperation Value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647684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科技大学合作价值回报</a:t>
            </a:r>
            <a:endParaRPr lang="en-US" sz="285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409665"/>
            <a:ext cx="3305092" cy="4457589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496" y="1666833"/>
            <a:ext cx="380990" cy="38099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19" y="1771606"/>
            <a:ext cx="219070" cy="171446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647784" y="1657309"/>
            <a:ext cx="866373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学术影响力</a:t>
            </a:r>
            <a:endParaRPr lang="en-US" sz="1350" dirty="0"/>
          </a:p>
        </p:txBody>
      </p:sp>
      <p:sp>
        <p:nvSpPr>
          <p:cNvPr id="13" name="Text 3"/>
          <p:cNvSpPr/>
          <p:nvPr/>
        </p:nvSpPr>
        <p:spPr>
          <a:xfrm>
            <a:off x="1647784" y="1866853"/>
            <a:ext cx="35203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提升</a:t>
            </a:r>
            <a:endParaRPr lang="en-US" sz="135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496" y="2343091"/>
            <a:ext cx="57149" cy="57149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323942" y="2266893"/>
            <a:ext cx="2361760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获得一个真实的、可运行的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临床AI研究平台</a:t>
            </a:r>
            <a:endParaRPr lang="en-US" sz="97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496" y="2695508"/>
            <a:ext cx="57149" cy="57149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323942" y="2619310"/>
            <a:ext cx="1990294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产出高质量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论文、专利、软件著作权</a:t>
            </a:r>
            <a:endParaRPr lang="en-US" sz="97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496" y="3047924"/>
            <a:ext cx="57149" cy="57149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1323942" y="2971726"/>
            <a:ext cx="137118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提高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学科排名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和学术声誉</a:t>
            </a:r>
            <a:endParaRPr lang="en-US" sz="97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8064" y="1409665"/>
            <a:ext cx="3305092" cy="4457589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183" y="1666833"/>
            <a:ext cx="380990" cy="38099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1906" y="1771606"/>
            <a:ext cx="219070" cy="171446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5181470" y="1657309"/>
            <a:ext cx="69492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人才培养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5181470" y="1866853"/>
            <a:ext cx="69492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质量飞跃</a:t>
            </a:r>
            <a:endParaRPr lang="en-US" sz="135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6183" y="2343091"/>
            <a:ext cx="57149" cy="57149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4857629" y="2266893"/>
            <a:ext cx="2666553" cy="409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学生在校期间接触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业界前沿技术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和真实医疗AI场景</a:t>
            </a:r>
            <a:endParaRPr lang="en-US" sz="97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6183" y="2895528"/>
            <a:ext cx="57149" cy="57149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4857629" y="2819330"/>
            <a:ext cx="2161740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培养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"工程能力+医学思维"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的复合型人才</a:t>
            </a:r>
            <a:endParaRPr lang="en-US" sz="970" dirty="0"/>
          </a:p>
        </p:txBody>
      </p:sp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6183" y="3247944"/>
            <a:ext cx="57149" cy="57149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4857629" y="3171746"/>
            <a:ext cx="1247363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增加毕业生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就业竞争力</a:t>
            </a:r>
            <a:endParaRPr lang="en-US" sz="970" dirty="0"/>
          </a:p>
        </p:txBody>
      </p:sp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750" y="1409665"/>
            <a:ext cx="3305092" cy="4457589"/>
          </a:xfrm>
          <a:prstGeom prst="rect">
            <a:avLst/>
          </a:prstGeom>
        </p:spPr>
      </p:pic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869" y="1666833"/>
            <a:ext cx="380990" cy="380990"/>
          </a:xfrm>
          <a:prstGeom prst="rect">
            <a:avLst/>
          </a:prstGeom>
        </p:spPr>
      </p:pic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4167" y="1771606"/>
            <a:ext cx="152396" cy="171446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8715157" y="1657309"/>
            <a:ext cx="69492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科研项目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8715157" y="1866853"/>
            <a:ext cx="69492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能力提升</a:t>
            </a:r>
            <a:endParaRPr lang="en-US" sz="1350" dirty="0"/>
          </a:p>
        </p:txBody>
      </p:sp>
      <p:pic>
        <p:nvPicPr>
          <p:cNvPr id="36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9869" y="2343091"/>
            <a:ext cx="57149" cy="57149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8391315" y="2266893"/>
            <a:ext cx="2114116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联合申报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课题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的竞争力显著增强</a:t>
            </a:r>
            <a:endParaRPr lang="en-US" sz="970" dirty="0"/>
          </a:p>
        </p:txBody>
      </p:sp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9869" y="2695508"/>
            <a:ext cx="57149" cy="57149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8391315" y="2619310"/>
            <a:ext cx="2037918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成为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"人工智能+医疗"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方向的示范项目</a:t>
            </a:r>
            <a:endParaRPr lang="en-US" sz="970" dirty="0"/>
          </a:p>
        </p:txBody>
      </p:sp>
      <p:pic>
        <p:nvPicPr>
          <p:cNvPr id="40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9869" y="3047924"/>
            <a:ext cx="57149" cy="57149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8391315" y="2971726"/>
            <a:ext cx="137118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吸引</a:t>
            </a:r>
            <a:r>
              <a:rPr lang="en-US" sz="970" b="1" dirty="0">
                <a:solidFill>
                  <a:srgbClr val="0F172A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社会资本</a:t>
            </a:r>
            <a:r>
              <a:rPr lang="en-US" sz="970" dirty="0">
                <a:solidFill>
                  <a:srgbClr val="334155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和行业资源</a:t>
            </a:r>
            <a:endParaRPr lang="en-US" sz="970" dirty="0"/>
          </a:p>
        </p:txBody>
      </p:sp>
      <p:pic>
        <p:nvPicPr>
          <p:cNvPr id="42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77" y="6162521"/>
            <a:ext cx="10362941" cy="314317"/>
          </a:xfrm>
          <a:prstGeom prst="rect">
            <a:avLst/>
          </a:prstGeom>
        </p:spPr>
      </p:pic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377" y="6333967"/>
            <a:ext cx="171446" cy="133347"/>
          </a:xfrm>
          <a:prstGeom prst="rect">
            <a:avLst/>
          </a:prstGeom>
        </p:spPr>
      </p:pic>
      <p:sp>
        <p:nvSpPr>
          <p:cNvPr id="44" name="Text 17"/>
          <p:cNvSpPr/>
          <p:nvPr/>
        </p:nvSpPr>
        <p:spPr>
          <a:xfrm>
            <a:off x="1162021" y="6324442"/>
            <a:ext cx="197124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产学研深度融合 · 协同创新 · 互利共赢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9905752" y="6324442"/>
            <a:ext cx="139023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University Collaboration</a:t>
            </a:r>
            <a:endParaRPr lang="en-US" sz="900" dirty="0"/>
          </a:p>
        </p:txBody>
      </p:sp>
      <p:pic>
        <p:nvPicPr>
          <p:cNvPr id="46" name="Image 25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0820129" y="6210145"/>
            <a:ext cx="57149" cy="57149"/>
          </a:xfrm>
          <a:prstGeom prst="rect">
            <a:avLst/>
          </a:prstGeom>
        </p:spPr>
      </p:pic>
      <p:pic>
        <p:nvPicPr>
          <p:cNvPr id="47" name="Image 26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0953476" y="6210145"/>
            <a:ext cx="57149" cy="57149"/>
          </a:xfrm>
          <a:prstGeom prst="rect">
            <a:avLst/>
          </a:prstGeom>
        </p:spPr>
      </p:pic>
      <p:pic>
        <p:nvPicPr>
          <p:cNvPr id="48" name="Image 27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1086823" y="6210145"/>
            <a:ext cx="57149" cy="57149"/>
          </a:xfrm>
          <a:prstGeom prst="rect">
            <a:avLst/>
          </a:prstGeom>
        </p:spPr>
      </p:pic>
      <p:pic>
        <p:nvPicPr>
          <p:cNvPr id="49" name="Image 28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1220169" y="6210145"/>
            <a:ext cx="57149" cy="57149"/>
          </a:xfrm>
          <a:prstGeom prst="rect">
            <a:avLst/>
          </a:prstGeom>
        </p:spPr>
      </p:pic>
      <p:pic>
        <p:nvPicPr>
          <p:cNvPr id="50" name="Image 29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0820129" y="6343491"/>
            <a:ext cx="57149" cy="57149"/>
          </a:xfrm>
          <a:prstGeom prst="rect">
            <a:avLst/>
          </a:prstGeom>
        </p:spPr>
      </p:pic>
      <p:pic>
        <p:nvPicPr>
          <p:cNvPr id="51" name="Image 30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0953476" y="6343491"/>
            <a:ext cx="57149" cy="57149"/>
          </a:xfrm>
          <a:prstGeom prst="rect">
            <a:avLst/>
          </a:prstGeom>
        </p:spPr>
      </p:pic>
      <p:pic>
        <p:nvPicPr>
          <p:cNvPr id="52" name="Image 31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1086823" y="6343491"/>
            <a:ext cx="57149" cy="57149"/>
          </a:xfrm>
          <a:prstGeom prst="rect">
            <a:avLst/>
          </a:prstGeom>
        </p:spPr>
      </p:pic>
      <p:pic>
        <p:nvPicPr>
          <p:cNvPr id="53" name="Image 32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1220169" y="6343491"/>
            <a:ext cx="57149" cy="571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1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0"/>
            <a:ext cx="9525" cy="68578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4377" y="0"/>
            <a:ext cx="9525" cy="68578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47664"/>
            <a:ext cx="457189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85863" y="380990"/>
            <a:ext cx="196172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Collaboration Invitation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914377" y="647684"/>
            <a:ext cx="10372085" cy="45718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诚邀共创智慧医疗新篇章</a:t>
            </a:r>
            <a:endParaRPr lang="en-US" sz="2850" dirty="0"/>
          </a:p>
        </p:txBody>
      </p:sp>
      <p:sp>
        <p:nvSpPr>
          <p:cNvPr id="9" name="Text 2"/>
          <p:cNvSpPr/>
          <p:nvPr/>
        </p:nvSpPr>
        <p:spPr>
          <a:xfrm>
            <a:off x="914377" y="1219170"/>
            <a:ext cx="7324161" cy="2476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诚挚邀请科技大学与我们合作，把握AI+医疗的政策窗口期</a:t>
            </a:r>
            <a:endParaRPr lang="en-US" sz="12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" y="1838279"/>
            <a:ext cx="133347" cy="133347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123922" y="1771606"/>
            <a:ext cx="694927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核心资源</a:t>
            </a:r>
            <a:endParaRPr lang="en-US" sz="13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2101" y="1895428"/>
            <a:ext cx="3943251" cy="9525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377" y="2266893"/>
            <a:ext cx="4990975" cy="1438239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397" y="2466913"/>
            <a:ext cx="380990" cy="380990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0120" y="2571686"/>
            <a:ext cx="219070" cy="171446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1609685" y="2466913"/>
            <a:ext cx="400954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真实临床场景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1609685" y="2771706"/>
            <a:ext cx="4009544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成都市第五人民医院心血管一病区</a:t>
            </a:r>
            <a:r>
              <a:rPr lang="zh-CN" alt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及县医院</a:t>
            </a: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，提供真实的临床数据</a:t>
            </a:r>
            <a:endParaRPr lang="en-US" sz="1050" dirty="0">
              <a:solidFill>
                <a:srgbClr val="475569"/>
              </a:solidFill>
              <a:latin typeface="等线" panose="02010600030101010101" pitchFamily="34" charset="-122"/>
              <a:ea typeface="等线" panose="02010600030101010101" pitchFamily="34" charset="-122"/>
              <a:cs typeface="等线" panose="02010600030101010101" pitchFamily="34" charset="-120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与验证环境</a:t>
            </a:r>
            <a:endParaRPr lang="en-US" sz="105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377" y="3886103"/>
            <a:ext cx="4990975" cy="1438239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397" y="4086123"/>
            <a:ext cx="380990" cy="38099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0120" y="4190895"/>
            <a:ext cx="219070" cy="171446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1609685" y="4086123"/>
            <a:ext cx="4000019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成熟产品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1609685" y="4390915"/>
            <a:ext cx="4000019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MedAiAssistant系统，与轻舟数科合作开发，已在生产环境稳定运行</a:t>
            </a:r>
            <a:endParaRPr lang="en-US" sz="1050" dirty="0"/>
          </a:p>
        </p:txBody>
      </p:sp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377" y="5619610"/>
            <a:ext cx="10362941" cy="857229"/>
          </a:xfrm>
          <a:prstGeom prst="rect">
            <a:avLst/>
          </a:prstGeom>
        </p:spPr>
      </p:pic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2971" y="5819630"/>
            <a:ext cx="457189" cy="457189"/>
          </a:xfrm>
          <a:prstGeom prst="rect">
            <a:avLst/>
          </a:prstGeom>
        </p:spPr>
      </p:pic>
      <p:pic>
        <p:nvPicPr>
          <p:cNvPr id="40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5368" y="5952976"/>
            <a:ext cx="171446" cy="190495"/>
          </a:xfrm>
          <a:prstGeom prst="rect">
            <a:avLst/>
          </a:prstGeom>
        </p:spPr>
      </p:pic>
      <p:sp>
        <p:nvSpPr>
          <p:cNvPr id="41" name="Text 18"/>
          <p:cNvSpPr/>
          <p:nvPr/>
        </p:nvSpPr>
        <p:spPr>
          <a:xfrm>
            <a:off x="1752556" y="5829154"/>
            <a:ext cx="1037818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Contact Person</a:t>
            </a:r>
            <a:endParaRPr lang="en-US" sz="900" dirty="0"/>
          </a:p>
        </p:txBody>
      </p:sp>
      <p:sp>
        <p:nvSpPr>
          <p:cNvPr id="42" name="Text 19"/>
          <p:cNvSpPr/>
          <p:nvPr/>
        </p:nvSpPr>
        <p:spPr>
          <a:xfrm>
            <a:off x="1752556" y="6000600"/>
            <a:ext cx="1037818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刘朝晖 </a:t>
            </a:r>
            <a:r>
              <a:rPr lang="zh-CN" altLang="en-US" sz="15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成都市第五人民医院</a:t>
            </a:r>
            <a:r>
              <a:rPr lang="en-US" altLang="zh-CN" sz="15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 </a:t>
            </a:r>
            <a:r>
              <a:rPr lang="zh-CN" altLang="en-US" sz="1500" b="1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心内科</a:t>
            </a:r>
            <a:endParaRPr lang="zh-CN" altLang="en-US" sz="1500" b="1" dirty="0">
              <a:solidFill>
                <a:srgbClr val="0F172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34" charset="-120"/>
            </a:endParaRPr>
          </a:p>
        </p:txBody>
      </p:sp>
      <p:pic>
        <p:nvPicPr>
          <p:cNvPr id="4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05692" y="5829154"/>
            <a:ext cx="1781130" cy="438139"/>
          </a:xfrm>
          <a:prstGeom prst="rect">
            <a:avLst/>
          </a:prstGeom>
        </p:spPr>
      </p:pic>
      <p:pic>
        <p:nvPicPr>
          <p:cNvPr id="4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67613" y="5972026"/>
            <a:ext cx="152396" cy="152396"/>
          </a:xfrm>
          <a:prstGeom prst="rect">
            <a:avLst/>
          </a:prstGeom>
        </p:spPr>
      </p:pic>
      <p:sp>
        <p:nvSpPr>
          <p:cNvPr id="45" name="Text 20"/>
          <p:cNvSpPr/>
          <p:nvPr/>
        </p:nvSpPr>
        <p:spPr>
          <a:xfrm>
            <a:off x="9734307" y="5914877"/>
            <a:ext cx="1199739" cy="2666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5E59"/>
                </a:solidFill>
                <a:latin typeface="等线" panose="02010600030101010101" pitchFamily="34" charset="-122"/>
                <a:ea typeface="等线" panose="02010600030101010101" pitchFamily="34" charset="-122"/>
                <a:cs typeface="等线" panose="02010600030101010101" pitchFamily="34" charset="-120"/>
              </a:rPr>
              <a:t>134 5800 3688</a:t>
            </a:r>
            <a:endParaRPr lang="en-US" sz="1350" dirty="0"/>
          </a:p>
        </p:txBody>
      </p:sp>
      <p:pic>
        <p:nvPicPr>
          <p:cNvPr id="46" name="Image 23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820129" y="6286343"/>
            <a:ext cx="57149" cy="57149"/>
          </a:xfrm>
          <a:prstGeom prst="rect">
            <a:avLst/>
          </a:prstGeom>
        </p:spPr>
      </p:pic>
      <p:pic>
        <p:nvPicPr>
          <p:cNvPr id="47" name="Image 24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953476" y="6286343"/>
            <a:ext cx="57149" cy="57149"/>
          </a:xfrm>
          <a:prstGeom prst="rect">
            <a:avLst/>
          </a:prstGeom>
        </p:spPr>
      </p:pic>
      <p:pic>
        <p:nvPicPr>
          <p:cNvPr id="48" name="Image 25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086823" y="6286343"/>
            <a:ext cx="57149" cy="57149"/>
          </a:xfrm>
          <a:prstGeom prst="rect">
            <a:avLst/>
          </a:prstGeom>
        </p:spPr>
      </p:pic>
      <p:pic>
        <p:nvPicPr>
          <p:cNvPr id="49" name="Image 26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220169" y="6286343"/>
            <a:ext cx="57149" cy="57149"/>
          </a:xfrm>
          <a:prstGeom prst="rect">
            <a:avLst/>
          </a:prstGeom>
        </p:spPr>
      </p:pic>
      <p:pic>
        <p:nvPicPr>
          <p:cNvPr id="50" name="Image 27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820129" y="6419690"/>
            <a:ext cx="57149" cy="57149"/>
          </a:xfrm>
          <a:prstGeom prst="rect">
            <a:avLst/>
          </a:prstGeom>
        </p:spPr>
      </p:pic>
      <p:pic>
        <p:nvPicPr>
          <p:cNvPr id="51" name="Image 28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953476" y="6419690"/>
            <a:ext cx="57149" cy="57149"/>
          </a:xfrm>
          <a:prstGeom prst="rect">
            <a:avLst/>
          </a:prstGeom>
        </p:spPr>
      </p:pic>
      <p:pic>
        <p:nvPicPr>
          <p:cNvPr id="52" name="Image 29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086823" y="6419690"/>
            <a:ext cx="57149" cy="57149"/>
          </a:xfrm>
          <a:prstGeom prst="rect">
            <a:avLst/>
          </a:prstGeom>
        </p:spPr>
      </p:pic>
      <p:pic>
        <p:nvPicPr>
          <p:cNvPr id="53" name="Image 30" descr="preencoded.png"/>
          <p:cNvPicPr>
            <a:picLocks noChangeAspect="1"/>
          </p:cNvPicPr>
          <p:nvPr/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1220169" y="6419690"/>
            <a:ext cx="57149" cy="57149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279" r="3263"/>
          <a:stretch>
            <a:fillRect/>
          </a:stretch>
        </p:blipFill>
        <p:spPr>
          <a:xfrm>
            <a:off x="8387080" y="1972310"/>
            <a:ext cx="3619500" cy="3704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4687</Words>
  <Application>WPS 演示</Application>
  <PresentationFormat>On-screen Show (16:9)</PresentationFormat>
  <Paragraphs>559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等线</vt:lpstr>
      <vt:lpstr>等线</vt:lpstr>
      <vt:lpstr>Consolas</vt:lpstr>
      <vt:lpstr>Consolas</vt:lpstr>
      <vt:lpstr>Consolas</vt:lpstr>
      <vt:lpstr>宋体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1</cp:lastModifiedBy>
  <cp:revision>26</cp:revision>
  <dcterms:created xsi:type="dcterms:W3CDTF">2026-05-04T13:17:00Z</dcterms:created>
  <dcterms:modified xsi:type="dcterms:W3CDTF">2026-05-04T15:05:45Z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00119144030071526726XG1MO2E","ProduceID":"Cjk2OWY4OTdmM2QwN2E3YmM4ZDllYWQzNTE2MmY2NTkxZmVkNTFfNnQ0OGE2XzE3Nzc4OTk1MDkzNDc","ReservedCode1":"LAGM12Z+Wq2YPLfOU55O4+P45dbrFbxiaZ5AilVoMaMUbR7INUh90GRLOxIszdLUntVsfBgIwmZn1ZpuN0RwWrhHFcpnPgrlEGFtF+bHK9KR6hDrz8c+V+BU1x8WSkotGozNQ9XeKudgQ6/+NiYpUkp9QHqEKxwt5BSP+92xRDhq3NqwUyn8HL0rYzTZPdvrgTH92g==","ContentPropagator":"00119144030071526726XG1MO2E","PropagateID":"Cjk2OWY4OTdmM2QwN2E3YmM4ZDllYWQzNTE2MmY2NTkxZmVkNTFfNnQ0OGE2XzE3Nzc4OTk1MDkzNDc","ReservedCode2":"LAGM12Z+Wq2YPLfOU55O4+P45dbrFbxiaZ5AilVoMaMUbR7INUh90GRLOxIszdLUntVsfBgIwmZn1ZpuN0RwWrhHFcpnPgrlEGFtF+bHK9KR6hDrz8c+V+BU1x8WSkotGozNQ9XeKudgQ6/+NiYpUkp9QHqEKxwt5BSP+92xRDhq3NqwUyn8HL0rYzTZPdvrgTH92g=="}</vt:lpwstr>
  </property>
  <property fmtid="{D5CDD505-2E9C-101B-9397-08002B2CF9AE}" pid="3" name="KSOProductBuildVer">
    <vt:lpwstr>2052-12.1.0.25225</vt:lpwstr>
  </property>
  <property fmtid="{D5CDD505-2E9C-101B-9397-08002B2CF9AE}" pid="4" name="ICV">
    <vt:lpwstr>FF2195F104B340B4B70D1060F5E76FB1_12</vt:lpwstr>
  </property>
</Properties>
</file>