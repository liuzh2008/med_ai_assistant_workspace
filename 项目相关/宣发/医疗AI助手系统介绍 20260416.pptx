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7" r:id="rId3"/>
    <p:sldId id="256" r:id="rId5"/>
    <p:sldId id="275" r:id="rId6"/>
    <p:sldId id="299" r:id="rId7"/>
    <p:sldId id="291" r:id="rId8"/>
    <p:sldId id="292" r:id="rId9"/>
    <p:sldId id="293" r:id="rId10"/>
    <p:sldId id="294" r:id="rId11"/>
    <p:sldId id="295" r:id="rId12"/>
    <p:sldId id="296" r:id="rId13"/>
    <p:sldId id="290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8" r:id="rId28"/>
    <p:sldId id="279" r:id="rId29"/>
    <p:sldId id="297" r:id="rId30"/>
    <p:sldId id="298" r:id="rId31"/>
    <p:sldId id="272" r:id="rId32"/>
    <p:sldId id="273" r:id="rId33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6" Type="http://schemas.openxmlformats.org/officeDocument/2006/relationships/tableStyles" Target="tableStyles.xml"/><Relationship Id="rId35" Type="http://schemas.openxmlformats.org/officeDocument/2006/relationships/viewProps" Target="viewProps.xml"/><Relationship Id="rId34" Type="http://schemas.openxmlformats.org/officeDocument/2006/relationships/presProps" Target="presProps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9" Type="http://schemas.openxmlformats.org/officeDocument/2006/relationships/tags" Target="../tags/tag11.xml"/><Relationship Id="rId8" Type="http://schemas.openxmlformats.org/officeDocument/2006/relationships/tags" Target="../tags/tag10.xml"/><Relationship Id="rId7" Type="http://schemas.openxmlformats.org/officeDocument/2006/relationships/tags" Target="../tags/tag9.xml"/><Relationship Id="rId6" Type="http://schemas.openxmlformats.org/officeDocument/2006/relationships/tags" Target="../tags/tag8.xml"/><Relationship Id="rId5" Type="http://schemas.openxmlformats.org/officeDocument/2006/relationships/tags" Target="../tags/tag7.xml"/><Relationship Id="rId4" Type="http://schemas.openxmlformats.org/officeDocument/2006/relationships/tags" Target="../tags/tag6.xml"/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2" Type="http://schemas.openxmlformats.org/officeDocument/2006/relationships/tags" Target="../tags/tag14.xml"/><Relationship Id="rId11" Type="http://schemas.openxmlformats.org/officeDocument/2006/relationships/tags" Target="../tags/tag13.xml"/><Relationship Id="rId10" Type="http://schemas.openxmlformats.org/officeDocument/2006/relationships/tags" Target="../tags/tag12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9" Type="http://schemas.openxmlformats.org/officeDocument/2006/relationships/tags" Target="../tags/tag22.xml"/><Relationship Id="rId8" Type="http://schemas.openxmlformats.org/officeDocument/2006/relationships/tags" Target="../tags/tag21.xml"/><Relationship Id="rId7" Type="http://schemas.openxmlformats.org/officeDocument/2006/relationships/tags" Target="../tags/tag20.xml"/><Relationship Id="rId6" Type="http://schemas.openxmlformats.org/officeDocument/2006/relationships/tags" Target="../tags/tag19.xml"/><Relationship Id="rId5" Type="http://schemas.openxmlformats.org/officeDocument/2006/relationships/tags" Target="../tags/tag18.xml"/><Relationship Id="rId4" Type="http://schemas.openxmlformats.org/officeDocument/2006/relationships/tags" Target="../tags/tag17.xml"/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1" Type="http://schemas.openxmlformats.org/officeDocument/2006/relationships/tags" Target="../tags/tag24.xml"/><Relationship Id="rId10" Type="http://schemas.openxmlformats.org/officeDocument/2006/relationships/tags" Target="../tags/tag23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32.xml"/><Relationship Id="rId8" Type="http://schemas.openxmlformats.org/officeDocument/2006/relationships/tags" Target="../tags/tag31.xml"/><Relationship Id="rId7" Type="http://schemas.openxmlformats.org/officeDocument/2006/relationships/tags" Target="../tags/tag30.xml"/><Relationship Id="rId6" Type="http://schemas.openxmlformats.org/officeDocument/2006/relationships/tags" Target="../tags/tag29.xml"/><Relationship Id="rId5" Type="http://schemas.openxmlformats.org/officeDocument/2006/relationships/tags" Target="../tags/tag28.xml"/><Relationship Id="rId4" Type="http://schemas.openxmlformats.org/officeDocument/2006/relationships/tags" Target="../tags/tag27.xml"/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4" Type="http://schemas.openxmlformats.org/officeDocument/2006/relationships/tags" Target="../tags/tag37.xml"/><Relationship Id="rId13" Type="http://schemas.openxmlformats.org/officeDocument/2006/relationships/tags" Target="../tags/tag36.xml"/><Relationship Id="rId12" Type="http://schemas.openxmlformats.org/officeDocument/2006/relationships/tags" Target="../tags/tag35.xml"/><Relationship Id="rId11" Type="http://schemas.openxmlformats.org/officeDocument/2006/relationships/tags" Target="../tags/tag34.xml"/><Relationship Id="rId10" Type="http://schemas.openxmlformats.org/officeDocument/2006/relationships/tags" Target="../tags/tag33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9" Type="http://schemas.openxmlformats.org/officeDocument/2006/relationships/tags" Target="../tags/tag45.xml"/><Relationship Id="rId8" Type="http://schemas.openxmlformats.org/officeDocument/2006/relationships/tags" Target="../tags/tag44.xml"/><Relationship Id="rId7" Type="http://schemas.openxmlformats.org/officeDocument/2006/relationships/tags" Target="../tags/tag43.xml"/><Relationship Id="rId6" Type="http://schemas.openxmlformats.org/officeDocument/2006/relationships/tags" Target="../tags/tag42.xml"/><Relationship Id="rId5" Type="http://schemas.openxmlformats.org/officeDocument/2006/relationships/tags" Target="../tags/tag41.xml"/><Relationship Id="rId4" Type="http://schemas.openxmlformats.org/officeDocument/2006/relationships/tags" Target="../tags/tag40.xml"/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0" Type="http://schemas.openxmlformats.org/officeDocument/2006/relationships/tags" Target="../tags/tag46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9" Type="http://schemas.openxmlformats.org/officeDocument/2006/relationships/tags" Target="../tags/tag54.xml"/><Relationship Id="rId8" Type="http://schemas.openxmlformats.org/officeDocument/2006/relationships/tags" Target="../tags/tag53.xml"/><Relationship Id="rId7" Type="http://schemas.openxmlformats.org/officeDocument/2006/relationships/tags" Target="../tags/tag52.xml"/><Relationship Id="rId6" Type="http://schemas.openxmlformats.org/officeDocument/2006/relationships/tags" Target="../tags/tag51.xml"/><Relationship Id="rId5" Type="http://schemas.openxmlformats.org/officeDocument/2006/relationships/tags" Target="../tags/tag50.xml"/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tags" Target="../tags/tag56.xml"/><Relationship Id="rId10" Type="http://schemas.openxmlformats.org/officeDocument/2006/relationships/tags" Target="../tags/tag55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4" Type="http://schemas.openxmlformats.org/officeDocument/2006/relationships/tags" Target="../tags/tag62.xml"/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4_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3428821" cy="548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装饰  6"/>
          <p:cNvSpPr>
            <a:spLocks noGrp="1"/>
          </p:cNvSpPr>
          <p:nvPr>
            <p:ph type="body" idx="16387" hasCustomPrompt="1"/>
            <p:custDataLst>
              <p:tags r:id="rId3"/>
            </p:custDataLst>
          </p:nvPr>
        </p:nvSpPr>
        <p:spPr>
          <a:xfrm>
            <a:off x="4647958" y="609600"/>
            <a:ext cx="6933839" cy="5638800"/>
          </a:xfrm>
          <a:custGeom>
            <a:avLst/>
            <a:gdLst>
              <a:gd name="connisteX0" fmla="*/ 0 w 6934200"/>
              <a:gd name="connsiteY0" fmla="*/ 203200 h 5638800"/>
              <a:gd name="connisteX1" fmla="*/ 203200 w 6934200"/>
              <a:gd name="connsiteY1" fmla="*/ 0 h 5638800"/>
              <a:gd name="connisteX2" fmla="*/ 6731000 w 6934200"/>
              <a:gd name="connsiteY2" fmla="*/ 0 h 5638800"/>
              <a:gd name="connisteX3" fmla="*/ 6934200 w 6934200"/>
              <a:gd name="connsiteY3" fmla="*/ 203200 h 5638800"/>
              <a:gd name="connisteX4" fmla="*/ 6934200 w 6934200"/>
              <a:gd name="connsiteY4" fmla="*/ 5435600 h 5638800"/>
              <a:gd name="connisteX5" fmla="*/ 6731000 w 6934200"/>
              <a:gd name="connsiteY5" fmla="*/ 5638800 h 5638800"/>
              <a:gd name="connisteX6" fmla="*/ 203200 w 6934200"/>
              <a:gd name="connsiteY6" fmla="*/ 5638800 h 5638800"/>
              <a:gd name="connisteX7" fmla="*/ 0 w 6934200"/>
              <a:gd name="connsiteY7" fmla="*/ 5435600 h 5638800"/>
              <a:gd name="connisteX8" fmla="*/ 0 w 6934200"/>
              <a:gd name="connsiteY8" fmla="*/ 20320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6934200" h="5638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6731000" y="0"/>
                </a:lnTo>
                <a:cubicBezTo>
                  <a:pt x="6843224" y="0"/>
                  <a:pt x="6934200" y="90976"/>
                  <a:pt x="6934200" y="203200"/>
                </a:cubicBezTo>
                <a:lnTo>
                  <a:pt x="6934200" y="5435600"/>
                </a:lnTo>
                <a:cubicBezTo>
                  <a:pt x="6934200" y="5547824"/>
                  <a:pt x="6843224" y="5638800"/>
                  <a:pt x="6731000" y="5638800"/>
                </a:cubicBezTo>
                <a:lnTo>
                  <a:pt x="203200" y="5638800"/>
                </a:lnTo>
                <a:cubicBezTo>
                  <a:pt x="90976" y="5638800"/>
                  <a:pt x="0" y="5547824"/>
                  <a:pt x="0" y="54356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 marL="0" indent="0">
              <a:buNone/>
              <a:defRPr/>
            </a:lvl5pPr>
          </a:lstStyle>
          <a:p>
            <a:pPr lvl="4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文本占位符 7"/>
          <p:cNvSpPr>
            <a:spLocks noGrp="1"/>
          </p:cNvSpPr>
          <p:nvPr>
            <p:ph type="body" idx="16386" hasCustomPrompt="1"/>
            <p:custDataLst>
              <p:tags r:id="rId4"/>
            </p:custDataLst>
          </p:nvPr>
        </p:nvSpPr>
        <p:spPr>
          <a:xfrm>
            <a:off x="5054337" y="1143000"/>
            <a:ext cx="6121081" cy="45720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sz="16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0_8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705251" y="533400"/>
            <a:ext cx="4876546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6392" hasCustomPrompt="1"/>
            <p:custDataLst>
              <p:tags r:id="rId3"/>
            </p:custDataLst>
          </p:nvPr>
        </p:nvSpPr>
        <p:spPr>
          <a:xfrm>
            <a:off x="609568" y="609600"/>
            <a:ext cx="5486114" cy="5638800"/>
          </a:xfrm>
          <a:custGeom>
            <a:avLst/>
            <a:gdLst>
              <a:gd name="connisteX0" fmla="*/ 0 w 5486400"/>
              <a:gd name="connsiteY0" fmla="*/ 0 h 5638800"/>
              <a:gd name="connisteX1" fmla="*/ 5486400 w 5486400"/>
              <a:gd name="connsiteY1" fmla="*/ 0 h 5638800"/>
              <a:gd name="connisteX2" fmla="*/ 5486400 w 5486400"/>
              <a:gd name="connsiteY2" fmla="*/ 5638800 h 5638800"/>
              <a:gd name="connisteX3" fmla="*/ 0 w 5486400"/>
              <a:gd name="connsiteY3" fmla="*/ 5638800 h 5638800"/>
              <a:gd name="connisteX4" fmla="*/ 0 w 5486400"/>
              <a:gd name="connsiteY4" fmla="*/ 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5486400" h="5638800">
                <a:moveTo>
                  <a:pt x="0" y="0"/>
                </a:moveTo>
                <a:lnTo>
                  <a:pt x="5486400" y="0"/>
                </a:lnTo>
                <a:lnTo>
                  <a:pt x="5486400" y="5638800"/>
                </a:lnTo>
                <a:lnTo>
                  <a:pt x="0" y="563880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装饰  7"/>
          <p:cNvSpPr>
            <a:spLocks noGrp="1"/>
          </p:cNvSpPr>
          <p:nvPr>
            <p:ph type="body" idx="16393" hasCustomPrompt="1"/>
            <p:custDataLst>
              <p:tags r:id="rId4"/>
            </p:custDataLst>
          </p:nvPr>
        </p:nvSpPr>
        <p:spPr>
          <a:xfrm>
            <a:off x="6705251" y="2286000"/>
            <a:ext cx="50797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6" hasCustomPrompt="1"/>
            <p:custDataLst>
              <p:tags r:id="rId5"/>
            </p:custDataLst>
          </p:nvPr>
        </p:nvSpPr>
        <p:spPr>
          <a:xfrm>
            <a:off x="6857643" y="2286000"/>
            <a:ext cx="4724154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7" hasCustomPrompt="1"/>
            <p:custDataLst>
              <p:tags r:id="rId6"/>
            </p:custDataLst>
          </p:nvPr>
        </p:nvSpPr>
        <p:spPr>
          <a:xfrm>
            <a:off x="6857643" y="2794000"/>
            <a:ext cx="4724154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4" hasCustomPrompt="1"/>
            <p:custDataLst>
              <p:tags r:id="rId7"/>
            </p:custDataLst>
          </p:nvPr>
        </p:nvSpPr>
        <p:spPr>
          <a:xfrm>
            <a:off x="6705251" y="3708400"/>
            <a:ext cx="50797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88" hasCustomPrompt="1"/>
            <p:custDataLst>
              <p:tags r:id="rId8"/>
            </p:custDataLst>
          </p:nvPr>
        </p:nvSpPr>
        <p:spPr>
          <a:xfrm>
            <a:off x="6857643" y="3708400"/>
            <a:ext cx="4724154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9" hasCustomPrompt="1"/>
            <p:custDataLst>
              <p:tags r:id="rId9"/>
            </p:custDataLst>
          </p:nvPr>
        </p:nvSpPr>
        <p:spPr>
          <a:xfrm>
            <a:off x="6857643" y="4216400"/>
            <a:ext cx="4724154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4" name="装饰  3"/>
          <p:cNvSpPr>
            <a:spLocks noGrp="1"/>
          </p:cNvSpPr>
          <p:nvPr>
            <p:ph type="body" idx="16395" hasCustomPrompt="1"/>
            <p:custDataLst>
              <p:tags r:id="rId10"/>
            </p:custDataLst>
          </p:nvPr>
        </p:nvSpPr>
        <p:spPr>
          <a:xfrm>
            <a:off x="6705251" y="5130800"/>
            <a:ext cx="50797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90" hasCustomPrompt="1"/>
            <p:custDataLst>
              <p:tags r:id="rId11"/>
            </p:custDataLst>
          </p:nvPr>
        </p:nvSpPr>
        <p:spPr>
          <a:xfrm>
            <a:off x="6857643" y="5130800"/>
            <a:ext cx="4724154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6" name="文本占位符 15"/>
          <p:cNvSpPr>
            <a:spLocks noGrp="1"/>
          </p:cNvSpPr>
          <p:nvPr>
            <p:ph type="body" idx="16391" hasCustomPrompt="1"/>
            <p:custDataLst>
              <p:tags r:id="rId12"/>
            </p:custDataLst>
          </p:nvPr>
        </p:nvSpPr>
        <p:spPr>
          <a:xfrm>
            <a:off x="6857643" y="5638800"/>
            <a:ext cx="4724154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3_1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6386" hasCustomPrompt="1"/>
            <p:custDataLst>
              <p:tags r:id="rId3"/>
            </p:custDataLst>
          </p:nvPr>
        </p:nvSpPr>
        <p:spPr>
          <a:xfrm>
            <a:off x="609568" y="2133600"/>
            <a:ext cx="345422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8" name="装饰  7"/>
          <p:cNvSpPr>
            <a:spLocks noGrp="1"/>
          </p:cNvSpPr>
          <p:nvPr>
            <p:ph type="body" idx="16392" hasCustomPrompt="1"/>
            <p:custDataLst>
              <p:tags r:id="rId4"/>
            </p:custDataLst>
          </p:nvPr>
        </p:nvSpPr>
        <p:spPr>
          <a:xfrm>
            <a:off x="609568" y="2692400"/>
            <a:ext cx="3454220" cy="2946400"/>
          </a:xfrm>
          <a:custGeom>
            <a:avLst/>
            <a:gdLst>
              <a:gd name="connisteX0" fmla="*/ 0 w 3454400"/>
              <a:gd name="connsiteY0" fmla="*/ 203200 h 2946400"/>
              <a:gd name="connisteX1" fmla="*/ 203200 w 3454400"/>
              <a:gd name="connsiteY1" fmla="*/ 0 h 2946400"/>
              <a:gd name="connisteX2" fmla="*/ 3251200 w 3454400"/>
              <a:gd name="connsiteY2" fmla="*/ 0 h 2946400"/>
              <a:gd name="connisteX3" fmla="*/ 3454400 w 3454400"/>
              <a:gd name="connsiteY3" fmla="*/ 203200 h 2946400"/>
              <a:gd name="connisteX4" fmla="*/ 3454400 w 3454400"/>
              <a:gd name="connsiteY4" fmla="*/ 2743200 h 2946400"/>
              <a:gd name="connisteX5" fmla="*/ 3251200 w 3454400"/>
              <a:gd name="connsiteY5" fmla="*/ 2946400 h 2946400"/>
              <a:gd name="connisteX6" fmla="*/ 203200 w 3454400"/>
              <a:gd name="connsiteY6" fmla="*/ 2946400 h 2946400"/>
              <a:gd name="connisteX7" fmla="*/ 0 w 3454400"/>
              <a:gd name="connsiteY7" fmla="*/ 2743200 h 2946400"/>
              <a:gd name="connisteX8" fmla="*/ 0 w 3454400"/>
              <a:gd name="connsiteY8" fmla="*/ 203200 h 2946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946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743200"/>
                </a:lnTo>
                <a:cubicBezTo>
                  <a:pt x="3454400" y="2855424"/>
                  <a:pt x="3363424" y="2946400"/>
                  <a:pt x="3251200" y="2946400"/>
                </a:cubicBezTo>
                <a:lnTo>
                  <a:pt x="203200" y="2946400"/>
                </a:lnTo>
                <a:cubicBezTo>
                  <a:pt x="90976" y="2946400"/>
                  <a:pt x="0" y="2855424"/>
                  <a:pt x="0" y="2743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7" hasCustomPrompt="1"/>
            <p:custDataLst>
              <p:tags r:id="rId5"/>
            </p:custDataLst>
          </p:nvPr>
        </p:nvSpPr>
        <p:spPr>
          <a:xfrm>
            <a:off x="914352" y="355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8" hasCustomPrompt="1"/>
            <p:custDataLst>
              <p:tags r:id="rId6"/>
            </p:custDataLst>
          </p:nvPr>
        </p:nvSpPr>
        <p:spPr>
          <a:xfrm>
            <a:off x="4368573" y="2133600"/>
            <a:ext cx="345422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3" hasCustomPrompt="1"/>
            <p:custDataLst>
              <p:tags r:id="rId7"/>
            </p:custDataLst>
          </p:nvPr>
        </p:nvSpPr>
        <p:spPr>
          <a:xfrm>
            <a:off x="4368573" y="2692400"/>
            <a:ext cx="3454220" cy="2946400"/>
          </a:xfrm>
          <a:custGeom>
            <a:avLst/>
            <a:gdLst>
              <a:gd name="connisteX0" fmla="*/ 0 w 3454400"/>
              <a:gd name="connsiteY0" fmla="*/ 203200 h 2946400"/>
              <a:gd name="connisteX1" fmla="*/ 203200 w 3454400"/>
              <a:gd name="connsiteY1" fmla="*/ 0 h 2946400"/>
              <a:gd name="connisteX2" fmla="*/ 3251200 w 3454400"/>
              <a:gd name="connsiteY2" fmla="*/ 0 h 2946400"/>
              <a:gd name="connisteX3" fmla="*/ 3454400 w 3454400"/>
              <a:gd name="connsiteY3" fmla="*/ 203200 h 2946400"/>
              <a:gd name="connisteX4" fmla="*/ 3454400 w 3454400"/>
              <a:gd name="connsiteY4" fmla="*/ 2743200 h 2946400"/>
              <a:gd name="connisteX5" fmla="*/ 3251200 w 3454400"/>
              <a:gd name="connsiteY5" fmla="*/ 2946400 h 2946400"/>
              <a:gd name="connisteX6" fmla="*/ 203200 w 3454400"/>
              <a:gd name="connsiteY6" fmla="*/ 2946400 h 2946400"/>
              <a:gd name="connisteX7" fmla="*/ 0 w 3454400"/>
              <a:gd name="connsiteY7" fmla="*/ 2743200 h 2946400"/>
              <a:gd name="connisteX8" fmla="*/ 0 w 3454400"/>
              <a:gd name="connsiteY8" fmla="*/ 203200 h 2946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946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743200"/>
                </a:lnTo>
                <a:cubicBezTo>
                  <a:pt x="3454400" y="2855424"/>
                  <a:pt x="3363424" y="2946400"/>
                  <a:pt x="3251200" y="2946400"/>
                </a:cubicBezTo>
                <a:lnTo>
                  <a:pt x="203200" y="2946400"/>
                </a:lnTo>
                <a:cubicBezTo>
                  <a:pt x="90976" y="2946400"/>
                  <a:pt x="0" y="2855424"/>
                  <a:pt x="0" y="2743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89" hasCustomPrompt="1"/>
            <p:custDataLst>
              <p:tags r:id="rId8"/>
            </p:custDataLst>
          </p:nvPr>
        </p:nvSpPr>
        <p:spPr>
          <a:xfrm>
            <a:off x="4673357" y="355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90" hasCustomPrompt="1"/>
            <p:custDataLst>
              <p:tags r:id="rId9"/>
            </p:custDataLst>
          </p:nvPr>
        </p:nvSpPr>
        <p:spPr>
          <a:xfrm>
            <a:off x="8127577" y="2133600"/>
            <a:ext cx="345422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4" name="装饰  3"/>
          <p:cNvSpPr>
            <a:spLocks noGrp="1"/>
          </p:cNvSpPr>
          <p:nvPr>
            <p:ph type="body" idx="16394" hasCustomPrompt="1"/>
            <p:custDataLst>
              <p:tags r:id="rId10"/>
            </p:custDataLst>
          </p:nvPr>
        </p:nvSpPr>
        <p:spPr>
          <a:xfrm>
            <a:off x="8127577" y="2692400"/>
            <a:ext cx="3454220" cy="2946400"/>
          </a:xfrm>
          <a:custGeom>
            <a:avLst/>
            <a:gdLst>
              <a:gd name="connisteX0" fmla="*/ 0 w 3454400"/>
              <a:gd name="connsiteY0" fmla="*/ 203200 h 2946400"/>
              <a:gd name="connisteX1" fmla="*/ 203200 w 3454400"/>
              <a:gd name="connsiteY1" fmla="*/ 0 h 2946400"/>
              <a:gd name="connisteX2" fmla="*/ 3251200 w 3454400"/>
              <a:gd name="connsiteY2" fmla="*/ 0 h 2946400"/>
              <a:gd name="connisteX3" fmla="*/ 3454400 w 3454400"/>
              <a:gd name="connsiteY3" fmla="*/ 203200 h 2946400"/>
              <a:gd name="connisteX4" fmla="*/ 3454400 w 3454400"/>
              <a:gd name="connsiteY4" fmla="*/ 2743200 h 2946400"/>
              <a:gd name="connisteX5" fmla="*/ 3251200 w 3454400"/>
              <a:gd name="connsiteY5" fmla="*/ 2946400 h 2946400"/>
              <a:gd name="connisteX6" fmla="*/ 203200 w 3454400"/>
              <a:gd name="connsiteY6" fmla="*/ 2946400 h 2946400"/>
              <a:gd name="connisteX7" fmla="*/ 0 w 3454400"/>
              <a:gd name="connsiteY7" fmla="*/ 2743200 h 2946400"/>
              <a:gd name="connisteX8" fmla="*/ 0 w 3454400"/>
              <a:gd name="connsiteY8" fmla="*/ 203200 h 2946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946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743200"/>
                </a:lnTo>
                <a:cubicBezTo>
                  <a:pt x="3454400" y="2855424"/>
                  <a:pt x="3363424" y="2946400"/>
                  <a:pt x="3251200" y="2946400"/>
                </a:cubicBezTo>
                <a:lnTo>
                  <a:pt x="203200" y="2946400"/>
                </a:lnTo>
                <a:cubicBezTo>
                  <a:pt x="90976" y="2946400"/>
                  <a:pt x="0" y="2855424"/>
                  <a:pt x="0" y="2743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91" hasCustomPrompt="1"/>
            <p:custDataLst>
              <p:tags r:id="rId11"/>
            </p:custDataLst>
          </p:nvPr>
        </p:nvSpPr>
        <p:spPr>
          <a:xfrm>
            <a:off x="8432361" y="355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1_2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t>单击此处添加标题</a:t>
            </a:r>
          </a:p>
        </p:txBody>
      </p:sp>
      <p:sp>
        <p:nvSpPr>
          <p:cNvPr id="7" name="装饰  6"/>
          <p:cNvSpPr>
            <a:spLocks noGrp="1"/>
          </p:cNvSpPr>
          <p:nvPr>
            <p:ph type="body" idx="16392" hasCustomPrompt="1"/>
            <p:custDataLst>
              <p:tags r:id="rId3"/>
            </p:custDataLst>
          </p:nvPr>
        </p:nvSpPr>
        <p:spPr>
          <a:xfrm>
            <a:off x="609568" y="1524000"/>
            <a:ext cx="345422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图片占位符 7"/>
          <p:cNvSpPr>
            <a:spLocks noGrp="1"/>
          </p:cNvSpPr>
          <p:nvPr>
            <p:ph type="pic" idx="16393" hasCustomPrompt="1"/>
            <p:custDataLst>
              <p:tags r:id="rId4"/>
            </p:custDataLst>
          </p:nvPr>
        </p:nvSpPr>
        <p:spPr>
          <a:xfrm>
            <a:off x="1574718" y="1905000"/>
            <a:ext cx="1523921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idx="16386" hasCustomPrompt="1"/>
            <p:custDataLst>
              <p:tags r:id="rId5"/>
            </p:custDataLst>
          </p:nvPr>
        </p:nvSpPr>
        <p:spPr>
          <a:xfrm>
            <a:off x="1015947" y="3784600"/>
            <a:ext cx="264146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7" hasCustomPrompt="1"/>
            <p:custDataLst>
              <p:tags r:id="rId6"/>
            </p:custDataLst>
          </p:nvPr>
        </p:nvSpPr>
        <p:spPr>
          <a:xfrm>
            <a:off x="1015947" y="4343400"/>
            <a:ext cx="2641462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4" hasCustomPrompt="1"/>
            <p:custDataLst>
              <p:tags r:id="rId7"/>
            </p:custDataLst>
          </p:nvPr>
        </p:nvSpPr>
        <p:spPr>
          <a:xfrm>
            <a:off x="4368573" y="1524000"/>
            <a:ext cx="345422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图片占位符 11"/>
          <p:cNvSpPr>
            <a:spLocks noGrp="1"/>
          </p:cNvSpPr>
          <p:nvPr>
            <p:ph type="pic" idx="16395" hasCustomPrompt="1"/>
            <p:custDataLst>
              <p:tags r:id="rId8"/>
            </p:custDataLst>
          </p:nvPr>
        </p:nvSpPr>
        <p:spPr>
          <a:xfrm>
            <a:off x="5333722" y="1905000"/>
            <a:ext cx="1523921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8" hasCustomPrompt="1"/>
            <p:custDataLst>
              <p:tags r:id="rId9"/>
            </p:custDataLst>
          </p:nvPr>
        </p:nvSpPr>
        <p:spPr>
          <a:xfrm>
            <a:off x="4774951" y="3784600"/>
            <a:ext cx="264146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9" hasCustomPrompt="1"/>
            <p:custDataLst>
              <p:tags r:id="rId10"/>
            </p:custDataLst>
          </p:nvPr>
        </p:nvSpPr>
        <p:spPr>
          <a:xfrm>
            <a:off x="4774951" y="4343400"/>
            <a:ext cx="2641462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5" name="装饰  4"/>
          <p:cNvSpPr>
            <a:spLocks noGrp="1"/>
          </p:cNvSpPr>
          <p:nvPr>
            <p:ph type="body" idx="16396" hasCustomPrompt="1"/>
            <p:custDataLst>
              <p:tags r:id="rId11"/>
            </p:custDataLst>
          </p:nvPr>
        </p:nvSpPr>
        <p:spPr>
          <a:xfrm>
            <a:off x="8127577" y="1524000"/>
            <a:ext cx="345422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6" name="图片占位符 15"/>
          <p:cNvSpPr>
            <a:spLocks noGrp="1"/>
          </p:cNvSpPr>
          <p:nvPr>
            <p:ph type="pic" idx="16397" hasCustomPrompt="1"/>
            <p:custDataLst>
              <p:tags r:id="rId12"/>
            </p:custDataLst>
          </p:nvPr>
        </p:nvSpPr>
        <p:spPr>
          <a:xfrm>
            <a:off x="9092727" y="1905000"/>
            <a:ext cx="1523921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7" name="文本占位符 16"/>
          <p:cNvSpPr>
            <a:spLocks noGrp="1"/>
          </p:cNvSpPr>
          <p:nvPr>
            <p:ph type="body" idx="16390" hasCustomPrompt="1"/>
            <p:custDataLst>
              <p:tags r:id="rId13"/>
            </p:custDataLst>
          </p:nvPr>
        </p:nvSpPr>
        <p:spPr>
          <a:xfrm>
            <a:off x="8533956" y="3784600"/>
            <a:ext cx="264146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8533956" y="4343400"/>
            <a:ext cx="2641462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7_20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6386" hasCustomPrompt="1"/>
            <p:custDataLst>
              <p:tags r:id="rId3"/>
            </p:custDataLst>
          </p:nvPr>
        </p:nvSpPr>
        <p:spPr>
          <a:xfrm>
            <a:off x="609568" y="2997200"/>
            <a:ext cx="2285881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8" name="文本占位符 7"/>
          <p:cNvSpPr>
            <a:spLocks noGrp="1"/>
          </p:cNvSpPr>
          <p:nvPr>
            <p:ph type="body" idx="16387" hasCustomPrompt="1"/>
            <p:custDataLst>
              <p:tags r:id="rId4"/>
            </p:custDataLst>
          </p:nvPr>
        </p:nvSpPr>
        <p:spPr>
          <a:xfrm>
            <a:off x="609568" y="3556000"/>
            <a:ext cx="2285881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8" hasCustomPrompt="1"/>
            <p:custDataLst>
              <p:tags r:id="rId5"/>
            </p:custDataLst>
          </p:nvPr>
        </p:nvSpPr>
        <p:spPr>
          <a:xfrm>
            <a:off x="3505017" y="2997200"/>
            <a:ext cx="2285881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9" hasCustomPrompt="1"/>
            <p:custDataLst>
              <p:tags r:id="rId6"/>
            </p:custDataLst>
          </p:nvPr>
        </p:nvSpPr>
        <p:spPr>
          <a:xfrm>
            <a:off x="3505017" y="3556000"/>
            <a:ext cx="2285881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1" name="文本占位符 10"/>
          <p:cNvSpPr>
            <a:spLocks noGrp="1"/>
          </p:cNvSpPr>
          <p:nvPr>
            <p:ph type="body" idx="16390" hasCustomPrompt="1"/>
            <p:custDataLst>
              <p:tags r:id="rId7"/>
            </p:custDataLst>
          </p:nvPr>
        </p:nvSpPr>
        <p:spPr>
          <a:xfrm>
            <a:off x="6400467" y="2997200"/>
            <a:ext cx="2285881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91" hasCustomPrompt="1"/>
            <p:custDataLst>
              <p:tags r:id="rId8"/>
            </p:custDataLst>
          </p:nvPr>
        </p:nvSpPr>
        <p:spPr>
          <a:xfrm>
            <a:off x="6400467" y="3556000"/>
            <a:ext cx="2285881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92" hasCustomPrompt="1"/>
            <p:custDataLst>
              <p:tags r:id="rId9"/>
            </p:custDataLst>
          </p:nvPr>
        </p:nvSpPr>
        <p:spPr>
          <a:xfrm>
            <a:off x="9295916" y="2997200"/>
            <a:ext cx="2285881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93" hasCustomPrompt="1"/>
            <p:custDataLst>
              <p:tags r:id="rId10"/>
            </p:custDataLst>
          </p:nvPr>
        </p:nvSpPr>
        <p:spPr>
          <a:xfrm>
            <a:off x="9295916" y="3556000"/>
            <a:ext cx="2285881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8_17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装饰  6"/>
          <p:cNvSpPr>
            <a:spLocks noGrp="1"/>
          </p:cNvSpPr>
          <p:nvPr>
            <p:ph type="body" idx="16392" hasCustomPrompt="1"/>
            <p:custDataLst>
              <p:tags r:id="rId3"/>
            </p:custDataLst>
          </p:nvPr>
        </p:nvSpPr>
        <p:spPr>
          <a:xfrm>
            <a:off x="609568" y="4165600"/>
            <a:ext cx="3454220" cy="2082800"/>
          </a:xfrm>
          <a:custGeom>
            <a:avLst/>
            <a:gdLst>
              <a:gd name="connisteX0" fmla="*/ 0 w 3454400"/>
              <a:gd name="connsiteY0" fmla="*/ 0 h 2082800"/>
              <a:gd name="connisteX1" fmla="*/ 3454400 w 3454400"/>
              <a:gd name="connsiteY1" fmla="*/ 0 h 2082800"/>
              <a:gd name="connisteX2" fmla="*/ 3454400 w 3454400"/>
              <a:gd name="connsiteY2" fmla="*/ 1879600 h 2082800"/>
              <a:gd name="connisteX3" fmla="*/ 3251200 w 3454400"/>
              <a:gd name="connsiteY3" fmla="*/ 2082800 h 2082800"/>
              <a:gd name="connisteX4" fmla="*/ 203200 w 3454400"/>
              <a:gd name="connsiteY4" fmla="*/ 2082800 h 2082800"/>
              <a:gd name="connisteX5" fmla="*/ 0 w 3454400"/>
              <a:gd name="connsiteY5" fmla="*/ 1879600 h 2082800"/>
              <a:gd name="connisteX6" fmla="*/ 0 w 3454400"/>
              <a:gd name="connsiteY6" fmla="*/ 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82800">
                <a:moveTo>
                  <a:pt x="0" y="0"/>
                </a:moveTo>
                <a:lnTo>
                  <a:pt x="3454400" y="0"/>
                </a:lnTo>
                <a:lnTo>
                  <a:pt x="3454400" y="1879600"/>
                </a:lnTo>
                <a:cubicBezTo>
                  <a:pt x="3454400" y="1991824"/>
                  <a:pt x="3363424" y="2082800"/>
                  <a:pt x="3251200" y="2082800"/>
                </a:cubicBezTo>
                <a:lnTo>
                  <a:pt x="203200" y="2082800"/>
                </a:lnTo>
                <a:cubicBezTo>
                  <a:pt x="90976" y="2082800"/>
                  <a:pt x="0" y="1991824"/>
                  <a:pt x="0" y="18796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图片占位符 7"/>
          <p:cNvSpPr>
            <a:spLocks noGrp="1"/>
          </p:cNvSpPr>
          <p:nvPr>
            <p:ph type="pic" idx="16393" hasCustomPrompt="1"/>
            <p:custDataLst>
              <p:tags r:id="rId4"/>
            </p:custDataLst>
          </p:nvPr>
        </p:nvSpPr>
        <p:spPr>
          <a:xfrm>
            <a:off x="609568" y="1524000"/>
            <a:ext cx="3454220" cy="2641600"/>
          </a:xfrm>
          <a:custGeom>
            <a:avLst/>
            <a:gdLst>
              <a:gd name="connisteX0" fmla="*/ 0 w 3454400"/>
              <a:gd name="connsiteY0" fmla="*/ 203200 h 2641600"/>
              <a:gd name="connisteX1" fmla="*/ 203200 w 3454400"/>
              <a:gd name="connsiteY1" fmla="*/ 0 h 2641600"/>
              <a:gd name="connisteX2" fmla="*/ 3251200 w 3454400"/>
              <a:gd name="connsiteY2" fmla="*/ 0 h 2641600"/>
              <a:gd name="connisteX3" fmla="*/ 3454400 w 3454400"/>
              <a:gd name="connsiteY3" fmla="*/ 203200 h 2641600"/>
              <a:gd name="connisteX4" fmla="*/ 3454400 w 3454400"/>
              <a:gd name="connsiteY4" fmla="*/ 2641600 h 2641600"/>
              <a:gd name="connisteX5" fmla="*/ 0 w 3454400"/>
              <a:gd name="connsiteY5" fmla="*/ 2641600 h 2641600"/>
              <a:gd name="connisteX6" fmla="*/ 0 w 34544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idx="16386" hasCustomPrompt="1"/>
            <p:custDataLst>
              <p:tags r:id="rId5"/>
            </p:custDataLst>
          </p:nvPr>
        </p:nvSpPr>
        <p:spPr>
          <a:xfrm>
            <a:off x="914352" y="4368800"/>
            <a:ext cx="284465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7" hasCustomPrompt="1"/>
            <p:custDataLst>
              <p:tags r:id="rId6"/>
            </p:custDataLst>
          </p:nvPr>
        </p:nvSpPr>
        <p:spPr>
          <a:xfrm>
            <a:off x="914352" y="482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4" hasCustomPrompt="1"/>
            <p:custDataLst>
              <p:tags r:id="rId7"/>
            </p:custDataLst>
          </p:nvPr>
        </p:nvSpPr>
        <p:spPr>
          <a:xfrm>
            <a:off x="4368573" y="4165600"/>
            <a:ext cx="3454220" cy="2082800"/>
          </a:xfrm>
          <a:custGeom>
            <a:avLst/>
            <a:gdLst>
              <a:gd name="connisteX0" fmla="*/ 0 w 3454400"/>
              <a:gd name="connsiteY0" fmla="*/ 0 h 2082800"/>
              <a:gd name="connisteX1" fmla="*/ 3454400 w 3454400"/>
              <a:gd name="connsiteY1" fmla="*/ 0 h 2082800"/>
              <a:gd name="connisteX2" fmla="*/ 3454400 w 3454400"/>
              <a:gd name="connsiteY2" fmla="*/ 1879600 h 2082800"/>
              <a:gd name="connisteX3" fmla="*/ 3251200 w 3454400"/>
              <a:gd name="connsiteY3" fmla="*/ 2082800 h 2082800"/>
              <a:gd name="connisteX4" fmla="*/ 203200 w 3454400"/>
              <a:gd name="connsiteY4" fmla="*/ 2082800 h 2082800"/>
              <a:gd name="connisteX5" fmla="*/ 0 w 3454400"/>
              <a:gd name="connsiteY5" fmla="*/ 1879600 h 2082800"/>
              <a:gd name="connisteX6" fmla="*/ 0 w 3454400"/>
              <a:gd name="connsiteY6" fmla="*/ 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82800">
                <a:moveTo>
                  <a:pt x="0" y="0"/>
                </a:moveTo>
                <a:lnTo>
                  <a:pt x="3454400" y="0"/>
                </a:lnTo>
                <a:lnTo>
                  <a:pt x="3454400" y="1879600"/>
                </a:lnTo>
                <a:cubicBezTo>
                  <a:pt x="3454400" y="1991824"/>
                  <a:pt x="3363424" y="2082800"/>
                  <a:pt x="3251200" y="2082800"/>
                </a:cubicBezTo>
                <a:lnTo>
                  <a:pt x="203200" y="2082800"/>
                </a:lnTo>
                <a:cubicBezTo>
                  <a:pt x="90976" y="2082800"/>
                  <a:pt x="0" y="1991824"/>
                  <a:pt x="0" y="18796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图片占位符 11"/>
          <p:cNvSpPr>
            <a:spLocks noGrp="1"/>
          </p:cNvSpPr>
          <p:nvPr>
            <p:ph type="pic" idx="16395" hasCustomPrompt="1"/>
            <p:custDataLst>
              <p:tags r:id="rId8"/>
            </p:custDataLst>
          </p:nvPr>
        </p:nvSpPr>
        <p:spPr>
          <a:xfrm>
            <a:off x="4368573" y="1524000"/>
            <a:ext cx="3454220" cy="2641600"/>
          </a:xfrm>
          <a:custGeom>
            <a:avLst/>
            <a:gdLst>
              <a:gd name="connisteX0" fmla="*/ 0 w 3454400"/>
              <a:gd name="connsiteY0" fmla="*/ 203200 h 2641600"/>
              <a:gd name="connisteX1" fmla="*/ 203200 w 3454400"/>
              <a:gd name="connsiteY1" fmla="*/ 0 h 2641600"/>
              <a:gd name="connisteX2" fmla="*/ 3251200 w 3454400"/>
              <a:gd name="connsiteY2" fmla="*/ 0 h 2641600"/>
              <a:gd name="connisteX3" fmla="*/ 3454400 w 3454400"/>
              <a:gd name="connsiteY3" fmla="*/ 203200 h 2641600"/>
              <a:gd name="connisteX4" fmla="*/ 3454400 w 3454400"/>
              <a:gd name="connsiteY4" fmla="*/ 2641600 h 2641600"/>
              <a:gd name="connisteX5" fmla="*/ 0 w 3454400"/>
              <a:gd name="connsiteY5" fmla="*/ 2641600 h 2641600"/>
              <a:gd name="connisteX6" fmla="*/ 0 w 34544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8" hasCustomPrompt="1"/>
            <p:custDataLst>
              <p:tags r:id="rId9"/>
            </p:custDataLst>
          </p:nvPr>
        </p:nvSpPr>
        <p:spPr>
          <a:xfrm>
            <a:off x="4673357" y="4368800"/>
            <a:ext cx="284465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9" hasCustomPrompt="1"/>
            <p:custDataLst>
              <p:tags r:id="rId10"/>
            </p:custDataLst>
          </p:nvPr>
        </p:nvSpPr>
        <p:spPr>
          <a:xfrm>
            <a:off x="4673357" y="482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5" name="装饰  4"/>
          <p:cNvSpPr>
            <a:spLocks noGrp="1"/>
          </p:cNvSpPr>
          <p:nvPr>
            <p:ph type="body" idx="16396" hasCustomPrompt="1"/>
            <p:custDataLst>
              <p:tags r:id="rId11"/>
            </p:custDataLst>
          </p:nvPr>
        </p:nvSpPr>
        <p:spPr>
          <a:xfrm>
            <a:off x="8127577" y="4165600"/>
            <a:ext cx="3454220" cy="2082800"/>
          </a:xfrm>
          <a:custGeom>
            <a:avLst/>
            <a:gdLst>
              <a:gd name="connisteX0" fmla="*/ 0 w 3454400"/>
              <a:gd name="connsiteY0" fmla="*/ 0 h 2082800"/>
              <a:gd name="connisteX1" fmla="*/ 3454400 w 3454400"/>
              <a:gd name="connsiteY1" fmla="*/ 0 h 2082800"/>
              <a:gd name="connisteX2" fmla="*/ 3454400 w 3454400"/>
              <a:gd name="connsiteY2" fmla="*/ 1879600 h 2082800"/>
              <a:gd name="connisteX3" fmla="*/ 3251200 w 3454400"/>
              <a:gd name="connsiteY3" fmla="*/ 2082800 h 2082800"/>
              <a:gd name="connisteX4" fmla="*/ 203200 w 3454400"/>
              <a:gd name="connsiteY4" fmla="*/ 2082800 h 2082800"/>
              <a:gd name="connisteX5" fmla="*/ 0 w 3454400"/>
              <a:gd name="connsiteY5" fmla="*/ 1879600 h 2082800"/>
              <a:gd name="connisteX6" fmla="*/ 0 w 3454400"/>
              <a:gd name="connsiteY6" fmla="*/ 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82800">
                <a:moveTo>
                  <a:pt x="0" y="0"/>
                </a:moveTo>
                <a:lnTo>
                  <a:pt x="3454400" y="0"/>
                </a:lnTo>
                <a:lnTo>
                  <a:pt x="3454400" y="1879600"/>
                </a:lnTo>
                <a:cubicBezTo>
                  <a:pt x="3454400" y="1991824"/>
                  <a:pt x="3363424" y="2082800"/>
                  <a:pt x="3251200" y="2082800"/>
                </a:cubicBezTo>
                <a:lnTo>
                  <a:pt x="203200" y="2082800"/>
                </a:lnTo>
                <a:cubicBezTo>
                  <a:pt x="90976" y="2082800"/>
                  <a:pt x="0" y="1991824"/>
                  <a:pt x="0" y="18796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6" name="图片占位符 15"/>
          <p:cNvSpPr>
            <a:spLocks noGrp="1"/>
          </p:cNvSpPr>
          <p:nvPr>
            <p:ph type="pic" idx="16397" hasCustomPrompt="1"/>
            <p:custDataLst>
              <p:tags r:id="rId12"/>
            </p:custDataLst>
          </p:nvPr>
        </p:nvSpPr>
        <p:spPr>
          <a:xfrm>
            <a:off x="8127577" y="1524000"/>
            <a:ext cx="3454220" cy="2641600"/>
          </a:xfrm>
          <a:custGeom>
            <a:avLst/>
            <a:gdLst>
              <a:gd name="connisteX0" fmla="*/ 0 w 3454400"/>
              <a:gd name="connsiteY0" fmla="*/ 203200 h 2641600"/>
              <a:gd name="connisteX1" fmla="*/ 203200 w 3454400"/>
              <a:gd name="connsiteY1" fmla="*/ 0 h 2641600"/>
              <a:gd name="connisteX2" fmla="*/ 3251200 w 3454400"/>
              <a:gd name="connsiteY2" fmla="*/ 0 h 2641600"/>
              <a:gd name="connisteX3" fmla="*/ 3454400 w 3454400"/>
              <a:gd name="connsiteY3" fmla="*/ 203200 h 2641600"/>
              <a:gd name="connisteX4" fmla="*/ 3454400 w 3454400"/>
              <a:gd name="connsiteY4" fmla="*/ 2641600 h 2641600"/>
              <a:gd name="connisteX5" fmla="*/ 0 w 3454400"/>
              <a:gd name="connsiteY5" fmla="*/ 2641600 h 2641600"/>
              <a:gd name="connisteX6" fmla="*/ 0 w 34544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7" name="文本占位符 16"/>
          <p:cNvSpPr>
            <a:spLocks noGrp="1"/>
          </p:cNvSpPr>
          <p:nvPr>
            <p:ph type="body" idx="16390" hasCustomPrompt="1"/>
            <p:custDataLst>
              <p:tags r:id="rId13"/>
            </p:custDataLst>
          </p:nvPr>
        </p:nvSpPr>
        <p:spPr>
          <a:xfrm>
            <a:off x="8432361" y="4368800"/>
            <a:ext cx="284465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8432361" y="482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11_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6387" hasCustomPrompt="1"/>
            <p:custDataLst>
              <p:tags r:id="rId3"/>
            </p:custDataLst>
          </p:nvPr>
        </p:nvSpPr>
        <p:spPr>
          <a:xfrm>
            <a:off x="6095683" y="1524000"/>
            <a:ext cx="5486114" cy="4724400"/>
          </a:xfrm>
          <a:custGeom>
            <a:avLst/>
            <a:gdLst>
              <a:gd name="connisteX0" fmla="*/ 0 w 5486400"/>
              <a:gd name="connsiteY0" fmla="*/ 203200 h 4724400"/>
              <a:gd name="connisteX1" fmla="*/ 203200 w 5486400"/>
              <a:gd name="connsiteY1" fmla="*/ 0 h 4724400"/>
              <a:gd name="connisteX2" fmla="*/ 5283200 w 5486400"/>
              <a:gd name="connsiteY2" fmla="*/ 0 h 4724400"/>
              <a:gd name="connisteX3" fmla="*/ 5486400 w 5486400"/>
              <a:gd name="connsiteY3" fmla="*/ 203200 h 4724400"/>
              <a:gd name="connisteX4" fmla="*/ 5486400 w 5486400"/>
              <a:gd name="connsiteY4" fmla="*/ 4521200 h 4724400"/>
              <a:gd name="connisteX5" fmla="*/ 5283200 w 5486400"/>
              <a:gd name="connsiteY5" fmla="*/ 4724400 h 4724400"/>
              <a:gd name="connisteX6" fmla="*/ 203200 w 5486400"/>
              <a:gd name="connsiteY6" fmla="*/ 4724400 h 4724400"/>
              <a:gd name="connisteX7" fmla="*/ 0 w 5486400"/>
              <a:gd name="connsiteY7" fmla="*/ 4521200 h 4724400"/>
              <a:gd name="connisteX8" fmla="*/ 0 w 5486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486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283200" y="0"/>
                </a:lnTo>
                <a:cubicBezTo>
                  <a:pt x="5395424" y="0"/>
                  <a:pt x="5486400" y="90976"/>
                  <a:pt x="5486400" y="203200"/>
                </a:cubicBezTo>
                <a:lnTo>
                  <a:pt x="5486400" y="4521200"/>
                </a:lnTo>
                <a:cubicBezTo>
                  <a:pt x="5486400" y="4633424"/>
                  <a:pt x="5395424" y="4724400"/>
                  <a:pt x="5283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文本占位符 7"/>
          <p:cNvSpPr>
            <a:spLocks noGrp="1"/>
          </p:cNvSpPr>
          <p:nvPr>
            <p:ph type="body" idx="16386" hasCustomPrompt="1"/>
            <p:custDataLst>
              <p:tags r:id="rId4"/>
            </p:custDataLst>
          </p:nvPr>
        </p:nvSpPr>
        <p:spPr>
          <a:xfrm>
            <a:off x="609568" y="1600200"/>
            <a:ext cx="5028938" cy="45720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.png"/><Relationship Id="rId8" Type="http://schemas.openxmlformats.org/officeDocument/2006/relationships/image" Target="../media/image12.png"/><Relationship Id="rId7" Type="http://schemas.openxmlformats.org/officeDocument/2006/relationships/image" Target="../media/image11.png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2" Type="http://schemas.openxmlformats.org/officeDocument/2006/relationships/notesSlide" Target="../notesSlides/notesSlide2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14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8.png"/><Relationship Id="rId7" Type="http://schemas.openxmlformats.org/officeDocument/2006/relationships/image" Target="../media/image4.png"/><Relationship Id="rId6" Type="http://schemas.openxmlformats.org/officeDocument/2006/relationships/image" Target="../media/image3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0" Type="http://schemas.openxmlformats.org/officeDocument/2006/relationships/notesSlide" Target="../notesSlides/notesSlide3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27.png"/><Relationship Id="rId8" Type="http://schemas.openxmlformats.org/officeDocument/2006/relationships/image" Target="../media/image26.png"/><Relationship Id="rId7" Type="http://schemas.openxmlformats.org/officeDocument/2006/relationships/image" Target="../media/image25.png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5" Type="http://schemas.openxmlformats.org/officeDocument/2006/relationships/notesSlide" Target="../notesSlides/notesSlide4.xml"/><Relationship Id="rId14" Type="http://schemas.openxmlformats.org/officeDocument/2006/relationships/slideLayout" Target="../slideLayouts/slideLayout1.xml"/><Relationship Id="rId13" Type="http://schemas.openxmlformats.org/officeDocument/2006/relationships/image" Target="../media/image31.png"/><Relationship Id="rId12" Type="http://schemas.openxmlformats.org/officeDocument/2006/relationships/image" Target="../media/image30.png"/><Relationship Id="rId11" Type="http://schemas.openxmlformats.org/officeDocument/2006/relationships/image" Target="../media/image29.png"/><Relationship Id="rId10" Type="http://schemas.openxmlformats.org/officeDocument/2006/relationships/image" Target="../media/image28.png"/><Relationship Id="rId1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39.png"/><Relationship Id="rId8" Type="http://schemas.openxmlformats.org/officeDocument/2006/relationships/image" Target="../media/image38.png"/><Relationship Id="rId7" Type="http://schemas.openxmlformats.org/officeDocument/2006/relationships/image" Target="../media/image37.png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9" Type="http://schemas.openxmlformats.org/officeDocument/2006/relationships/notesSlide" Target="../notesSlides/notesSlide5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47.png"/><Relationship Id="rId16" Type="http://schemas.openxmlformats.org/officeDocument/2006/relationships/image" Target="../media/image46.png"/><Relationship Id="rId15" Type="http://schemas.openxmlformats.org/officeDocument/2006/relationships/image" Target="../media/image45.png"/><Relationship Id="rId14" Type="http://schemas.openxmlformats.org/officeDocument/2006/relationships/image" Target="../media/image44.png"/><Relationship Id="rId13" Type="http://schemas.openxmlformats.org/officeDocument/2006/relationships/image" Target="../media/image43.png"/><Relationship Id="rId12" Type="http://schemas.openxmlformats.org/officeDocument/2006/relationships/image" Target="../media/image42.png"/><Relationship Id="rId11" Type="http://schemas.openxmlformats.org/officeDocument/2006/relationships/image" Target="../media/image41.png"/><Relationship Id="rId10" Type="http://schemas.openxmlformats.org/officeDocument/2006/relationships/image" Target="../media/image40.png"/><Relationship Id="rId1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53.png"/><Relationship Id="rId8" Type="http://schemas.openxmlformats.org/officeDocument/2006/relationships/image" Target="../media/image38.png"/><Relationship Id="rId7" Type="http://schemas.openxmlformats.org/officeDocument/2006/relationships/image" Target="../media/image52.png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Relationship Id="rId3" Type="http://schemas.openxmlformats.org/officeDocument/2006/relationships/image" Target="../media/image33.png"/><Relationship Id="rId2" Type="http://schemas.openxmlformats.org/officeDocument/2006/relationships/image" Target="../media/image48.png"/><Relationship Id="rId17" Type="http://schemas.openxmlformats.org/officeDocument/2006/relationships/notesSlide" Target="../notesSlides/notesSlide6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59.png"/><Relationship Id="rId14" Type="http://schemas.openxmlformats.org/officeDocument/2006/relationships/image" Target="../media/image58.png"/><Relationship Id="rId13" Type="http://schemas.openxmlformats.org/officeDocument/2006/relationships/image" Target="../media/image57.png"/><Relationship Id="rId12" Type="http://schemas.openxmlformats.org/officeDocument/2006/relationships/image" Target="../media/image56.png"/><Relationship Id="rId11" Type="http://schemas.openxmlformats.org/officeDocument/2006/relationships/image" Target="../media/image55.png"/><Relationship Id="rId10" Type="http://schemas.openxmlformats.org/officeDocument/2006/relationships/image" Target="../media/image54.png"/><Relationship Id="rId1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66.png"/><Relationship Id="rId8" Type="http://schemas.openxmlformats.org/officeDocument/2006/relationships/image" Target="../media/image65.png"/><Relationship Id="rId7" Type="http://schemas.openxmlformats.org/officeDocument/2006/relationships/image" Target="../media/image64.png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Relationship Id="rId3" Type="http://schemas.openxmlformats.org/officeDocument/2006/relationships/image" Target="../media/image60.png"/><Relationship Id="rId2" Type="http://schemas.openxmlformats.org/officeDocument/2006/relationships/image" Target="../media/image32.png"/><Relationship Id="rId18" Type="http://schemas.openxmlformats.org/officeDocument/2006/relationships/notesSlide" Target="../notesSlides/notesSlide7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73.png"/><Relationship Id="rId15" Type="http://schemas.openxmlformats.org/officeDocument/2006/relationships/image" Target="../media/image72.png"/><Relationship Id="rId14" Type="http://schemas.openxmlformats.org/officeDocument/2006/relationships/image" Target="../media/image71.png"/><Relationship Id="rId13" Type="http://schemas.openxmlformats.org/officeDocument/2006/relationships/image" Target="../media/image70.png"/><Relationship Id="rId12" Type="http://schemas.openxmlformats.org/officeDocument/2006/relationships/image" Target="../media/image69.png"/><Relationship Id="rId11" Type="http://schemas.openxmlformats.org/officeDocument/2006/relationships/image" Target="../media/image68.png"/><Relationship Id="rId10" Type="http://schemas.openxmlformats.org/officeDocument/2006/relationships/image" Target="../media/image67.png"/><Relationship Id="rId1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33.png"/><Relationship Id="rId8" Type="http://schemas.openxmlformats.org/officeDocument/2006/relationships/image" Target="../media/image77.png"/><Relationship Id="rId7" Type="http://schemas.openxmlformats.org/officeDocument/2006/relationships/image" Target="../media/image76.png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34.png"/><Relationship Id="rId3" Type="http://schemas.openxmlformats.org/officeDocument/2006/relationships/image" Target="../media/image38.png"/><Relationship Id="rId2" Type="http://schemas.openxmlformats.org/officeDocument/2006/relationships/image" Target="../media/image48.png"/><Relationship Id="rId19" Type="http://schemas.openxmlformats.org/officeDocument/2006/relationships/notesSlide" Target="../notesSlides/notesSlide8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45.png"/><Relationship Id="rId16" Type="http://schemas.openxmlformats.org/officeDocument/2006/relationships/image" Target="../media/image84.png"/><Relationship Id="rId15" Type="http://schemas.openxmlformats.org/officeDocument/2006/relationships/image" Target="../media/image83.png"/><Relationship Id="rId14" Type="http://schemas.openxmlformats.org/officeDocument/2006/relationships/image" Target="../media/image82.png"/><Relationship Id="rId13" Type="http://schemas.openxmlformats.org/officeDocument/2006/relationships/image" Target="../media/image81.png"/><Relationship Id="rId12" Type="http://schemas.openxmlformats.org/officeDocument/2006/relationships/image" Target="../media/image80.png"/><Relationship Id="rId11" Type="http://schemas.openxmlformats.org/officeDocument/2006/relationships/image" Target="../media/image79.png"/><Relationship Id="rId10" Type="http://schemas.openxmlformats.org/officeDocument/2006/relationships/image" Target="../media/image78.png"/><Relationship Id="rId1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9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87.png"/><Relationship Id="rId4" Type="http://schemas.openxmlformats.org/officeDocument/2006/relationships/image" Target="../media/image86.png"/><Relationship Id="rId3" Type="http://schemas.openxmlformats.org/officeDocument/2006/relationships/image" Target="../media/image85.png"/><Relationship Id="rId2" Type="http://schemas.openxmlformats.org/officeDocument/2006/relationships/image" Target="../media/image48.png"/><Relationship Id="rId1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94.png"/><Relationship Id="rId8" Type="http://schemas.openxmlformats.org/officeDocument/2006/relationships/image" Target="../media/image93.png"/><Relationship Id="rId7" Type="http://schemas.openxmlformats.org/officeDocument/2006/relationships/image" Target="../media/image92.png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Relationship Id="rId3" Type="http://schemas.openxmlformats.org/officeDocument/2006/relationships/image" Target="../media/image88.png"/><Relationship Id="rId2" Type="http://schemas.openxmlformats.org/officeDocument/2006/relationships/image" Target="../media/image32.png"/><Relationship Id="rId16" Type="http://schemas.openxmlformats.org/officeDocument/2006/relationships/notesSlide" Target="../notesSlides/notesSlide10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99.png"/><Relationship Id="rId13" Type="http://schemas.openxmlformats.org/officeDocument/2006/relationships/image" Target="../media/image98.png"/><Relationship Id="rId12" Type="http://schemas.openxmlformats.org/officeDocument/2006/relationships/image" Target="../media/image97.png"/><Relationship Id="rId11" Type="http://schemas.openxmlformats.org/officeDocument/2006/relationships/image" Target="../media/image96.png"/><Relationship Id="rId10" Type="http://schemas.openxmlformats.org/officeDocument/2006/relationships/image" Target="../media/image95.png"/><Relationship Id="rId1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5.png"/><Relationship Id="rId8" Type="http://schemas.openxmlformats.org/officeDocument/2006/relationships/image" Target="../media/image104.png"/><Relationship Id="rId7" Type="http://schemas.openxmlformats.org/officeDocument/2006/relationships/image" Target="../media/image103.png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4" Type="http://schemas.openxmlformats.org/officeDocument/2006/relationships/image" Target="../media/image100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7" Type="http://schemas.openxmlformats.org/officeDocument/2006/relationships/notesSlide" Target="../notesSlides/notesSlide11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8.png"/><Relationship Id="rId14" Type="http://schemas.openxmlformats.org/officeDocument/2006/relationships/image" Target="../media/image4.png"/><Relationship Id="rId13" Type="http://schemas.openxmlformats.org/officeDocument/2006/relationships/image" Target="../media/image3.png"/><Relationship Id="rId12" Type="http://schemas.openxmlformats.org/officeDocument/2006/relationships/image" Target="../media/image108.png"/><Relationship Id="rId11" Type="http://schemas.openxmlformats.org/officeDocument/2006/relationships/image" Target="../media/image107.png"/><Relationship Id="rId10" Type="http://schemas.openxmlformats.org/officeDocument/2006/relationships/image" Target="../media/image106.png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4.png"/><Relationship Id="rId8" Type="http://schemas.openxmlformats.org/officeDocument/2006/relationships/image" Target="../media/image113.png"/><Relationship Id="rId7" Type="http://schemas.openxmlformats.org/officeDocument/2006/relationships/image" Target="../media/image112.png"/><Relationship Id="rId6" Type="http://schemas.openxmlformats.org/officeDocument/2006/relationships/image" Target="../media/image111.png"/><Relationship Id="rId5" Type="http://schemas.openxmlformats.org/officeDocument/2006/relationships/image" Target="../media/image110.png"/><Relationship Id="rId4" Type="http://schemas.openxmlformats.org/officeDocument/2006/relationships/image" Target="../media/image109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7" Type="http://schemas.openxmlformats.org/officeDocument/2006/relationships/notesSlide" Target="../notesSlides/notesSlide12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8.png"/><Relationship Id="rId14" Type="http://schemas.openxmlformats.org/officeDocument/2006/relationships/image" Target="../media/image118.png"/><Relationship Id="rId13" Type="http://schemas.openxmlformats.org/officeDocument/2006/relationships/image" Target="../media/image117.png"/><Relationship Id="rId12" Type="http://schemas.openxmlformats.org/officeDocument/2006/relationships/image" Target="../media/image45.png"/><Relationship Id="rId11" Type="http://schemas.openxmlformats.org/officeDocument/2006/relationships/image" Target="../media/image116.png"/><Relationship Id="rId10" Type="http://schemas.openxmlformats.org/officeDocument/2006/relationships/image" Target="../media/image115.png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64.xml"/><Relationship Id="rId8" Type="http://schemas.openxmlformats.org/officeDocument/2006/relationships/image" Target="../media/image122.png"/><Relationship Id="rId7" Type="http://schemas.openxmlformats.org/officeDocument/2006/relationships/tags" Target="../tags/tag63.xml"/><Relationship Id="rId6" Type="http://schemas.openxmlformats.org/officeDocument/2006/relationships/image" Target="../media/image121.png"/><Relationship Id="rId5" Type="http://schemas.openxmlformats.org/officeDocument/2006/relationships/image" Target="../media/image120.png"/><Relationship Id="rId4" Type="http://schemas.openxmlformats.org/officeDocument/2006/relationships/image" Target="../media/image119.png"/><Relationship Id="rId37" Type="http://schemas.openxmlformats.org/officeDocument/2006/relationships/notesSlide" Target="../notesSlides/notesSlide13.xml"/><Relationship Id="rId36" Type="http://schemas.openxmlformats.org/officeDocument/2006/relationships/slideLayout" Target="../slideLayouts/slideLayout1.xml"/><Relationship Id="rId35" Type="http://schemas.openxmlformats.org/officeDocument/2006/relationships/image" Target="../media/image18.png"/><Relationship Id="rId34" Type="http://schemas.openxmlformats.org/officeDocument/2006/relationships/tags" Target="../tags/tag83.xml"/><Relationship Id="rId33" Type="http://schemas.openxmlformats.org/officeDocument/2006/relationships/image" Target="../media/image118.png"/><Relationship Id="rId32" Type="http://schemas.openxmlformats.org/officeDocument/2006/relationships/image" Target="../media/image117.png"/><Relationship Id="rId31" Type="http://schemas.openxmlformats.org/officeDocument/2006/relationships/tags" Target="../tags/tag82.xml"/><Relationship Id="rId30" Type="http://schemas.openxmlformats.org/officeDocument/2006/relationships/tags" Target="../tags/tag81.xml"/><Relationship Id="rId3" Type="http://schemas.openxmlformats.org/officeDocument/2006/relationships/image" Target="../media/image15.png"/><Relationship Id="rId29" Type="http://schemas.openxmlformats.org/officeDocument/2006/relationships/image" Target="../media/image56.png"/><Relationship Id="rId28" Type="http://schemas.openxmlformats.org/officeDocument/2006/relationships/tags" Target="../tags/tag80.xml"/><Relationship Id="rId27" Type="http://schemas.openxmlformats.org/officeDocument/2006/relationships/tags" Target="../tags/tag79.xml"/><Relationship Id="rId26" Type="http://schemas.openxmlformats.org/officeDocument/2006/relationships/tags" Target="../tags/tag78.xml"/><Relationship Id="rId25" Type="http://schemas.openxmlformats.org/officeDocument/2006/relationships/tags" Target="../tags/tag77.xml"/><Relationship Id="rId24" Type="http://schemas.openxmlformats.org/officeDocument/2006/relationships/tags" Target="../tags/tag76.xml"/><Relationship Id="rId23" Type="http://schemas.openxmlformats.org/officeDocument/2006/relationships/tags" Target="../tags/tag75.xml"/><Relationship Id="rId22" Type="http://schemas.openxmlformats.org/officeDocument/2006/relationships/tags" Target="../tags/tag74.xml"/><Relationship Id="rId21" Type="http://schemas.openxmlformats.org/officeDocument/2006/relationships/tags" Target="../tags/tag73.xml"/><Relationship Id="rId20" Type="http://schemas.openxmlformats.org/officeDocument/2006/relationships/tags" Target="../tags/tag72.xml"/><Relationship Id="rId2" Type="http://schemas.openxmlformats.org/officeDocument/2006/relationships/image" Target="../media/image2.png"/><Relationship Id="rId19" Type="http://schemas.openxmlformats.org/officeDocument/2006/relationships/tags" Target="../tags/tag71.xml"/><Relationship Id="rId18" Type="http://schemas.openxmlformats.org/officeDocument/2006/relationships/image" Target="../media/image124.png"/><Relationship Id="rId17" Type="http://schemas.openxmlformats.org/officeDocument/2006/relationships/tags" Target="../tags/tag70.xml"/><Relationship Id="rId16" Type="http://schemas.openxmlformats.org/officeDocument/2006/relationships/tags" Target="../tags/tag69.xml"/><Relationship Id="rId15" Type="http://schemas.openxmlformats.org/officeDocument/2006/relationships/tags" Target="../tags/tag68.xml"/><Relationship Id="rId14" Type="http://schemas.openxmlformats.org/officeDocument/2006/relationships/tags" Target="../tags/tag67.xml"/><Relationship Id="rId13" Type="http://schemas.openxmlformats.org/officeDocument/2006/relationships/tags" Target="../tags/tag66.xml"/><Relationship Id="rId12" Type="http://schemas.openxmlformats.org/officeDocument/2006/relationships/image" Target="../media/image123.png"/><Relationship Id="rId11" Type="http://schemas.openxmlformats.org/officeDocument/2006/relationships/tags" Target="../tags/tag65.xml"/><Relationship Id="rId10" Type="http://schemas.openxmlformats.org/officeDocument/2006/relationships/image" Target="../media/image101.png"/><Relationship Id="rId1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8.png"/><Relationship Id="rId8" Type="http://schemas.openxmlformats.org/officeDocument/2006/relationships/image" Target="../media/image127.png"/><Relationship Id="rId7" Type="http://schemas.openxmlformats.org/officeDocument/2006/relationships/image" Target="../media/image81.png"/><Relationship Id="rId6" Type="http://schemas.openxmlformats.org/officeDocument/2006/relationships/image" Target="../media/image126.png"/><Relationship Id="rId5" Type="http://schemas.openxmlformats.org/officeDocument/2006/relationships/image" Target="../media/image101.png"/><Relationship Id="rId4" Type="http://schemas.openxmlformats.org/officeDocument/2006/relationships/image" Target="../media/image125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9" Type="http://schemas.openxmlformats.org/officeDocument/2006/relationships/notesSlide" Target="../notesSlides/notesSlide14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8.png"/><Relationship Id="rId16" Type="http://schemas.openxmlformats.org/officeDocument/2006/relationships/image" Target="../media/image4.png"/><Relationship Id="rId15" Type="http://schemas.openxmlformats.org/officeDocument/2006/relationships/image" Target="../media/image3.png"/><Relationship Id="rId14" Type="http://schemas.openxmlformats.org/officeDocument/2006/relationships/image" Target="../media/image67.png"/><Relationship Id="rId13" Type="http://schemas.openxmlformats.org/officeDocument/2006/relationships/image" Target="../media/image132.png"/><Relationship Id="rId12" Type="http://schemas.openxmlformats.org/officeDocument/2006/relationships/image" Target="../media/image131.png"/><Relationship Id="rId11" Type="http://schemas.openxmlformats.org/officeDocument/2006/relationships/image" Target="../media/image130.png"/><Relationship Id="rId10" Type="http://schemas.openxmlformats.org/officeDocument/2006/relationships/image" Target="../media/image129.png"/><Relationship Id="rId1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6.png"/><Relationship Id="rId8" Type="http://schemas.openxmlformats.org/officeDocument/2006/relationships/image" Target="../media/image135.png"/><Relationship Id="rId7" Type="http://schemas.openxmlformats.org/officeDocument/2006/relationships/image" Target="../media/image81.png"/><Relationship Id="rId6" Type="http://schemas.openxmlformats.org/officeDocument/2006/relationships/image" Target="../media/image134.png"/><Relationship Id="rId5" Type="http://schemas.openxmlformats.org/officeDocument/2006/relationships/image" Target="../media/image120.png"/><Relationship Id="rId4" Type="http://schemas.openxmlformats.org/officeDocument/2006/relationships/image" Target="../media/image133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5" Type="http://schemas.openxmlformats.org/officeDocument/2006/relationships/notesSlide" Target="../notesSlides/notesSlide15.xml"/><Relationship Id="rId14" Type="http://schemas.openxmlformats.org/officeDocument/2006/relationships/slideLayout" Target="../slideLayouts/slideLayout1.xml"/><Relationship Id="rId13" Type="http://schemas.openxmlformats.org/officeDocument/2006/relationships/image" Target="../media/image18.png"/><Relationship Id="rId12" Type="http://schemas.openxmlformats.org/officeDocument/2006/relationships/image" Target="../media/image118.png"/><Relationship Id="rId11" Type="http://schemas.openxmlformats.org/officeDocument/2006/relationships/image" Target="../media/image117.png"/><Relationship Id="rId10" Type="http://schemas.openxmlformats.org/officeDocument/2006/relationships/image" Target="../media/image137.png"/><Relationship Id="rId1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1.png"/><Relationship Id="rId8" Type="http://schemas.openxmlformats.org/officeDocument/2006/relationships/image" Target="../media/image140.png"/><Relationship Id="rId7" Type="http://schemas.openxmlformats.org/officeDocument/2006/relationships/image" Target="../media/image139.png"/><Relationship Id="rId6" Type="http://schemas.openxmlformats.org/officeDocument/2006/relationships/image" Target="../media/image101.png"/><Relationship Id="rId5" Type="http://schemas.openxmlformats.org/officeDocument/2006/relationships/image" Target="../media/image138.png"/><Relationship Id="rId4" Type="http://schemas.openxmlformats.org/officeDocument/2006/relationships/image" Target="../media/image129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9" Type="http://schemas.openxmlformats.org/officeDocument/2006/relationships/notesSlide" Target="../notesSlides/notesSlide16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8.png"/><Relationship Id="rId16" Type="http://schemas.openxmlformats.org/officeDocument/2006/relationships/image" Target="../media/image118.png"/><Relationship Id="rId15" Type="http://schemas.openxmlformats.org/officeDocument/2006/relationships/image" Target="../media/image117.png"/><Relationship Id="rId14" Type="http://schemas.openxmlformats.org/officeDocument/2006/relationships/image" Target="../media/image146.png"/><Relationship Id="rId13" Type="http://schemas.openxmlformats.org/officeDocument/2006/relationships/image" Target="../media/image145.png"/><Relationship Id="rId12" Type="http://schemas.openxmlformats.org/officeDocument/2006/relationships/image" Target="../media/image144.png"/><Relationship Id="rId11" Type="http://schemas.openxmlformats.org/officeDocument/2006/relationships/image" Target="../media/image143.png"/><Relationship Id="rId10" Type="http://schemas.openxmlformats.org/officeDocument/2006/relationships/image" Target="../media/image142.png"/><Relationship Id="rId1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1.png"/><Relationship Id="rId8" Type="http://schemas.openxmlformats.org/officeDocument/2006/relationships/image" Target="../media/image150.png"/><Relationship Id="rId7" Type="http://schemas.openxmlformats.org/officeDocument/2006/relationships/image" Target="../media/image149.png"/><Relationship Id="rId6" Type="http://schemas.openxmlformats.org/officeDocument/2006/relationships/image" Target="../media/image148.png"/><Relationship Id="rId5" Type="http://schemas.openxmlformats.org/officeDocument/2006/relationships/image" Target="../media/image129.png"/><Relationship Id="rId4" Type="http://schemas.openxmlformats.org/officeDocument/2006/relationships/image" Target="../media/image147.png"/><Relationship Id="rId3" Type="http://schemas.openxmlformats.org/officeDocument/2006/relationships/image" Target="../media/image15.png"/><Relationship Id="rId24" Type="http://schemas.openxmlformats.org/officeDocument/2006/relationships/notesSlide" Target="../notesSlides/notesSlide17.xml"/><Relationship Id="rId23" Type="http://schemas.openxmlformats.org/officeDocument/2006/relationships/slideLayout" Target="../slideLayouts/slideLayout1.xml"/><Relationship Id="rId22" Type="http://schemas.openxmlformats.org/officeDocument/2006/relationships/image" Target="../media/image163.png"/><Relationship Id="rId21" Type="http://schemas.openxmlformats.org/officeDocument/2006/relationships/image" Target="../media/image18.png"/><Relationship Id="rId20" Type="http://schemas.openxmlformats.org/officeDocument/2006/relationships/image" Target="../media/image162.png"/><Relationship Id="rId2" Type="http://schemas.openxmlformats.org/officeDocument/2006/relationships/image" Target="../media/image2.png"/><Relationship Id="rId19" Type="http://schemas.openxmlformats.org/officeDocument/2006/relationships/image" Target="../media/image161.png"/><Relationship Id="rId18" Type="http://schemas.openxmlformats.org/officeDocument/2006/relationships/image" Target="../media/image160.png"/><Relationship Id="rId17" Type="http://schemas.openxmlformats.org/officeDocument/2006/relationships/image" Target="../media/image159.png"/><Relationship Id="rId16" Type="http://schemas.openxmlformats.org/officeDocument/2006/relationships/image" Target="../media/image158.png"/><Relationship Id="rId15" Type="http://schemas.openxmlformats.org/officeDocument/2006/relationships/image" Target="../media/image157.png"/><Relationship Id="rId14" Type="http://schemas.openxmlformats.org/officeDocument/2006/relationships/image" Target="../media/image156.png"/><Relationship Id="rId13" Type="http://schemas.openxmlformats.org/officeDocument/2006/relationships/image" Target="../media/image155.png"/><Relationship Id="rId12" Type="http://schemas.openxmlformats.org/officeDocument/2006/relationships/image" Target="../media/image154.png"/><Relationship Id="rId11" Type="http://schemas.openxmlformats.org/officeDocument/2006/relationships/image" Target="../media/image153.png"/><Relationship Id="rId10" Type="http://schemas.openxmlformats.org/officeDocument/2006/relationships/image" Target="../media/image152.png"/><Relationship Id="rId1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68.png"/><Relationship Id="rId8" Type="http://schemas.openxmlformats.org/officeDocument/2006/relationships/image" Target="../media/image167.png"/><Relationship Id="rId7" Type="http://schemas.openxmlformats.org/officeDocument/2006/relationships/image" Target="../media/image166.png"/><Relationship Id="rId6" Type="http://schemas.openxmlformats.org/officeDocument/2006/relationships/image" Target="../media/image165.png"/><Relationship Id="rId5" Type="http://schemas.openxmlformats.org/officeDocument/2006/relationships/image" Target="../media/image101.png"/><Relationship Id="rId4" Type="http://schemas.openxmlformats.org/officeDocument/2006/relationships/image" Target="../media/image164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6" Type="http://schemas.openxmlformats.org/officeDocument/2006/relationships/notesSlide" Target="../notesSlides/notesSlide18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18.png"/><Relationship Id="rId13" Type="http://schemas.openxmlformats.org/officeDocument/2006/relationships/image" Target="../media/image171.png"/><Relationship Id="rId12" Type="http://schemas.openxmlformats.org/officeDocument/2006/relationships/image" Target="../media/image170.png"/><Relationship Id="rId11" Type="http://schemas.openxmlformats.org/officeDocument/2006/relationships/image" Target="../media/image162.png"/><Relationship Id="rId10" Type="http://schemas.openxmlformats.org/officeDocument/2006/relationships/image" Target="../media/image169.png"/><Relationship Id="rId1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6.png"/><Relationship Id="rId8" Type="http://schemas.openxmlformats.org/officeDocument/2006/relationships/image" Target="../media/image175.png"/><Relationship Id="rId7" Type="http://schemas.openxmlformats.org/officeDocument/2006/relationships/image" Target="../media/image174.png"/><Relationship Id="rId6" Type="http://schemas.openxmlformats.org/officeDocument/2006/relationships/image" Target="../media/image173.png"/><Relationship Id="rId5" Type="http://schemas.openxmlformats.org/officeDocument/2006/relationships/image" Target="../media/image101.png"/><Relationship Id="rId4" Type="http://schemas.openxmlformats.org/officeDocument/2006/relationships/image" Target="../media/image172.png"/><Relationship Id="rId3" Type="http://schemas.openxmlformats.org/officeDocument/2006/relationships/image" Target="../media/image15.png"/><Relationship Id="rId23" Type="http://schemas.openxmlformats.org/officeDocument/2006/relationships/notesSlide" Target="../notesSlides/notesSlide19.xml"/><Relationship Id="rId22" Type="http://schemas.openxmlformats.org/officeDocument/2006/relationships/slideLayout" Target="../slideLayouts/slideLayout1.xml"/><Relationship Id="rId21" Type="http://schemas.openxmlformats.org/officeDocument/2006/relationships/image" Target="../media/image18.png"/><Relationship Id="rId20" Type="http://schemas.openxmlformats.org/officeDocument/2006/relationships/image" Target="../media/image171.png"/><Relationship Id="rId2" Type="http://schemas.openxmlformats.org/officeDocument/2006/relationships/image" Target="../media/image2.png"/><Relationship Id="rId19" Type="http://schemas.openxmlformats.org/officeDocument/2006/relationships/image" Target="../media/image170.png"/><Relationship Id="rId18" Type="http://schemas.openxmlformats.org/officeDocument/2006/relationships/image" Target="../media/image182.png"/><Relationship Id="rId17" Type="http://schemas.openxmlformats.org/officeDocument/2006/relationships/image" Target="../media/image181.png"/><Relationship Id="rId16" Type="http://schemas.openxmlformats.org/officeDocument/2006/relationships/image" Target="../media/image81.png"/><Relationship Id="rId15" Type="http://schemas.openxmlformats.org/officeDocument/2006/relationships/image" Target="../media/image142.png"/><Relationship Id="rId14" Type="http://schemas.openxmlformats.org/officeDocument/2006/relationships/image" Target="../media/image110.png"/><Relationship Id="rId13" Type="http://schemas.openxmlformats.org/officeDocument/2006/relationships/image" Target="../media/image180.png"/><Relationship Id="rId12" Type="http://schemas.openxmlformats.org/officeDocument/2006/relationships/image" Target="../media/image179.png"/><Relationship Id="rId11" Type="http://schemas.openxmlformats.org/officeDocument/2006/relationships/image" Target="../media/image178.png"/><Relationship Id="rId10" Type="http://schemas.openxmlformats.org/officeDocument/2006/relationships/image" Target="../media/image177.png"/><Relationship Id="rId1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8.png"/><Relationship Id="rId8" Type="http://schemas.openxmlformats.org/officeDocument/2006/relationships/image" Target="../media/image187.png"/><Relationship Id="rId7" Type="http://schemas.openxmlformats.org/officeDocument/2006/relationships/image" Target="../media/image186.png"/><Relationship Id="rId6" Type="http://schemas.openxmlformats.org/officeDocument/2006/relationships/image" Target="../media/image185.png"/><Relationship Id="rId5" Type="http://schemas.openxmlformats.org/officeDocument/2006/relationships/image" Target="../media/image184.png"/><Relationship Id="rId4" Type="http://schemas.openxmlformats.org/officeDocument/2006/relationships/image" Target="../media/image183.png"/><Relationship Id="rId3" Type="http://schemas.openxmlformats.org/officeDocument/2006/relationships/image" Target="../media/image15.png"/><Relationship Id="rId23" Type="http://schemas.openxmlformats.org/officeDocument/2006/relationships/notesSlide" Target="../notesSlides/notesSlide20.xml"/><Relationship Id="rId22" Type="http://schemas.openxmlformats.org/officeDocument/2006/relationships/slideLayout" Target="../slideLayouts/slideLayout1.xml"/><Relationship Id="rId21" Type="http://schemas.openxmlformats.org/officeDocument/2006/relationships/image" Target="../media/image18.png"/><Relationship Id="rId20" Type="http://schemas.openxmlformats.org/officeDocument/2006/relationships/image" Target="../media/image199.png"/><Relationship Id="rId2" Type="http://schemas.openxmlformats.org/officeDocument/2006/relationships/image" Target="../media/image2.png"/><Relationship Id="rId19" Type="http://schemas.openxmlformats.org/officeDocument/2006/relationships/image" Target="../media/image198.png"/><Relationship Id="rId18" Type="http://schemas.openxmlformats.org/officeDocument/2006/relationships/image" Target="../media/image197.png"/><Relationship Id="rId17" Type="http://schemas.openxmlformats.org/officeDocument/2006/relationships/image" Target="../media/image196.png"/><Relationship Id="rId16" Type="http://schemas.openxmlformats.org/officeDocument/2006/relationships/image" Target="../media/image195.png"/><Relationship Id="rId15" Type="http://schemas.openxmlformats.org/officeDocument/2006/relationships/image" Target="../media/image194.png"/><Relationship Id="rId14" Type="http://schemas.openxmlformats.org/officeDocument/2006/relationships/image" Target="../media/image193.png"/><Relationship Id="rId13" Type="http://schemas.openxmlformats.org/officeDocument/2006/relationships/image" Target="../media/image192.png"/><Relationship Id="rId12" Type="http://schemas.openxmlformats.org/officeDocument/2006/relationships/image" Target="../media/image191.png"/><Relationship Id="rId11" Type="http://schemas.openxmlformats.org/officeDocument/2006/relationships/image" Target="../media/image190.png"/><Relationship Id="rId10" Type="http://schemas.openxmlformats.org/officeDocument/2006/relationships/image" Target="../media/image189.png"/><Relationship Id="rId1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5.png"/><Relationship Id="rId8" Type="http://schemas.openxmlformats.org/officeDocument/2006/relationships/image" Target="../media/image204.png"/><Relationship Id="rId7" Type="http://schemas.openxmlformats.org/officeDocument/2006/relationships/image" Target="../media/image124.png"/><Relationship Id="rId6" Type="http://schemas.openxmlformats.org/officeDocument/2006/relationships/image" Target="../media/image203.png"/><Relationship Id="rId5" Type="http://schemas.openxmlformats.org/officeDocument/2006/relationships/image" Target="../media/image101.png"/><Relationship Id="rId4" Type="http://schemas.openxmlformats.org/officeDocument/2006/relationships/image" Target="../media/image202.png"/><Relationship Id="rId3" Type="http://schemas.openxmlformats.org/officeDocument/2006/relationships/image" Target="../media/image201.png"/><Relationship Id="rId2" Type="http://schemas.openxmlformats.org/officeDocument/2006/relationships/image" Target="../media/image200.png"/><Relationship Id="rId18" Type="http://schemas.openxmlformats.org/officeDocument/2006/relationships/notesSlide" Target="../notesSlides/notesSlide21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212.png"/><Relationship Id="rId15" Type="http://schemas.openxmlformats.org/officeDocument/2006/relationships/image" Target="../media/image211.png"/><Relationship Id="rId14" Type="http://schemas.openxmlformats.org/officeDocument/2006/relationships/image" Target="../media/image210.png"/><Relationship Id="rId13" Type="http://schemas.openxmlformats.org/officeDocument/2006/relationships/image" Target="../media/image209.png"/><Relationship Id="rId12" Type="http://schemas.openxmlformats.org/officeDocument/2006/relationships/image" Target="../media/image208.png"/><Relationship Id="rId11" Type="http://schemas.openxmlformats.org/officeDocument/2006/relationships/image" Target="../media/image207.png"/><Relationship Id="rId10" Type="http://schemas.openxmlformats.org/officeDocument/2006/relationships/image" Target="../media/image206.png"/><Relationship Id="rId1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image" Target="../media/image218.png"/><Relationship Id="rId8" Type="http://schemas.openxmlformats.org/officeDocument/2006/relationships/image" Target="../media/image217.png"/><Relationship Id="rId7" Type="http://schemas.openxmlformats.org/officeDocument/2006/relationships/image" Target="../media/image216.png"/><Relationship Id="rId6" Type="http://schemas.openxmlformats.org/officeDocument/2006/relationships/image" Target="../media/image215.png"/><Relationship Id="rId5" Type="http://schemas.openxmlformats.org/officeDocument/2006/relationships/image" Target="../media/image214.png"/><Relationship Id="rId4" Type="http://schemas.openxmlformats.org/officeDocument/2006/relationships/image" Target="../media/image213.png"/><Relationship Id="rId3" Type="http://schemas.openxmlformats.org/officeDocument/2006/relationships/image" Target="../media/image201.png"/><Relationship Id="rId22" Type="http://schemas.openxmlformats.org/officeDocument/2006/relationships/notesSlide" Target="../notesSlides/notesSlide22.xml"/><Relationship Id="rId21" Type="http://schemas.openxmlformats.org/officeDocument/2006/relationships/slideLayout" Target="../slideLayouts/slideLayout1.xml"/><Relationship Id="rId20" Type="http://schemas.openxmlformats.org/officeDocument/2006/relationships/image" Target="../media/image212.png"/><Relationship Id="rId2" Type="http://schemas.openxmlformats.org/officeDocument/2006/relationships/image" Target="../media/image200.png"/><Relationship Id="rId19" Type="http://schemas.openxmlformats.org/officeDocument/2006/relationships/image" Target="../media/image211.png"/><Relationship Id="rId18" Type="http://schemas.openxmlformats.org/officeDocument/2006/relationships/image" Target="../media/image210.png"/><Relationship Id="rId17" Type="http://schemas.openxmlformats.org/officeDocument/2006/relationships/image" Target="../media/image81.png"/><Relationship Id="rId16" Type="http://schemas.openxmlformats.org/officeDocument/2006/relationships/image" Target="../media/image224.png"/><Relationship Id="rId15" Type="http://schemas.openxmlformats.org/officeDocument/2006/relationships/image" Target="../media/image223.png"/><Relationship Id="rId14" Type="http://schemas.openxmlformats.org/officeDocument/2006/relationships/image" Target="../media/image222.png"/><Relationship Id="rId13" Type="http://schemas.openxmlformats.org/officeDocument/2006/relationships/image" Target="../media/image221.png"/><Relationship Id="rId12" Type="http://schemas.openxmlformats.org/officeDocument/2006/relationships/image" Target="../media/image220.png"/><Relationship Id="rId11" Type="http://schemas.openxmlformats.org/officeDocument/2006/relationships/image" Target="../media/image101.png"/><Relationship Id="rId10" Type="http://schemas.openxmlformats.org/officeDocument/2006/relationships/image" Target="../media/image219.png"/><Relationship Id="rId1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7.png"/><Relationship Id="rId8" Type="http://schemas.openxmlformats.org/officeDocument/2006/relationships/image" Target="../media/image81.png"/><Relationship Id="rId7" Type="http://schemas.openxmlformats.org/officeDocument/2006/relationships/image" Target="../media/image227.png"/><Relationship Id="rId6" Type="http://schemas.openxmlformats.org/officeDocument/2006/relationships/image" Target="../media/image101.png"/><Relationship Id="rId5" Type="http://schemas.openxmlformats.org/officeDocument/2006/relationships/image" Target="../media/image226.png"/><Relationship Id="rId4" Type="http://schemas.openxmlformats.org/officeDocument/2006/relationships/image" Target="../media/image225.png"/><Relationship Id="rId3" Type="http://schemas.openxmlformats.org/officeDocument/2006/relationships/image" Target="../media/image201.png"/><Relationship Id="rId2" Type="http://schemas.openxmlformats.org/officeDocument/2006/relationships/image" Target="../media/image200.png"/><Relationship Id="rId17" Type="http://schemas.openxmlformats.org/officeDocument/2006/relationships/notesSlide" Target="../notesSlides/notesSlide23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212.png"/><Relationship Id="rId14" Type="http://schemas.openxmlformats.org/officeDocument/2006/relationships/image" Target="../media/image118.png"/><Relationship Id="rId13" Type="http://schemas.openxmlformats.org/officeDocument/2006/relationships/image" Target="../media/image117.png"/><Relationship Id="rId12" Type="http://schemas.openxmlformats.org/officeDocument/2006/relationships/image" Target="../media/image230.png"/><Relationship Id="rId11" Type="http://schemas.openxmlformats.org/officeDocument/2006/relationships/image" Target="../media/image229.png"/><Relationship Id="rId10" Type="http://schemas.openxmlformats.org/officeDocument/2006/relationships/image" Target="../media/image228.png"/><Relationship Id="rId1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image" Target="../media/image234.png"/><Relationship Id="rId8" Type="http://schemas.openxmlformats.org/officeDocument/2006/relationships/image" Target="../media/image233.png"/><Relationship Id="rId7" Type="http://schemas.openxmlformats.org/officeDocument/2006/relationships/image" Target="../media/image232.png"/><Relationship Id="rId6" Type="http://schemas.openxmlformats.org/officeDocument/2006/relationships/image" Target="../media/image56.png"/><Relationship Id="rId5" Type="http://schemas.openxmlformats.org/officeDocument/2006/relationships/image" Target="../media/image101.png"/><Relationship Id="rId4" Type="http://schemas.openxmlformats.org/officeDocument/2006/relationships/image" Target="../media/image231.png"/><Relationship Id="rId3" Type="http://schemas.openxmlformats.org/officeDocument/2006/relationships/image" Target="../media/image15.png"/><Relationship Id="rId20" Type="http://schemas.openxmlformats.org/officeDocument/2006/relationships/notesSlide" Target="../notesSlides/notesSlide24.xml"/><Relationship Id="rId2" Type="http://schemas.openxmlformats.org/officeDocument/2006/relationships/image" Target="../media/image2.png"/><Relationship Id="rId19" Type="http://schemas.openxmlformats.org/officeDocument/2006/relationships/slideLayout" Target="../slideLayouts/slideLayout1.xml"/><Relationship Id="rId18" Type="http://schemas.openxmlformats.org/officeDocument/2006/relationships/image" Target="../media/image18.png"/><Relationship Id="rId17" Type="http://schemas.openxmlformats.org/officeDocument/2006/relationships/image" Target="../media/image118.png"/><Relationship Id="rId16" Type="http://schemas.openxmlformats.org/officeDocument/2006/relationships/image" Target="../media/image117.png"/><Relationship Id="rId15" Type="http://schemas.openxmlformats.org/officeDocument/2006/relationships/image" Target="../media/image126.png"/><Relationship Id="rId14" Type="http://schemas.openxmlformats.org/officeDocument/2006/relationships/image" Target="../media/image105.png"/><Relationship Id="rId13" Type="http://schemas.openxmlformats.org/officeDocument/2006/relationships/image" Target="../media/image238.png"/><Relationship Id="rId12" Type="http://schemas.openxmlformats.org/officeDocument/2006/relationships/image" Target="../media/image237.png"/><Relationship Id="rId11" Type="http://schemas.openxmlformats.org/officeDocument/2006/relationships/image" Target="../media/image236.png"/><Relationship Id="rId10" Type="http://schemas.openxmlformats.org/officeDocument/2006/relationships/image" Target="../media/image235.png"/><Relationship Id="rId1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244.png"/><Relationship Id="rId7" Type="http://schemas.openxmlformats.org/officeDocument/2006/relationships/image" Target="../media/image243.png"/><Relationship Id="rId6" Type="http://schemas.openxmlformats.org/officeDocument/2006/relationships/image" Target="../media/image242.png"/><Relationship Id="rId5" Type="http://schemas.openxmlformats.org/officeDocument/2006/relationships/image" Target="../media/image241.png"/><Relationship Id="rId4" Type="http://schemas.openxmlformats.org/officeDocument/2006/relationships/image" Target="../media/image240.png"/><Relationship Id="rId3" Type="http://schemas.openxmlformats.org/officeDocument/2006/relationships/image" Target="../media/image239.png"/><Relationship Id="rId2" Type="http://schemas.openxmlformats.org/officeDocument/2006/relationships/image" Target="../media/image2.png"/><Relationship Id="rId10" Type="http://schemas.openxmlformats.org/officeDocument/2006/relationships/notesSlide" Target="../notesSlides/notesSlide25.xml"/><Relationship Id="rId1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image" Target="../media/image251.png"/><Relationship Id="rId8" Type="http://schemas.openxmlformats.org/officeDocument/2006/relationships/image" Target="../media/image250.png"/><Relationship Id="rId7" Type="http://schemas.openxmlformats.org/officeDocument/2006/relationships/image" Target="../media/image249.png"/><Relationship Id="rId6" Type="http://schemas.openxmlformats.org/officeDocument/2006/relationships/image" Target="../media/image248.png"/><Relationship Id="rId5" Type="http://schemas.openxmlformats.org/officeDocument/2006/relationships/image" Target="../media/image247.png"/><Relationship Id="rId4" Type="http://schemas.openxmlformats.org/officeDocument/2006/relationships/image" Target="../media/image246.png"/><Relationship Id="rId3" Type="http://schemas.openxmlformats.org/officeDocument/2006/relationships/image" Target="../media/image245.png"/><Relationship Id="rId2" Type="http://schemas.openxmlformats.org/officeDocument/2006/relationships/image" Target="../media/image2.png"/><Relationship Id="rId11" Type="http://schemas.openxmlformats.org/officeDocument/2006/relationships/notesSlide" Target="../notesSlides/notesSlide26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9" Type="http://schemas.openxmlformats.org/officeDocument/2006/relationships/image" Target="../media/image259.png"/><Relationship Id="rId8" Type="http://schemas.openxmlformats.org/officeDocument/2006/relationships/image" Target="../media/image258.png"/><Relationship Id="rId7" Type="http://schemas.openxmlformats.org/officeDocument/2006/relationships/image" Target="../media/image257.png"/><Relationship Id="rId6" Type="http://schemas.openxmlformats.org/officeDocument/2006/relationships/image" Target="../media/image256.png"/><Relationship Id="rId5" Type="http://schemas.openxmlformats.org/officeDocument/2006/relationships/image" Target="../media/image255.png"/><Relationship Id="rId4" Type="http://schemas.openxmlformats.org/officeDocument/2006/relationships/image" Target="../media/image254.png"/><Relationship Id="rId3" Type="http://schemas.openxmlformats.org/officeDocument/2006/relationships/image" Target="../media/image253.png"/><Relationship Id="rId2" Type="http://schemas.openxmlformats.org/officeDocument/2006/relationships/image" Target="../media/image252.png"/><Relationship Id="rId16" Type="http://schemas.openxmlformats.org/officeDocument/2006/relationships/notesSlide" Target="../notesSlides/notesSlide27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264.png"/><Relationship Id="rId13" Type="http://schemas.openxmlformats.org/officeDocument/2006/relationships/image" Target="../media/image263.png"/><Relationship Id="rId12" Type="http://schemas.openxmlformats.org/officeDocument/2006/relationships/image" Target="../media/image262.png"/><Relationship Id="rId11" Type="http://schemas.openxmlformats.org/officeDocument/2006/relationships/image" Target="../media/image261.png"/><Relationship Id="rId10" Type="http://schemas.openxmlformats.org/officeDocument/2006/relationships/image" Target="../media/image260.png"/><Relationship Id="rId1" Type="http://schemas.openxmlformats.org/officeDocument/2006/relationships/image" Target="../media/image19.png"/></Relationships>
</file>

<file path=ppt/slides/_rels/slide28.xml.rels><?xml version="1.0" encoding="UTF-8" standalone="yes"?>
<Relationships xmlns="http://schemas.openxmlformats.org/package/2006/relationships"><Relationship Id="rId9" Type="http://schemas.openxmlformats.org/officeDocument/2006/relationships/image" Target="../media/image258.png"/><Relationship Id="rId8" Type="http://schemas.openxmlformats.org/officeDocument/2006/relationships/image" Target="../media/image266.png"/><Relationship Id="rId7" Type="http://schemas.openxmlformats.org/officeDocument/2006/relationships/image" Target="../media/image265.png"/><Relationship Id="rId6" Type="http://schemas.openxmlformats.org/officeDocument/2006/relationships/image" Target="../media/image256.png"/><Relationship Id="rId5" Type="http://schemas.openxmlformats.org/officeDocument/2006/relationships/image" Target="../media/image255.png"/><Relationship Id="rId4" Type="http://schemas.openxmlformats.org/officeDocument/2006/relationships/image" Target="../media/image254.png"/><Relationship Id="rId3" Type="http://schemas.openxmlformats.org/officeDocument/2006/relationships/image" Target="../media/image253.png"/><Relationship Id="rId2" Type="http://schemas.openxmlformats.org/officeDocument/2006/relationships/image" Target="../media/image252.png"/><Relationship Id="rId16" Type="http://schemas.openxmlformats.org/officeDocument/2006/relationships/notesSlide" Target="../notesSlides/notesSlide28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270.png"/><Relationship Id="rId13" Type="http://schemas.openxmlformats.org/officeDocument/2006/relationships/image" Target="../media/image263.png"/><Relationship Id="rId12" Type="http://schemas.openxmlformats.org/officeDocument/2006/relationships/image" Target="../media/image269.png"/><Relationship Id="rId11" Type="http://schemas.openxmlformats.org/officeDocument/2006/relationships/image" Target="../media/image268.png"/><Relationship Id="rId10" Type="http://schemas.openxmlformats.org/officeDocument/2006/relationships/image" Target="../media/image267.png"/><Relationship Id="rId1" Type="http://schemas.openxmlformats.org/officeDocument/2006/relationships/image" Target="../media/image19.png"/></Relationships>
</file>

<file path=ppt/slides/_rels/slide29.xml.rels><?xml version="1.0" encoding="UTF-8" standalone="yes"?>
<Relationships xmlns="http://schemas.openxmlformats.org/package/2006/relationships"><Relationship Id="rId9" Type="http://schemas.openxmlformats.org/officeDocument/2006/relationships/image" Target="../media/image275.png"/><Relationship Id="rId8" Type="http://schemas.openxmlformats.org/officeDocument/2006/relationships/image" Target="../media/image274.png"/><Relationship Id="rId7" Type="http://schemas.openxmlformats.org/officeDocument/2006/relationships/image" Target="../media/image273.png"/><Relationship Id="rId6" Type="http://schemas.openxmlformats.org/officeDocument/2006/relationships/image" Target="../media/image272.png"/><Relationship Id="rId5" Type="http://schemas.openxmlformats.org/officeDocument/2006/relationships/image" Target="../media/image120.png"/><Relationship Id="rId4" Type="http://schemas.openxmlformats.org/officeDocument/2006/relationships/image" Target="../media/image271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9" Type="http://schemas.openxmlformats.org/officeDocument/2006/relationships/notesSlide" Target="../notesSlides/notesSlide29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8.png"/><Relationship Id="rId16" Type="http://schemas.openxmlformats.org/officeDocument/2006/relationships/image" Target="../media/image118.png"/><Relationship Id="rId15" Type="http://schemas.openxmlformats.org/officeDocument/2006/relationships/image" Target="../media/image117.png"/><Relationship Id="rId14" Type="http://schemas.openxmlformats.org/officeDocument/2006/relationships/image" Target="../media/image280.png"/><Relationship Id="rId13" Type="http://schemas.openxmlformats.org/officeDocument/2006/relationships/image" Target="../media/image279.png"/><Relationship Id="rId12" Type="http://schemas.openxmlformats.org/officeDocument/2006/relationships/image" Target="../media/image278.png"/><Relationship Id="rId11" Type="http://schemas.openxmlformats.org/officeDocument/2006/relationships/image" Target="../media/image277.png"/><Relationship Id="rId10" Type="http://schemas.openxmlformats.org/officeDocument/2006/relationships/image" Target="../media/image276.png"/><Relationship Id="rId1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9" Type="http://schemas.openxmlformats.org/officeDocument/2006/relationships/image" Target="../media/image288.png"/><Relationship Id="rId8" Type="http://schemas.openxmlformats.org/officeDocument/2006/relationships/image" Target="../media/image287.png"/><Relationship Id="rId7" Type="http://schemas.openxmlformats.org/officeDocument/2006/relationships/image" Target="../media/image286.png"/><Relationship Id="rId6" Type="http://schemas.openxmlformats.org/officeDocument/2006/relationships/image" Target="../media/image285.png"/><Relationship Id="rId5" Type="http://schemas.openxmlformats.org/officeDocument/2006/relationships/image" Target="../media/image284.png"/><Relationship Id="rId4" Type="http://schemas.openxmlformats.org/officeDocument/2006/relationships/image" Target="../media/image283.png"/><Relationship Id="rId3" Type="http://schemas.openxmlformats.org/officeDocument/2006/relationships/image" Target="../media/image282.png"/><Relationship Id="rId2" Type="http://schemas.openxmlformats.org/officeDocument/2006/relationships/image" Target="../media/image281.png"/><Relationship Id="rId11" Type="http://schemas.openxmlformats.org/officeDocument/2006/relationships/notesSlide" Target="../notesSlides/notesSlide30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3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4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sp>
        <p:nvSpPr>
          <p:cNvPr id="1048586" name="标题 1"/>
          <p:cNvSpPr>
            <a:spLocks noGrp="1"/>
          </p:cNvSpPr>
          <p:nvPr/>
        </p:nvSpPr>
        <p:spPr>
          <a:xfrm>
            <a:off x="5020310" y="222250"/>
            <a:ext cx="6526530" cy="4724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zh-CN" altLang="en-US" sz="2400">
                <a:latin typeface="+mn-ea"/>
                <a:ea typeface="+mn-ea"/>
                <a:cs typeface="+mn-ea"/>
              </a:rPr>
              <a:t>个人简介：</a:t>
            </a:r>
            <a:br>
              <a:rPr lang="zh-CN" altLang="en-US" sz="2400">
                <a:latin typeface="+mn-ea"/>
                <a:ea typeface="+mn-ea"/>
                <a:cs typeface="+mn-ea"/>
              </a:rPr>
            </a:br>
            <a:br>
              <a:rPr lang="zh-CN" altLang="en-US" sz="2400">
                <a:latin typeface="+mn-ea"/>
                <a:ea typeface="+mn-ea"/>
                <a:cs typeface="+mn-ea"/>
              </a:rPr>
            </a:br>
            <a:r>
              <a:rPr lang="zh-CN" altLang="en-US" sz="2400">
                <a:latin typeface="+mn-ea"/>
                <a:ea typeface="+mn-ea"/>
                <a:cs typeface="+mn-ea"/>
              </a:rPr>
              <a:t>毕业于泸州医学院，擅长冠脉及结构性心脏病介入。南方会及广州CTO峰会主席团成员。</a:t>
            </a:r>
            <a:br>
              <a:rPr lang="zh-CN" altLang="en-US" sz="2400">
                <a:latin typeface="+mn-ea"/>
                <a:ea typeface="+mn-ea"/>
                <a:cs typeface="+mn-ea"/>
              </a:rPr>
            </a:br>
            <a:br>
              <a:rPr lang="zh-CN" altLang="en-US" sz="2400">
                <a:latin typeface="+mn-ea"/>
                <a:ea typeface="+mn-ea"/>
                <a:cs typeface="+mn-ea"/>
              </a:rPr>
            </a:br>
            <a:r>
              <a:rPr lang="zh-CN" altLang="en-US" sz="2400">
                <a:latin typeface="+mn-ea"/>
                <a:ea typeface="+mn-ea"/>
                <a:cs typeface="+mn-ea"/>
              </a:rPr>
              <a:t>参加韩国峨山医院TCPAP2017介入培训。2017年获得介入直通车全国决赛亚军。2022年Vitaflow菁英赛全国二等奖。</a:t>
            </a:r>
            <a:endParaRPr lang="zh-CN" altLang="en-US" sz="2400">
              <a:latin typeface="+mn-ea"/>
              <a:ea typeface="+mn-ea"/>
              <a:cs typeface="+mn-ea"/>
            </a:endParaRPr>
          </a:p>
        </p:txBody>
      </p:sp>
      <p:sp>
        <p:nvSpPr>
          <p:cNvPr id="1048587" name="副标题 2"/>
          <p:cNvSpPr>
            <a:spLocks noGrp="1"/>
          </p:cNvSpPr>
          <p:nvPr/>
        </p:nvSpPr>
        <p:spPr>
          <a:xfrm>
            <a:off x="730250" y="4470400"/>
            <a:ext cx="4184015" cy="122047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50000"/>
              </a:lnSpc>
            </a:pPr>
            <a:r>
              <a:rPr lang="zh-CN" altLang="en-US" b="1"/>
              <a:t>成都市第五人民医院</a:t>
            </a:r>
            <a:br>
              <a:rPr lang="zh-CN" altLang="en-US" b="1"/>
            </a:br>
            <a:r>
              <a:rPr lang="zh-CN" altLang="en-US" b="1"/>
              <a:t>刘朝晖</a:t>
            </a:r>
            <a:endParaRPr lang="zh-CN" altLang="en-US" b="1"/>
          </a:p>
        </p:txBody>
      </p:sp>
      <p:pic>
        <p:nvPicPr>
          <p:cNvPr id="2097152" name="图片 3" descr="1361671524912_.pic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250" y="596900"/>
            <a:ext cx="3873500" cy="387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6933"/>
            <a:ext cx="57149" cy="1523962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9772406" y="628634"/>
            <a:ext cx="1809705" cy="180970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8000"/>
          </a:blip>
          <a:stretch>
            <a:fillRect/>
          </a:stretch>
        </p:blipFill>
        <p:spPr>
          <a:xfrm>
            <a:off x="10220069" y="1076298"/>
            <a:ext cx="1676358" cy="1676358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0086723" y="5676758"/>
            <a:ext cx="1514056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System Version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10086723" y="5905352"/>
            <a:ext cx="1514056" cy="34289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2250" b="1" dirty="0">
                <a:solidFill>
                  <a:srgbClr val="CBD5E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2026.04</a:t>
            </a:r>
            <a:endParaRPr lang="en-US" sz="225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1257269"/>
            <a:ext cx="609585" cy="1905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1676358" y="1171546"/>
            <a:ext cx="1818849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 1.0</a:t>
            </a:r>
            <a:endParaRPr lang="en-US" sz="1050" dirty="0"/>
          </a:p>
        </p:txBody>
      </p:sp>
      <p:sp>
        <p:nvSpPr>
          <p:cNvPr id="10" name="Text 3"/>
          <p:cNvSpPr/>
          <p:nvPr/>
        </p:nvSpPr>
        <p:spPr>
          <a:xfrm>
            <a:off x="914377" y="1676358"/>
            <a:ext cx="2218889" cy="84770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医疗AI</a:t>
            </a:r>
            <a:endParaRPr lang="en-US" sz="6000" dirty="0"/>
          </a:p>
        </p:txBody>
      </p:sp>
      <p:sp>
        <p:nvSpPr>
          <p:cNvPr id="11" name="Text 4"/>
          <p:cNvSpPr/>
          <p:nvPr/>
        </p:nvSpPr>
        <p:spPr>
          <a:xfrm>
            <a:off x="914377" y="2400240"/>
            <a:ext cx="2980870" cy="84770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助手系统</a:t>
            </a:r>
            <a:endParaRPr lang="en-US" sz="6000" dirty="0"/>
          </a:p>
        </p:txBody>
      </p:sp>
      <p:sp>
        <p:nvSpPr>
          <p:cNvPr id="12" name="Text 5"/>
          <p:cNvSpPr/>
          <p:nvPr/>
        </p:nvSpPr>
        <p:spPr>
          <a:xfrm>
            <a:off x="914377" y="3552736"/>
            <a:ext cx="3666653" cy="25716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基于</a:t>
            </a:r>
            <a:r>
              <a:rPr lang="zh-CN" altLang="en-US" sz="18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大模型</a:t>
            </a:r>
            <a:r>
              <a:rPr lang="en-US" sz="18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的智能诊疗辅助平台，</a:t>
            </a:r>
            <a:endParaRPr lang="en-US" sz="1800" dirty="0"/>
          </a:p>
        </p:txBody>
      </p:sp>
      <p:sp>
        <p:nvSpPr>
          <p:cNvPr id="13" name="Text 6"/>
          <p:cNvSpPr/>
          <p:nvPr/>
        </p:nvSpPr>
        <p:spPr>
          <a:xfrm>
            <a:off x="914377" y="3924202"/>
            <a:ext cx="3895247" cy="25716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构建精准、高效、可信的医疗智能中枢</a:t>
            </a:r>
            <a:endParaRPr lang="en-US" sz="1800" dirty="0"/>
          </a:p>
        </p:txBody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377" y="4848104"/>
            <a:ext cx="7315017" cy="847704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377" y="5238619"/>
            <a:ext cx="457189" cy="457189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773" y="5371966"/>
            <a:ext cx="171446" cy="190495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1523962" y="5267193"/>
            <a:ext cx="92352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核心能力</a:t>
            </a:r>
            <a:endParaRPr lang="en-US" sz="900" dirty="0"/>
          </a:p>
        </p:txBody>
      </p:sp>
      <p:sp>
        <p:nvSpPr>
          <p:cNvPr id="18" name="Text 8"/>
          <p:cNvSpPr/>
          <p:nvPr/>
        </p:nvSpPr>
        <p:spPr>
          <a:xfrm>
            <a:off x="1523962" y="5438639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临床决策支持</a:t>
            </a:r>
            <a:endParaRPr lang="en-US" sz="120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95528" y="5238619"/>
            <a:ext cx="457189" cy="457189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28874" y="5371966"/>
            <a:ext cx="190495" cy="190495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3505112" y="5267193"/>
            <a:ext cx="77112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安全架构</a:t>
            </a:r>
            <a:endParaRPr lang="en-US" sz="900" dirty="0"/>
          </a:p>
        </p:txBody>
      </p:sp>
      <p:sp>
        <p:nvSpPr>
          <p:cNvPr id="22" name="Text 10"/>
          <p:cNvSpPr/>
          <p:nvPr/>
        </p:nvSpPr>
        <p:spPr>
          <a:xfrm>
            <a:off x="3505112" y="5438639"/>
            <a:ext cx="77112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私有化部署</a:t>
            </a:r>
            <a:endParaRPr lang="en-US" sz="1200" dirty="0"/>
          </a:p>
        </p:txBody>
      </p:sp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4282" y="5238619"/>
            <a:ext cx="457189" cy="457189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57629" y="5371966"/>
            <a:ext cx="190495" cy="190495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5333867" y="5267193"/>
            <a:ext cx="92352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效率提升</a:t>
            </a:r>
            <a:endParaRPr lang="en-US" sz="900" dirty="0"/>
          </a:p>
        </p:txBody>
      </p:sp>
      <p:sp>
        <p:nvSpPr>
          <p:cNvPr id="26" name="Text 12"/>
          <p:cNvSpPr/>
          <p:nvPr/>
        </p:nvSpPr>
        <p:spPr>
          <a:xfrm>
            <a:off x="5333867" y="5438639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诊疗流程优化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96162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Contents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1028674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目录</a:t>
            </a:r>
            <a:endParaRPr lang="en-US" sz="3150" dirty="0"/>
          </a:p>
        </p:txBody>
      </p:sp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085923"/>
            <a:ext cx="3305092" cy="1971626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1228694" y="2485963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Text 3"/>
          <p:cNvSpPr/>
          <p:nvPr/>
        </p:nvSpPr>
        <p:spPr>
          <a:xfrm>
            <a:off x="1228694" y="3095548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痛点分析</a:t>
            </a:r>
            <a:endParaRPr lang="en-US" sz="1500" dirty="0"/>
          </a:p>
        </p:txBody>
      </p:sp>
      <p:sp>
        <p:nvSpPr>
          <p:cNvPr id="10" name="Text 4"/>
          <p:cNvSpPr/>
          <p:nvPr/>
        </p:nvSpPr>
        <p:spPr>
          <a:xfrm>
            <a:off x="1228694" y="3447964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当前医疗场景中的关键挑战与瓶颈识别</a:t>
            </a:r>
            <a:endParaRPr lang="en-US" sz="105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064" y="2085923"/>
            <a:ext cx="3305092" cy="1971626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4762381" y="2485963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02</a:t>
            </a:r>
            <a:endParaRPr lang="en-US" sz="3600" dirty="0"/>
          </a:p>
        </p:txBody>
      </p:sp>
      <p:sp>
        <p:nvSpPr>
          <p:cNvPr id="13" name="Text 6"/>
          <p:cNvSpPr/>
          <p:nvPr/>
        </p:nvSpPr>
        <p:spPr>
          <a:xfrm>
            <a:off x="4762381" y="3095548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解决方案</a:t>
            </a:r>
            <a:endParaRPr lang="en-US" sz="1500" dirty="0"/>
          </a:p>
        </p:txBody>
      </p:sp>
      <p:sp>
        <p:nvSpPr>
          <p:cNvPr id="14" name="Text 7"/>
          <p:cNvSpPr/>
          <p:nvPr/>
        </p:nvSpPr>
        <p:spPr>
          <a:xfrm>
            <a:off x="4762381" y="3447964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AI驱动的系统性问题解决路径设计</a:t>
            </a:r>
            <a:endParaRPr lang="en-US" sz="105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750" y="2085923"/>
            <a:ext cx="3305092" cy="1971626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8296068" y="2485963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Text 9"/>
          <p:cNvSpPr/>
          <p:nvPr/>
        </p:nvSpPr>
        <p:spPr>
          <a:xfrm>
            <a:off x="8296068" y="3095548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技术架构</a:t>
            </a:r>
            <a:endParaRPr lang="en-US" sz="1500" dirty="0"/>
          </a:p>
        </p:txBody>
      </p:sp>
      <p:sp>
        <p:nvSpPr>
          <p:cNvPr id="18" name="Text 10"/>
          <p:cNvSpPr/>
          <p:nvPr/>
        </p:nvSpPr>
        <p:spPr>
          <a:xfrm>
            <a:off x="8296068" y="3447964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分层式系统架构与核心技术栈解析</a:t>
            </a:r>
            <a:endParaRPr lang="en-US" sz="1050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286143"/>
            <a:ext cx="3305092" cy="1971626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1228694" y="4676658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04</a:t>
            </a:r>
            <a:endParaRPr lang="en-US" sz="3600" dirty="0"/>
          </a:p>
        </p:txBody>
      </p:sp>
      <p:sp>
        <p:nvSpPr>
          <p:cNvPr id="21" name="Text 12"/>
          <p:cNvSpPr/>
          <p:nvPr/>
        </p:nvSpPr>
        <p:spPr>
          <a:xfrm>
            <a:off x="1228694" y="5286243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核心功能</a:t>
            </a:r>
            <a:endParaRPr lang="en-US" sz="1500" dirty="0"/>
          </a:p>
        </p:txBody>
      </p:sp>
      <p:sp>
        <p:nvSpPr>
          <p:cNvPr id="22" name="Text 13"/>
          <p:cNvSpPr/>
          <p:nvPr/>
        </p:nvSpPr>
        <p:spPr>
          <a:xfrm>
            <a:off x="1228694" y="5638659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智能辅助诊疗与临床决策支持模块</a:t>
            </a:r>
            <a:endParaRPr lang="en-US" sz="1050" dirty="0"/>
          </a:p>
        </p:txBody>
      </p:sp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064" y="4286143"/>
            <a:ext cx="3305092" cy="1971626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4762381" y="4676658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05</a:t>
            </a:r>
            <a:endParaRPr lang="en-US" sz="3600" dirty="0"/>
          </a:p>
        </p:txBody>
      </p:sp>
      <p:sp>
        <p:nvSpPr>
          <p:cNvPr id="25" name="Text 15"/>
          <p:cNvSpPr/>
          <p:nvPr/>
        </p:nvSpPr>
        <p:spPr>
          <a:xfrm>
            <a:off x="4762381" y="5286243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价值证明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4762381" y="5638659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量化效益分析与临床验证数据展示</a:t>
            </a:r>
            <a:endParaRPr lang="en-US" sz="1050" dirty="0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750" y="4286143"/>
            <a:ext cx="3305092" cy="1971626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8296068" y="4676658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06</a:t>
            </a:r>
            <a:endParaRPr lang="en-US" sz="3600" dirty="0"/>
          </a:p>
        </p:txBody>
      </p:sp>
      <p:sp>
        <p:nvSpPr>
          <p:cNvPr id="29" name="Text 18"/>
          <p:cNvSpPr/>
          <p:nvPr/>
        </p:nvSpPr>
        <p:spPr>
          <a:xfrm>
            <a:off x="8296068" y="5286243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合作模式</a:t>
            </a:r>
            <a:endParaRPr lang="en-US" sz="1500" dirty="0"/>
          </a:p>
        </p:txBody>
      </p:sp>
      <p:sp>
        <p:nvSpPr>
          <p:cNvPr id="30" name="Text 19"/>
          <p:cNvSpPr/>
          <p:nvPr/>
        </p:nvSpPr>
        <p:spPr>
          <a:xfrm>
            <a:off x="8296068" y="5638659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灵活部署方案与长期合作生态构建</a:t>
            </a:r>
            <a:endParaRPr lang="en-US" sz="105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6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7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33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189" y="457189"/>
            <a:ext cx="11286462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中国医院等级金字塔分布</a:t>
            </a:r>
            <a:endParaRPr lang="en-US" sz="30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89" y="1047724"/>
            <a:ext cx="457189" cy="3809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189" y="1314417"/>
            <a:ext cx="5666853" cy="53338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中国医疗机构呈现典型的</a:t>
            </a:r>
            <a:r>
              <a:rPr lang="en-US" sz="127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倒金字塔结构</a:t>
            </a:r>
            <a:r>
              <a:rPr lang="en-US" sz="127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，优质医疗资源高度集中，而承担基础诊疗服务的基层机构数量庞大。</a:t>
            </a:r>
            <a:endParaRPr lang="en-US" sz="127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2000200"/>
            <a:ext cx="5657709" cy="657209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2143071"/>
            <a:ext cx="304792" cy="304792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33" y="2228794"/>
            <a:ext cx="152396" cy="133347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1000100" y="2124022"/>
            <a:ext cx="5000119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顶级医院（复旦百强）</a:t>
            </a:r>
            <a:endParaRPr lang="en-US" sz="1120" dirty="0"/>
          </a:p>
        </p:txBody>
      </p:sp>
      <p:sp>
        <p:nvSpPr>
          <p:cNvPr id="10" name="Text 3"/>
          <p:cNvSpPr/>
          <p:nvPr/>
        </p:nvSpPr>
        <p:spPr>
          <a:xfrm>
            <a:off x="1000100" y="2352616"/>
            <a:ext cx="5000119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约</a:t>
            </a:r>
            <a:r>
              <a:rPr lang="en-US" sz="97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100家</a:t>
            </a: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，仅分布在23个城市，超过90%的地级市无百强医院。</a:t>
            </a:r>
            <a:endParaRPr lang="en-US" sz="970" dirty="0"/>
          </a:p>
        </p:txBody>
      </p:sp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89" y="2762181"/>
            <a:ext cx="5657709" cy="828654"/>
          </a:xfrm>
          <a:prstGeom prst="rect">
            <a:avLst/>
          </a:prstGeom>
        </p:spPr>
      </p:pic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2905052"/>
            <a:ext cx="304792" cy="304792"/>
          </a:xfrm>
          <a:prstGeom prst="rect">
            <a:avLst/>
          </a:prstGeom>
        </p:spPr>
      </p:pic>
      <p:pic>
        <p:nvPicPr>
          <p:cNvPr id="13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209" y="2990775"/>
            <a:ext cx="171446" cy="133347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1000100" y="2886003"/>
            <a:ext cx="5000119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三甲医院</a:t>
            </a:r>
            <a:endParaRPr lang="en-US" sz="1120" dirty="0"/>
          </a:p>
        </p:txBody>
      </p:sp>
      <p:sp>
        <p:nvSpPr>
          <p:cNvPr id="15" name="Text 5"/>
          <p:cNvSpPr/>
          <p:nvPr/>
        </p:nvSpPr>
        <p:spPr>
          <a:xfrm>
            <a:off x="1000100" y="3124122"/>
            <a:ext cx="5000119" cy="3428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1,876家</a:t>
            </a: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，占全国医院总数不足5%，却承担了最大比例的诊疗量（2024年28.7亿人次），虹吸效应严重。</a:t>
            </a:r>
            <a:endParaRPr lang="en-US" sz="97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3695608"/>
            <a:ext cx="5657709" cy="657209"/>
          </a:xfrm>
          <a:prstGeom prst="rect">
            <a:avLst/>
          </a:prstGeom>
        </p:spPr>
      </p:pic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3838479"/>
            <a:ext cx="304792" cy="304792"/>
          </a:xfrm>
          <a:prstGeom prst="rect">
            <a:avLst/>
          </a:prstGeom>
        </p:spPr>
      </p:pic>
      <p:pic>
        <p:nvPicPr>
          <p:cNvPr id="18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209" y="3924202"/>
            <a:ext cx="171446" cy="133347"/>
          </a:xfrm>
          <a:prstGeom prst="rect">
            <a:avLst/>
          </a:prstGeom>
        </p:spPr>
      </p:pic>
      <p:sp>
        <p:nvSpPr>
          <p:cNvPr id="19" name="Text 6"/>
          <p:cNvSpPr/>
          <p:nvPr/>
        </p:nvSpPr>
        <p:spPr>
          <a:xfrm>
            <a:off x="1000100" y="3819430"/>
            <a:ext cx="5000119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其他医院</a:t>
            </a:r>
            <a:endParaRPr lang="en-US" sz="1120" dirty="0"/>
          </a:p>
        </p:txBody>
      </p:sp>
      <p:sp>
        <p:nvSpPr>
          <p:cNvPr id="20" name="Text 7"/>
          <p:cNvSpPr/>
          <p:nvPr/>
        </p:nvSpPr>
        <p:spPr>
          <a:xfrm>
            <a:off x="1000100" y="4057549"/>
            <a:ext cx="5000119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包括三乙、二级、一级及未定级医院，合计约</a:t>
            </a:r>
            <a:r>
              <a:rPr lang="en-US" sz="97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3.7万家</a:t>
            </a: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，是连接顶层与基层的关键环节。</a:t>
            </a:r>
            <a:endParaRPr lang="en-US" sz="970" dirty="0"/>
          </a:p>
        </p:txBody>
      </p:sp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189" y="4467113"/>
            <a:ext cx="5657709" cy="828654"/>
          </a:xfrm>
          <a:prstGeom prst="rect">
            <a:avLst/>
          </a:prstGeom>
        </p:spPr>
      </p:pic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60" y="4609985"/>
            <a:ext cx="304792" cy="304792"/>
          </a:xfrm>
          <a:prstGeom prst="rect">
            <a:avLst/>
          </a:prstGeom>
        </p:spPr>
      </p:pic>
      <p:pic>
        <p:nvPicPr>
          <p:cNvPr id="23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83" y="4695708"/>
            <a:ext cx="152396" cy="133347"/>
          </a:xfrm>
          <a:prstGeom prst="rect">
            <a:avLst/>
          </a:prstGeom>
        </p:spPr>
      </p:pic>
      <p:sp>
        <p:nvSpPr>
          <p:cNvPr id="24" name="Text 8"/>
          <p:cNvSpPr/>
          <p:nvPr/>
        </p:nvSpPr>
        <p:spPr>
          <a:xfrm>
            <a:off x="1019150" y="4590935"/>
            <a:ext cx="4981070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基层医疗卫生机构</a:t>
            </a:r>
            <a:endParaRPr lang="en-US" sz="1120" dirty="0"/>
          </a:p>
        </p:txBody>
      </p:sp>
      <p:sp>
        <p:nvSpPr>
          <p:cNvPr id="25" name="Text 9"/>
          <p:cNvSpPr/>
          <p:nvPr/>
        </p:nvSpPr>
        <p:spPr>
          <a:xfrm>
            <a:off x="1019150" y="4819530"/>
            <a:ext cx="4981070" cy="34289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约</a:t>
            </a:r>
            <a:r>
              <a:rPr lang="en-US" sz="97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105.5万个</a:t>
            </a:r>
            <a:r>
              <a:rPr lang="en-US" sz="97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，构成服务体系的绝对主体。其中村卫生室（56.0万）和诊所（42.4万）占比最高，是服务民众的"第一道防线"。</a:t>
            </a:r>
            <a:endParaRPr lang="en-US" sz="97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189" y="5810105"/>
            <a:ext cx="5657709" cy="561961"/>
          </a:xfrm>
          <a:prstGeom prst="rect">
            <a:avLst/>
          </a:prstGeom>
        </p:spPr>
      </p:pic>
      <p:pic>
        <p:nvPicPr>
          <p:cNvPr id="27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189" y="5972026"/>
            <a:ext cx="104772" cy="133347"/>
          </a:xfrm>
          <a:prstGeom prst="rect">
            <a:avLst/>
          </a:prstGeom>
        </p:spPr>
      </p:pic>
      <p:sp>
        <p:nvSpPr>
          <p:cNvPr id="28" name="Text 10"/>
          <p:cNvSpPr/>
          <p:nvPr/>
        </p:nvSpPr>
        <p:spPr>
          <a:xfrm>
            <a:off x="457189" y="5962501"/>
            <a:ext cx="5419209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庞大的基层机构数量与有限的诊疗能力形成巨大反差，为医疗AI系统提供了广阔的应用空间。</a:t>
            </a:r>
            <a:endParaRPr lang="en-US" sz="1050" dirty="0"/>
          </a:p>
        </p:txBody>
      </p:sp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95888" y="1276318"/>
            <a:ext cx="5238619" cy="5124322"/>
          </a:xfrm>
          <a:prstGeom prst="rect">
            <a:avLst/>
          </a:prstGeom>
        </p:spPr>
      </p:pic>
      <p:sp>
        <p:nvSpPr>
          <p:cNvPr id="30" name="Text 11"/>
          <p:cNvSpPr/>
          <p:nvPr/>
        </p:nvSpPr>
        <p:spPr>
          <a:xfrm>
            <a:off x="6695908" y="1476338"/>
            <a:ext cx="4847723" cy="25716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中国医疗机构数量分布</a:t>
            </a:r>
            <a:endParaRPr lang="en-US" sz="1350" dirty="0"/>
          </a:p>
        </p:txBody>
      </p:sp>
      <p:sp>
        <p:nvSpPr>
          <p:cNvPr id="31" name="Text 12"/>
          <p:cNvSpPr/>
          <p:nvPr/>
        </p:nvSpPr>
        <p:spPr>
          <a:xfrm>
            <a:off x="6695908" y="1771606"/>
            <a:ext cx="4847723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单位：家/个（采用对数坐标展示数量级差异）</a:t>
            </a:r>
            <a:endParaRPr lang="en-US" sz="9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95908" y="2019250"/>
            <a:ext cx="4838579" cy="41813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50481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国家数据中心建设政策</a:t>
            </a:r>
            <a:endParaRPr lang="en-US" sz="31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1000100"/>
            <a:ext cx="761981" cy="38099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266793"/>
            <a:ext cx="304792" cy="304792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13" y="1352516"/>
            <a:ext cx="133347" cy="133347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00080" y="1285843"/>
            <a:ext cx="134261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政策文件与目标</a:t>
            </a:r>
            <a:endParaRPr lang="en-US" sz="150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1800180"/>
            <a:ext cx="5524362" cy="1095348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581010" y="2000200"/>
            <a:ext cx="5133466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核心文件</a:t>
            </a:r>
            <a:endParaRPr lang="en-US" sz="900" dirty="0"/>
          </a:p>
        </p:txBody>
      </p:sp>
      <p:sp>
        <p:nvSpPr>
          <p:cNvPr id="10" name="Text 3"/>
          <p:cNvSpPr/>
          <p:nvPr/>
        </p:nvSpPr>
        <p:spPr>
          <a:xfrm>
            <a:off x="581010" y="2228794"/>
            <a:ext cx="5133466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《国家数据基础设施建设指引》</a:t>
            </a:r>
            <a:endParaRPr lang="en-US" sz="1350" dirty="0"/>
          </a:p>
        </p:txBody>
      </p:sp>
      <p:sp>
        <p:nvSpPr>
          <p:cNvPr id="11" name="Text 4"/>
          <p:cNvSpPr/>
          <p:nvPr/>
        </p:nvSpPr>
        <p:spPr>
          <a:xfrm>
            <a:off x="581010" y="2505012"/>
            <a:ext cx="513346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2025年1月发布</a:t>
            </a:r>
            <a:endParaRPr lang="en-US" sz="105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990" y="3086023"/>
            <a:ext cx="5524362" cy="923902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609585" y="3200320"/>
            <a:ext cx="530491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总体愿景</a:t>
            </a:r>
            <a:endParaRPr lang="en-US" sz="900" dirty="0"/>
          </a:p>
        </p:txBody>
      </p:sp>
      <p:sp>
        <p:nvSpPr>
          <p:cNvPr id="14" name="Text 6"/>
          <p:cNvSpPr/>
          <p:nvPr/>
        </p:nvSpPr>
        <p:spPr>
          <a:xfrm>
            <a:off x="609585" y="3428914"/>
            <a:ext cx="5304912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1E293B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构建</a:t>
            </a:r>
            <a:r>
              <a:rPr lang="en-US" sz="1120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"横向联通、纵向贯通、协调有力"</a:t>
            </a:r>
            <a:r>
              <a:rPr lang="en-US" sz="1120" dirty="0">
                <a:solidFill>
                  <a:srgbClr val="1E293B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的国家级数据基础设施，实现数据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"供得出、流得动、用得好、保安全"</a:t>
            </a:r>
            <a:r>
              <a:rPr lang="en-US" sz="1120" dirty="0">
                <a:solidFill>
                  <a:srgbClr val="1E293B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112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0990" y="5695808"/>
            <a:ext cx="5524362" cy="781030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81010" y="5895828"/>
            <a:ext cx="1209264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投资规模</a:t>
            </a:r>
            <a:endParaRPr lang="en-US" sz="900" dirty="0"/>
          </a:p>
        </p:txBody>
      </p:sp>
      <p:sp>
        <p:nvSpPr>
          <p:cNvPr id="17" name="Text 8"/>
          <p:cNvSpPr/>
          <p:nvPr/>
        </p:nvSpPr>
        <p:spPr>
          <a:xfrm>
            <a:off x="581010" y="6086323"/>
            <a:ext cx="120926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未来五年带动总投资</a:t>
            </a:r>
            <a:endParaRPr lang="en-US" sz="1050" dirty="0"/>
          </a:p>
        </p:txBody>
      </p:sp>
      <p:sp>
        <p:nvSpPr>
          <p:cNvPr id="18" name="Text 9"/>
          <p:cNvSpPr/>
          <p:nvPr/>
        </p:nvSpPr>
        <p:spPr>
          <a:xfrm>
            <a:off x="4867153" y="5895828"/>
            <a:ext cx="856848" cy="38099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27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万亿元</a:t>
            </a:r>
            <a:endParaRPr lang="en-US" sz="2700" dirty="0"/>
          </a:p>
        </p:txBody>
      </p:sp>
      <p:pic>
        <p:nvPicPr>
          <p:cNvPr id="1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6343" y="1266793"/>
            <a:ext cx="304792" cy="304792"/>
          </a:xfrm>
          <a:prstGeom prst="rect">
            <a:avLst/>
          </a:prstGeom>
        </p:spPr>
      </p:pic>
      <p:pic>
        <p:nvPicPr>
          <p:cNvPr id="2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62541" y="1352516"/>
            <a:ext cx="171446" cy="133347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6705432" y="1285843"/>
            <a:ext cx="191409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对医疗行业的具体要求</a:t>
            </a:r>
            <a:endParaRPr lang="en-US" sz="15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86343" y="1762081"/>
            <a:ext cx="5524362" cy="809605"/>
          </a:xfrm>
          <a:prstGeom prst="rect">
            <a:avLst/>
          </a:prstGeom>
        </p:spPr>
      </p:pic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1924002"/>
            <a:ext cx="380990" cy="38099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72086" y="2038299"/>
            <a:ext cx="133347" cy="152396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6981650" y="1924002"/>
            <a:ext cx="467627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数据共享与互认</a:t>
            </a:r>
            <a:endParaRPr lang="en-US" sz="1200" dirty="0"/>
          </a:p>
        </p:txBody>
      </p:sp>
      <p:sp>
        <p:nvSpPr>
          <p:cNvPr id="26" name="Text 12"/>
          <p:cNvSpPr/>
          <p:nvPr/>
        </p:nvSpPr>
        <p:spPr>
          <a:xfrm>
            <a:off x="6981650" y="2190695"/>
            <a:ext cx="467627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推动电子病历数据跨区域、跨机构共享与互认，完善个人健康数据档案制度。</a:t>
            </a:r>
            <a:endParaRPr lang="en-US" sz="1050" dirty="0"/>
          </a:p>
        </p:txBody>
      </p:sp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86343" y="2724082"/>
            <a:ext cx="5524362" cy="1028674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2886003"/>
            <a:ext cx="380990" cy="380990"/>
          </a:xfrm>
          <a:prstGeom prst="rect">
            <a:avLst/>
          </a:prstGeom>
        </p:spPr>
      </p:pic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3036" y="3000300"/>
            <a:ext cx="171446" cy="152396"/>
          </a:xfrm>
          <a:prstGeom prst="rect">
            <a:avLst/>
          </a:prstGeom>
        </p:spPr>
      </p:pic>
      <p:sp>
        <p:nvSpPr>
          <p:cNvPr id="30" name="Text 13"/>
          <p:cNvSpPr/>
          <p:nvPr/>
        </p:nvSpPr>
        <p:spPr>
          <a:xfrm>
            <a:off x="6981650" y="2886003"/>
            <a:ext cx="467627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健康数据融合</a:t>
            </a:r>
            <a:endParaRPr lang="en-US" sz="1200" dirty="0"/>
          </a:p>
        </p:txBody>
      </p:sp>
      <p:sp>
        <p:nvSpPr>
          <p:cNvPr id="31" name="Text 14"/>
          <p:cNvSpPr/>
          <p:nvPr/>
        </p:nvSpPr>
        <p:spPr>
          <a:xfrm>
            <a:off x="6981650" y="3152696"/>
            <a:ext cx="4676277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融合体检、就诊、疾控等多维健康数据，创新基于数据驱动的职业病监测、公共卫生事件预警等服务模式。</a:t>
            </a:r>
            <a:endParaRPr lang="en-US" sz="105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86343" y="3895628"/>
            <a:ext cx="5524362" cy="1028674"/>
          </a:xfrm>
          <a:prstGeom prst="rect">
            <a:avLst/>
          </a:prstGeom>
        </p:spPr>
      </p:pic>
      <p:pic>
        <p:nvPicPr>
          <p:cNvPr id="33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4057549"/>
            <a:ext cx="380990" cy="380990"/>
          </a:xfrm>
          <a:prstGeom prst="rect">
            <a:avLst/>
          </a:prstGeom>
        </p:spPr>
      </p:pic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62561" y="4171846"/>
            <a:ext cx="152396" cy="152396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6981650" y="4057549"/>
            <a:ext cx="467627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数据与安全保障</a:t>
            </a:r>
            <a:endParaRPr lang="en-US" sz="1200" dirty="0"/>
          </a:p>
        </p:txBody>
      </p:sp>
      <p:sp>
        <p:nvSpPr>
          <p:cNvPr id="36" name="Text 16"/>
          <p:cNvSpPr/>
          <p:nvPr/>
        </p:nvSpPr>
        <p:spPr>
          <a:xfrm>
            <a:off x="6981650" y="4324242"/>
            <a:ext cx="4676277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建立卫生健康行业高质量数据集，构建可信数据空间，完善数据隐私保护机制，推进医疗数据安全合规利用。</a:t>
            </a:r>
            <a:endParaRPr lang="en-US" sz="105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86343" y="5981550"/>
            <a:ext cx="5524362" cy="495288"/>
          </a:xfrm>
          <a:prstGeom prst="rect">
            <a:avLst/>
          </a:prstGeom>
        </p:spPr>
      </p:pic>
      <p:pic>
        <p:nvPicPr>
          <p:cNvPr id="38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38739" y="6152996"/>
            <a:ext cx="152396" cy="152396"/>
          </a:xfrm>
          <a:prstGeom prst="rect">
            <a:avLst/>
          </a:prstGeom>
        </p:spPr>
      </p:pic>
      <p:sp>
        <p:nvSpPr>
          <p:cNvPr id="39" name="Text 17"/>
          <p:cNvSpPr/>
          <p:nvPr/>
        </p:nvSpPr>
        <p:spPr>
          <a:xfrm>
            <a:off x="6705432" y="6133947"/>
            <a:ext cx="21426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政策驱动医疗数据要素化与价值释放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50481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基层AI医疗应用政策</a:t>
            </a:r>
            <a:endParaRPr lang="en-US" sz="31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1000100"/>
            <a:ext cx="914377" cy="38099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342991"/>
            <a:ext cx="304792" cy="304792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63" y="1428714"/>
            <a:ext cx="104772" cy="133347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00080" y="1362041"/>
            <a:ext cx="134261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政策文件与目标</a:t>
            </a:r>
            <a:endParaRPr lang="en-US" sz="150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1876378"/>
            <a:ext cx="5562461" cy="1133447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581010" y="2076398"/>
            <a:ext cx="517156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核心文件</a:t>
            </a:r>
            <a:endParaRPr lang="en-US" sz="900" dirty="0"/>
          </a:p>
        </p:txBody>
      </p:sp>
      <p:sp>
        <p:nvSpPr>
          <p:cNvPr id="10" name="Text 3"/>
          <p:cNvSpPr/>
          <p:nvPr/>
        </p:nvSpPr>
        <p:spPr>
          <a:xfrm>
            <a:off x="581010" y="2304992"/>
            <a:ext cx="5171565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《关于促进和规范"人工智能+医疗卫生"应用发展的实施意见》</a:t>
            </a:r>
            <a:endParaRPr lang="en-US" sz="1350" dirty="0"/>
          </a:p>
        </p:txBody>
      </p:sp>
      <p:sp>
        <p:nvSpPr>
          <p:cNvPr id="11" name="Text 4"/>
          <p:cNvSpPr/>
          <p:nvPr/>
        </p:nvSpPr>
        <p:spPr>
          <a:xfrm>
            <a:off x="581010" y="2619310"/>
            <a:ext cx="517156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国卫办规划发〔2025〕30号</a:t>
            </a:r>
            <a:endParaRPr lang="en-US" sz="105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990" y="3238419"/>
            <a:ext cx="5562461" cy="1171546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609585" y="3400340"/>
            <a:ext cx="52348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2027</a:t>
            </a:r>
            <a:endParaRPr lang="en-US" sz="1800" dirty="0"/>
          </a:p>
        </p:txBody>
      </p:sp>
      <p:sp>
        <p:nvSpPr>
          <p:cNvPr id="14" name="Text 6"/>
          <p:cNvSpPr/>
          <p:nvPr/>
        </p:nvSpPr>
        <p:spPr>
          <a:xfrm>
            <a:off x="1200120" y="3476538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近期目标</a:t>
            </a:r>
            <a:endParaRPr lang="en-US" sz="900" dirty="0"/>
          </a:p>
        </p:txBody>
      </p:sp>
      <p:sp>
        <p:nvSpPr>
          <p:cNvPr id="15" name="Text 7"/>
          <p:cNvSpPr/>
          <p:nvPr/>
        </p:nvSpPr>
        <p:spPr>
          <a:xfrm>
            <a:off x="609585" y="3781330"/>
            <a:ext cx="5333486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建立卫生健康行业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高质量数据集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，形成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临床专病专科垂直大模型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，基层诊疗智能辅助广泛应用。</a:t>
            </a:r>
            <a:endParaRPr lang="en-US" sz="1120" dirty="0"/>
          </a:p>
        </p:txBody>
      </p:sp>
      <p:pic>
        <p:nvPicPr>
          <p:cNvPr id="16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0990" y="4552836"/>
            <a:ext cx="5562461" cy="1171546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609585" y="4714757"/>
            <a:ext cx="52348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2030</a:t>
            </a:r>
            <a:endParaRPr lang="en-US" sz="1800" dirty="0"/>
          </a:p>
        </p:txBody>
      </p:sp>
      <p:sp>
        <p:nvSpPr>
          <p:cNvPr id="18" name="Text 9"/>
          <p:cNvSpPr/>
          <p:nvPr/>
        </p:nvSpPr>
        <p:spPr>
          <a:xfrm>
            <a:off x="1200120" y="4790955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远期目标</a:t>
            </a:r>
            <a:endParaRPr lang="en-US" sz="900" dirty="0"/>
          </a:p>
        </p:txBody>
      </p:sp>
      <p:sp>
        <p:nvSpPr>
          <p:cNvPr id="19" name="Text 10"/>
          <p:cNvSpPr/>
          <p:nvPr/>
        </p:nvSpPr>
        <p:spPr>
          <a:xfrm>
            <a:off x="609585" y="5095748"/>
            <a:ext cx="5333486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基层诊疗智能辅助应用基本实现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全覆盖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，二级以上医院普遍开展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医学影像智能辅助诊断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112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244" y="1342991"/>
            <a:ext cx="304792" cy="304792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3967" y="1428714"/>
            <a:ext cx="133347" cy="133347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6667333" y="1362041"/>
            <a:ext cx="134261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主要任务与要求</a:t>
            </a:r>
            <a:endParaRPr lang="en-US" sz="1500" dirty="0"/>
          </a:p>
        </p:txBody>
      </p:sp>
      <p:pic>
        <p:nvPicPr>
          <p:cNvPr id="23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244" y="1876378"/>
            <a:ext cx="5562461" cy="1209645"/>
          </a:xfrm>
          <a:prstGeom prst="rect">
            <a:avLst/>
          </a:prstGeom>
        </p:spPr>
      </p:pic>
      <p:pic>
        <p:nvPicPr>
          <p:cNvPr id="24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2076398"/>
            <a:ext cx="457189" cy="457189"/>
          </a:xfrm>
          <a:prstGeom prst="rect">
            <a:avLst/>
          </a:prstGeom>
        </p:spPr>
      </p:pic>
      <p:pic>
        <p:nvPicPr>
          <p:cNvPr id="25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10185" y="2219270"/>
            <a:ext cx="152396" cy="171446"/>
          </a:xfrm>
          <a:prstGeom prst="rect">
            <a:avLst/>
          </a:prstGeom>
        </p:spPr>
      </p:pic>
      <p:sp>
        <p:nvSpPr>
          <p:cNvPr id="26" name="Text 12"/>
          <p:cNvSpPr/>
          <p:nvPr/>
        </p:nvSpPr>
        <p:spPr>
          <a:xfrm>
            <a:off x="7057849" y="2076398"/>
            <a:ext cx="456198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智能辅助诊疗</a:t>
            </a:r>
            <a:endParaRPr lang="en-US" sz="1350" dirty="0"/>
          </a:p>
        </p:txBody>
      </p:sp>
      <p:sp>
        <p:nvSpPr>
          <p:cNvPr id="27" name="Text 13"/>
          <p:cNvSpPr/>
          <p:nvPr/>
        </p:nvSpPr>
        <p:spPr>
          <a:xfrm>
            <a:off x="7057849" y="2419290"/>
            <a:ext cx="4561980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开发面向基层</a:t>
            </a:r>
            <a:r>
              <a:rPr lang="en-US" sz="1120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常见病、多发病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的智能辅助诊疗系统，提供辅助诊断、处方审核、随访管理等服务。</a:t>
            </a:r>
            <a:endParaRPr lang="en-US" sz="1120" dirty="0"/>
          </a:p>
        </p:txBody>
      </p:sp>
      <p:pic>
        <p:nvPicPr>
          <p:cNvPr id="28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48244" y="3238419"/>
            <a:ext cx="5562461" cy="1209645"/>
          </a:xfrm>
          <a:prstGeom prst="rect">
            <a:avLst/>
          </a:prstGeom>
        </p:spPr>
      </p:pic>
      <p:pic>
        <p:nvPicPr>
          <p:cNvPr id="29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3438439"/>
            <a:ext cx="457189" cy="457189"/>
          </a:xfrm>
          <a:prstGeom prst="rect">
            <a:avLst/>
          </a:prstGeom>
        </p:spPr>
      </p:pic>
      <p:pic>
        <p:nvPicPr>
          <p:cNvPr id="30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81610" y="3581310"/>
            <a:ext cx="200020" cy="171446"/>
          </a:xfrm>
          <a:prstGeom prst="rect">
            <a:avLst/>
          </a:prstGeom>
        </p:spPr>
      </p:pic>
      <p:sp>
        <p:nvSpPr>
          <p:cNvPr id="31" name="Text 14"/>
          <p:cNvSpPr/>
          <p:nvPr/>
        </p:nvSpPr>
        <p:spPr>
          <a:xfrm>
            <a:off x="7057849" y="3438439"/>
            <a:ext cx="456198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智慧县域医共体</a:t>
            </a:r>
            <a:endParaRPr lang="en-US" sz="1350" dirty="0"/>
          </a:p>
        </p:txBody>
      </p:sp>
      <p:sp>
        <p:nvSpPr>
          <p:cNvPr id="32" name="Text 15"/>
          <p:cNvSpPr/>
          <p:nvPr/>
        </p:nvSpPr>
        <p:spPr>
          <a:xfrm>
            <a:off x="7057849" y="3781330"/>
            <a:ext cx="4561980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建设</a:t>
            </a:r>
            <a:r>
              <a:rPr lang="en-US" sz="1120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紧密型县域医共体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智能应用，强化医学影像、心电、检验等资源共享中心。</a:t>
            </a:r>
            <a:endParaRPr lang="en-US" sz="1120" dirty="0"/>
          </a:p>
        </p:txBody>
      </p:sp>
      <p:pic>
        <p:nvPicPr>
          <p:cNvPr id="33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48244" y="4590935"/>
            <a:ext cx="5562461" cy="1209645"/>
          </a:xfrm>
          <a:prstGeom prst="rect">
            <a:avLst/>
          </a:prstGeom>
        </p:spPr>
      </p:pic>
      <p:pic>
        <p:nvPicPr>
          <p:cNvPr id="34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4790955"/>
            <a:ext cx="457189" cy="457189"/>
          </a:xfrm>
          <a:prstGeom prst="rect">
            <a:avLst/>
          </a:prstGeom>
        </p:spPr>
      </p:pic>
      <p:pic>
        <p:nvPicPr>
          <p:cNvPr id="35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81610" y="4933827"/>
            <a:ext cx="200020" cy="171446"/>
          </a:xfrm>
          <a:prstGeom prst="rect">
            <a:avLst/>
          </a:prstGeom>
        </p:spPr>
      </p:pic>
      <p:sp>
        <p:nvSpPr>
          <p:cNvPr id="36" name="Text 16"/>
          <p:cNvSpPr/>
          <p:nvPr/>
        </p:nvSpPr>
        <p:spPr>
          <a:xfrm>
            <a:off x="7057849" y="4790955"/>
            <a:ext cx="456198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慢病管理创新</a:t>
            </a:r>
            <a:endParaRPr lang="en-US" sz="1350" dirty="0"/>
          </a:p>
        </p:txBody>
      </p:sp>
      <p:sp>
        <p:nvSpPr>
          <p:cNvPr id="37" name="Text 17"/>
          <p:cNvSpPr/>
          <p:nvPr/>
        </p:nvSpPr>
        <p:spPr>
          <a:xfrm>
            <a:off x="7057849" y="5133847"/>
            <a:ext cx="4561980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建立</a:t>
            </a:r>
            <a:r>
              <a:rPr lang="en-US" sz="1120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智能慢性病管理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和个人健康画像应用，推动居民电子健康档案向个人开放。</a:t>
            </a:r>
            <a:endParaRPr lang="en-US" sz="11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契合数据中心建设要求</a:t>
            </a:r>
            <a:endParaRPr lang="en-US" sz="30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971526"/>
            <a:ext cx="761981" cy="3809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80990" y="1123922"/>
            <a:ext cx="11438858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本项目在数据标准、安全规范、互联互通三大核心维度上，全面响应国家数据中心建设政策要求。</a:t>
            </a:r>
            <a:endParaRPr lang="en-US" sz="12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676358"/>
            <a:ext cx="380990" cy="380990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812" y="1790655"/>
            <a:ext cx="133347" cy="152396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876278" y="1733507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数据标准</a:t>
            </a:r>
            <a:endParaRPr lang="en-US" sz="1500" dirty="0"/>
          </a:p>
        </p:txBody>
      </p:sp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2247844"/>
            <a:ext cx="3657509" cy="3505112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010" y="2447864"/>
            <a:ext cx="3257469" cy="962001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771506" y="2447864"/>
            <a:ext cx="307611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三层质控体系</a:t>
            </a:r>
            <a:endParaRPr lang="en-US" sz="1200" dirty="0"/>
          </a:p>
        </p:txBody>
      </p:sp>
      <p:sp>
        <p:nvSpPr>
          <p:cNvPr id="12" name="Text 4"/>
          <p:cNvSpPr/>
          <p:nvPr/>
        </p:nvSpPr>
        <p:spPr>
          <a:xfrm>
            <a:off x="771506" y="2752656"/>
            <a:ext cx="3076117" cy="65720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采用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国家卫健委强制标准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、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临床指南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、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专家共识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三层质控，共</a:t>
            </a:r>
            <a:r>
              <a:rPr lang="en-US" sz="10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35项指标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，与建立"高质量数据集"要求一致。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010" y="3562261"/>
            <a:ext cx="3257469" cy="904852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3" y="1676358"/>
            <a:ext cx="380990" cy="380990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1390" y="1790655"/>
            <a:ext cx="152396" cy="152396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4762381" y="1733507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安全规范</a:t>
            </a:r>
            <a:endParaRPr lang="en-US" sz="1500" dirty="0"/>
          </a:p>
        </p:txBody>
      </p:sp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3" y="2247844"/>
            <a:ext cx="3657509" cy="3505112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7113" y="2447864"/>
            <a:ext cx="3257469" cy="962001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4657609" y="2447864"/>
            <a:ext cx="307611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区域AI服务中心</a:t>
            </a:r>
            <a:endParaRPr lang="en-US" sz="1200" dirty="0"/>
          </a:p>
        </p:txBody>
      </p:sp>
      <p:sp>
        <p:nvSpPr>
          <p:cNvPr id="23" name="Text 9"/>
          <p:cNvSpPr/>
          <p:nvPr/>
        </p:nvSpPr>
        <p:spPr>
          <a:xfrm>
            <a:off x="4657609" y="2752656"/>
            <a:ext cx="3076117" cy="65720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构建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区域AI服务中心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，统一模型、质控与数据，避免数据孤岛，契合"横向联通、纵向贯通"的基础设施要求。</a:t>
            </a:r>
            <a:endParaRPr lang="en-US" sz="105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67113" y="3562261"/>
            <a:ext cx="3257469" cy="1123922"/>
          </a:xfrm>
          <a:prstGeom prst="rect">
            <a:avLst/>
          </a:prstGeom>
        </p:spPr>
      </p:pic>
      <p:pic>
        <p:nvPicPr>
          <p:cNvPr id="25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67113" y="3771806"/>
            <a:ext cx="171446" cy="133347"/>
          </a:xfrm>
          <a:prstGeom prst="rect">
            <a:avLst/>
          </a:prstGeom>
        </p:spPr>
      </p:pic>
      <p:sp>
        <p:nvSpPr>
          <p:cNvPr id="26" name="Text 10"/>
          <p:cNvSpPr/>
          <p:nvPr/>
        </p:nvSpPr>
        <p:spPr>
          <a:xfrm>
            <a:off x="4714757" y="3752756"/>
            <a:ext cx="1075917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轻量化安全部署</a:t>
            </a:r>
            <a:endParaRPr lang="en-US" sz="1200" dirty="0"/>
          </a:p>
        </p:txBody>
      </p:sp>
      <p:sp>
        <p:nvSpPr>
          <p:cNvPr id="27" name="Text 11"/>
          <p:cNvSpPr/>
          <p:nvPr/>
        </p:nvSpPr>
        <p:spPr>
          <a:xfrm>
            <a:off x="4467113" y="4028974"/>
            <a:ext cx="3266613" cy="65720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采用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轻量化Docker部署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，敏感数据在县域统一出口加密传输，满足"隐私保护计算、可信数据空间"要求。</a:t>
            </a:r>
            <a:endParaRPr lang="en-US" sz="1050" dirty="0"/>
          </a:p>
        </p:txBody>
      </p:sp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3196" y="1676358"/>
            <a:ext cx="380990" cy="380990"/>
          </a:xfrm>
          <a:prstGeom prst="rect">
            <a:avLst/>
          </a:prstGeom>
        </p:spPr>
      </p:pic>
      <p:pic>
        <p:nvPicPr>
          <p:cNvPr id="29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8444" y="1790655"/>
            <a:ext cx="190495" cy="152396"/>
          </a:xfrm>
          <a:prstGeom prst="rect">
            <a:avLst/>
          </a:prstGeom>
        </p:spPr>
      </p:pic>
      <p:sp>
        <p:nvSpPr>
          <p:cNvPr id="30" name="Text 12"/>
          <p:cNvSpPr/>
          <p:nvPr/>
        </p:nvSpPr>
        <p:spPr>
          <a:xfrm>
            <a:off x="8648484" y="1733507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互联互通</a:t>
            </a:r>
            <a:endParaRPr lang="en-US" sz="1500" dirty="0"/>
          </a:p>
        </p:txBody>
      </p:sp>
      <p:pic>
        <p:nvPicPr>
          <p:cNvPr id="31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3196" y="2247844"/>
            <a:ext cx="3657509" cy="3505112"/>
          </a:xfrm>
          <a:prstGeom prst="rect">
            <a:avLst/>
          </a:prstGeom>
        </p:spPr>
      </p:pic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53216" y="2447864"/>
            <a:ext cx="3257469" cy="742931"/>
          </a:xfrm>
          <a:prstGeom prst="rect">
            <a:avLst/>
          </a:prstGeom>
        </p:spPr>
      </p:pic>
      <p:sp>
        <p:nvSpPr>
          <p:cNvPr id="33" name="Text 13"/>
          <p:cNvSpPr/>
          <p:nvPr/>
        </p:nvSpPr>
        <p:spPr>
          <a:xfrm>
            <a:off x="8543711" y="2447864"/>
            <a:ext cx="307611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1+N星形网络</a:t>
            </a:r>
            <a:endParaRPr lang="en-US" sz="1200" dirty="0"/>
          </a:p>
        </p:txBody>
      </p:sp>
      <p:sp>
        <p:nvSpPr>
          <p:cNvPr id="34" name="Text 14"/>
          <p:cNvSpPr/>
          <p:nvPr/>
        </p:nvSpPr>
        <p:spPr>
          <a:xfrm>
            <a:off x="8543711" y="2752656"/>
            <a:ext cx="3076117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部署"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1个县级牵头医院+N家乡镇卫生院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"的星形网络。</a:t>
            </a:r>
            <a:endParaRPr lang="en-US" sz="1050" dirty="0"/>
          </a:p>
        </p:txBody>
      </p:sp>
      <p:pic>
        <p:nvPicPr>
          <p:cNvPr id="35" name="Image 1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3216" y="3343191"/>
            <a:ext cx="3257469" cy="904852"/>
          </a:xfrm>
          <a:prstGeom prst="rect">
            <a:avLst/>
          </a:prstGeom>
        </p:spPr>
      </p:pic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53216" y="3552736"/>
            <a:ext cx="133347" cy="133347"/>
          </a:xfrm>
          <a:prstGeom prst="rect">
            <a:avLst/>
          </a:prstGeom>
        </p:spPr>
      </p:pic>
      <p:sp>
        <p:nvSpPr>
          <p:cNvPr id="37" name="Text 15"/>
          <p:cNvSpPr/>
          <p:nvPr/>
        </p:nvSpPr>
        <p:spPr>
          <a:xfrm>
            <a:off x="8562761" y="3533687"/>
            <a:ext cx="923521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东数西算对接</a:t>
            </a:r>
            <a:endParaRPr lang="en-US" sz="1200" dirty="0"/>
          </a:p>
        </p:txBody>
      </p:sp>
      <p:sp>
        <p:nvSpPr>
          <p:cNvPr id="38" name="Text 16"/>
          <p:cNvSpPr/>
          <p:nvPr/>
        </p:nvSpPr>
        <p:spPr>
          <a:xfrm>
            <a:off x="8353216" y="3809905"/>
            <a:ext cx="3266613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对应"东数西算"工程中"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打通国家枢纽节点与非枢纽节点间网络主干道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"的技术路线。</a:t>
            </a:r>
            <a:endParaRPr lang="en-US" sz="1050" dirty="0"/>
          </a:p>
        </p:txBody>
      </p:sp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0990" y="5981550"/>
            <a:ext cx="11429714" cy="495288"/>
          </a:xfrm>
          <a:prstGeom prst="rect">
            <a:avLst/>
          </a:prstGeom>
        </p:spPr>
      </p:pic>
      <p:pic>
        <p:nvPicPr>
          <p:cNvPr id="40" name="Image 2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857429" y="6152996"/>
            <a:ext cx="152396" cy="152396"/>
          </a:xfrm>
          <a:prstGeom prst="rect">
            <a:avLst/>
          </a:prstGeom>
        </p:spPr>
      </p:pic>
      <p:sp>
        <p:nvSpPr>
          <p:cNvPr id="41" name="Text 17"/>
          <p:cNvSpPr/>
          <p:nvPr/>
        </p:nvSpPr>
        <p:spPr>
          <a:xfrm>
            <a:off x="3086023" y="6133947"/>
            <a:ext cx="294277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全面响应《国家数据基础设施建设指引》政策要求</a:t>
            </a:r>
            <a:endParaRPr lang="en-US" sz="1050" dirty="0"/>
          </a:p>
        </p:txBody>
      </p:sp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48244" y="6152996"/>
            <a:ext cx="9525" cy="152396"/>
          </a:xfrm>
          <a:prstGeom prst="rect">
            <a:avLst/>
          </a:prstGeom>
        </p:spPr>
      </p:pic>
      <p:pic>
        <p:nvPicPr>
          <p:cNvPr id="43" name="Image 2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86363" y="6152996"/>
            <a:ext cx="152396" cy="152396"/>
          </a:xfrm>
          <a:prstGeom prst="rect">
            <a:avLst/>
          </a:prstGeom>
        </p:spPr>
      </p:pic>
      <p:sp>
        <p:nvSpPr>
          <p:cNvPr id="44" name="Text 18"/>
          <p:cNvSpPr/>
          <p:nvPr/>
        </p:nvSpPr>
        <p:spPr>
          <a:xfrm>
            <a:off x="6714957" y="6133947"/>
            <a:ext cx="2637978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实现数据"供得出、流得动、用得好、保安全"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满足基层AI应用需求</a:t>
            </a:r>
            <a:endParaRPr lang="en-US" sz="30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971526"/>
            <a:ext cx="914377" cy="38099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200120"/>
            <a:ext cx="304792" cy="304792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13" y="1285843"/>
            <a:ext cx="133347" cy="133347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00080" y="1219170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150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1695408"/>
            <a:ext cx="5619610" cy="1543011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911" y="1914477"/>
            <a:ext cx="133347" cy="152396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752456" y="1857329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时间节点</a:t>
            </a:r>
            <a:endParaRPr lang="en-US" sz="1350" dirty="0"/>
          </a:p>
        </p:txBody>
      </p:sp>
      <p:sp>
        <p:nvSpPr>
          <p:cNvPr id="11" name="Text 3"/>
          <p:cNvSpPr/>
          <p:nvPr/>
        </p:nvSpPr>
        <p:spPr>
          <a:xfrm>
            <a:off x="542911" y="2257369"/>
            <a:ext cx="31393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2027</a:t>
            </a:r>
            <a:endParaRPr lang="en-US" sz="1050" dirty="0"/>
          </a:p>
        </p:txBody>
      </p:sp>
      <p:sp>
        <p:nvSpPr>
          <p:cNvPr id="12" name="Text 4"/>
          <p:cNvSpPr/>
          <p:nvPr/>
        </p:nvSpPr>
        <p:spPr>
          <a:xfrm>
            <a:off x="923902" y="2238319"/>
            <a:ext cx="1437858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基层智能辅助广泛应用</a:t>
            </a:r>
            <a:endParaRPr lang="en-US" sz="1120" dirty="0"/>
          </a:p>
        </p:txBody>
      </p:sp>
      <p:sp>
        <p:nvSpPr>
          <p:cNvPr id="13" name="Text 5"/>
          <p:cNvSpPr/>
          <p:nvPr/>
        </p:nvSpPr>
        <p:spPr>
          <a:xfrm>
            <a:off x="542911" y="2571686"/>
            <a:ext cx="31393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2030</a:t>
            </a:r>
            <a:endParaRPr lang="en-US" sz="1050" dirty="0"/>
          </a:p>
        </p:txBody>
      </p:sp>
      <p:sp>
        <p:nvSpPr>
          <p:cNvPr id="14" name="Text 6"/>
          <p:cNvSpPr/>
          <p:nvPr/>
        </p:nvSpPr>
        <p:spPr>
          <a:xfrm>
            <a:off x="923902" y="2552636"/>
            <a:ext cx="1009244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基本实现全覆盖</a:t>
            </a:r>
            <a:endParaRPr lang="en-US" sz="112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3352716"/>
            <a:ext cx="5619610" cy="1543011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2911" y="3571786"/>
            <a:ext cx="152396" cy="152396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771506" y="3514637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核心任务</a:t>
            </a:r>
            <a:endParaRPr lang="en-US" sz="1350" dirty="0"/>
          </a:p>
        </p:txBody>
      </p:sp>
      <p:sp>
        <p:nvSpPr>
          <p:cNvPr id="18" name="Text 8"/>
          <p:cNvSpPr/>
          <p:nvPr/>
        </p:nvSpPr>
        <p:spPr>
          <a:xfrm>
            <a:off x="542911" y="3895628"/>
            <a:ext cx="5304912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开发面向基层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常见病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的智能辅助诊疗系统，提供辅助诊疗、处方审核、随访管理等服务。</a:t>
            </a:r>
            <a:endParaRPr lang="en-US" sz="112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5000500"/>
            <a:ext cx="5619610" cy="1543011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2911" y="5219570"/>
            <a:ext cx="190495" cy="152396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809605" y="5162421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应用场景</a:t>
            </a:r>
            <a:endParaRPr lang="en-US" sz="1350" dirty="0"/>
          </a:p>
        </p:txBody>
      </p:sp>
      <p:sp>
        <p:nvSpPr>
          <p:cNvPr id="22" name="Text 10"/>
          <p:cNvSpPr/>
          <p:nvPr/>
        </p:nvSpPr>
        <p:spPr>
          <a:xfrm>
            <a:off x="542911" y="5543411"/>
            <a:ext cx="530491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• 智慧县域医共体建设</a:t>
            </a:r>
            <a:endParaRPr lang="en-US" sz="1120" dirty="0"/>
          </a:p>
        </p:txBody>
      </p:sp>
      <p:sp>
        <p:nvSpPr>
          <p:cNvPr id="23" name="Text 11"/>
          <p:cNvSpPr/>
          <p:nvPr/>
        </p:nvSpPr>
        <p:spPr>
          <a:xfrm>
            <a:off x="542911" y="5848204"/>
            <a:ext cx="530491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• 基层医疗卫生机构智慧化</a:t>
            </a:r>
            <a:endParaRPr lang="en-US" sz="1120" dirty="0"/>
          </a:p>
        </p:txBody>
      </p:sp>
      <p:pic>
        <p:nvPicPr>
          <p:cNvPr id="24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1095" y="1200120"/>
            <a:ext cx="304792" cy="304792"/>
          </a:xfrm>
          <a:prstGeom prst="rect">
            <a:avLst/>
          </a:prstGeom>
        </p:spPr>
      </p:pic>
      <p:pic>
        <p:nvPicPr>
          <p:cNvPr id="25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76818" y="1285843"/>
            <a:ext cx="133347" cy="133347"/>
          </a:xfrm>
          <a:prstGeom prst="rect">
            <a:avLst/>
          </a:prstGeom>
        </p:spPr>
      </p:pic>
      <p:sp>
        <p:nvSpPr>
          <p:cNvPr id="26" name="Text 12"/>
          <p:cNvSpPr/>
          <p:nvPr/>
        </p:nvSpPr>
        <p:spPr>
          <a:xfrm>
            <a:off x="6610185" y="1219170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项目实现</a:t>
            </a:r>
            <a:endParaRPr lang="en-US" sz="1500" dirty="0"/>
          </a:p>
        </p:txBody>
      </p:sp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91095" y="1695408"/>
            <a:ext cx="5619610" cy="1562061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1590" y="1914477"/>
            <a:ext cx="152396" cy="152396"/>
          </a:xfrm>
          <a:prstGeom prst="rect">
            <a:avLst/>
          </a:prstGeom>
        </p:spPr>
      </p:pic>
      <p:sp>
        <p:nvSpPr>
          <p:cNvPr id="29" name="Text 13"/>
          <p:cNvSpPr/>
          <p:nvPr/>
        </p:nvSpPr>
        <p:spPr>
          <a:xfrm>
            <a:off x="6610185" y="1857329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实施路径</a:t>
            </a:r>
            <a:endParaRPr lang="en-US" sz="1350" dirty="0"/>
          </a:p>
        </p:txBody>
      </p:sp>
      <p:pic>
        <p:nvPicPr>
          <p:cNvPr id="30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2314517"/>
            <a:ext cx="57149" cy="57149"/>
          </a:xfrm>
          <a:prstGeom prst="rect">
            <a:avLst/>
          </a:prstGeom>
        </p:spPr>
      </p:pic>
      <p:sp>
        <p:nvSpPr>
          <p:cNvPr id="31" name="Text 14"/>
          <p:cNvSpPr/>
          <p:nvPr/>
        </p:nvSpPr>
        <p:spPr>
          <a:xfrm>
            <a:off x="6514937" y="2238319"/>
            <a:ext cx="1580730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2027年前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完成县域全覆盖</a:t>
            </a:r>
            <a:endParaRPr lang="en-US" sz="112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2628834"/>
            <a:ext cx="57149" cy="57149"/>
          </a:xfrm>
          <a:prstGeom prst="rect">
            <a:avLst/>
          </a:prstGeom>
        </p:spPr>
      </p:pic>
      <p:sp>
        <p:nvSpPr>
          <p:cNvPr id="33" name="Text 15"/>
          <p:cNvSpPr/>
          <p:nvPr/>
        </p:nvSpPr>
        <p:spPr>
          <a:xfrm>
            <a:off x="6514937" y="2552636"/>
            <a:ext cx="2114116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2030年前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覆盖全国</a:t>
            </a:r>
            <a:r>
              <a:rPr lang="en-US" sz="112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104万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基层机构</a:t>
            </a:r>
            <a:endParaRPr lang="en-US" sz="1120" dirty="0"/>
          </a:p>
        </p:txBody>
      </p:sp>
      <p:pic>
        <p:nvPicPr>
          <p:cNvPr id="34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2933627"/>
            <a:ext cx="57149" cy="57149"/>
          </a:xfrm>
          <a:prstGeom prst="rect">
            <a:avLst/>
          </a:prstGeom>
        </p:spPr>
      </p:pic>
      <p:sp>
        <p:nvSpPr>
          <p:cNvPr id="35" name="Text 16"/>
          <p:cNvSpPr/>
          <p:nvPr/>
        </p:nvSpPr>
        <p:spPr>
          <a:xfrm>
            <a:off x="6514937" y="2857429"/>
            <a:ext cx="188552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数万元/机构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"低成本快速复制</a:t>
            </a:r>
            <a:endParaRPr lang="en-US" sz="1120" dirty="0"/>
          </a:p>
        </p:txBody>
      </p:sp>
      <p:pic>
        <p:nvPicPr>
          <p:cNvPr id="36" name="Image 17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91095" y="3371766"/>
            <a:ext cx="5619610" cy="1809705"/>
          </a:xfrm>
          <a:prstGeom prst="rect">
            <a:avLst/>
          </a:prstGeom>
        </p:spPr>
      </p:pic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81590" y="3590835"/>
            <a:ext cx="171446" cy="152396"/>
          </a:xfrm>
          <a:prstGeom prst="rect">
            <a:avLst/>
          </a:prstGeom>
        </p:spPr>
      </p:pic>
      <p:sp>
        <p:nvSpPr>
          <p:cNvPr id="38" name="Text 17"/>
          <p:cNvSpPr/>
          <p:nvPr/>
        </p:nvSpPr>
        <p:spPr>
          <a:xfrm>
            <a:off x="6629234" y="3533687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功能覆盖</a:t>
            </a:r>
            <a:endParaRPr lang="en-US" sz="1350" dirty="0"/>
          </a:p>
        </p:txBody>
      </p:sp>
      <p:sp>
        <p:nvSpPr>
          <p:cNvPr id="39" name="Text 18"/>
          <p:cNvSpPr/>
          <p:nvPr/>
        </p:nvSpPr>
        <p:spPr>
          <a:xfrm>
            <a:off x="6381590" y="3933727"/>
            <a:ext cx="2758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全科</a:t>
            </a:r>
            <a:endParaRPr lang="en-US" sz="1050" dirty="0"/>
          </a:p>
        </p:txBody>
      </p:sp>
      <p:sp>
        <p:nvSpPr>
          <p:cNvPr id="40" name="Text 19"/>
          <p:cNvSpPr/>
          <p:nvPr/>
        </p:nvSpPr>
        <p:spPr>
          <a:xfrm>
            <a:off x="6724482" y="3914677"/>
            <a:ext cx="2437958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辅助诊断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：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92%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符合率的心内科大模型</a:t>
            </a:r>
            <a:endParaRPr lang="en-US" sz="1120" dirty="0"/>
          </a:p>
        </p:txBody>
      </p:sp>
      <p:sp>
        <p:nvSpPr>
          <p:cNvPr id="41" name="Text 20"/>
          <p:cNvSpPr/>
          <p:nvPr/>
        </p:nvSpPr>
        <p:spPr>
          <a:xfrm>
            <a:off x="6381590" y="4219470"/>
            <a:ext cx="2758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处方</a:t>
            </a:r>
            <a:endParaRPr lang="en-US" sz="1050" dirty="0"/>
          </a:p>
        </p:txBody>
      </p:sp>
      <p:sp>
        <p:nvSpPr>
          <p:cNvPr id="42" name="Text 21"/>
          <p:cNvSpPr/>
          <p:nvPr/>
        </p:nvSpPr>
        <p:spPr>
          <a:xfrm>
            <a:off x="6724482" y="4200420"/>
            <a:ext cx="2866573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处方审核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：实时比对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35项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质控指标并弹窗提示</a:t>
            </a:r>
            <a:endParaRPr lang="en-US" sz="1120" dirty="0"/>
          </a:p>
        </p:txBody>
      </p:sp>
      <p:sp>
        <p:nvSpPr>
          <p:cNvPr id="43" name="Text 22"/>
          <p:cNvSpPr/>
          <p:nvPr/>
        </p:nvSpPr>
        <p:spPr>
          <a:xfrm>
            <a:off x="6381590" y="4505212"/>
            <a:ext cx="2758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随访</a:t>
            </a:r>
            <a:endParaRPr lang="en-US" sz="1050" dirty="0"/>
          </a:p>
        </p:txBody>
      </p:sp>
      <p:sp>
        <p:nvSpPr>
          <p:cNvPr id="44" name="Text 23"/>
          <p:cNvSpPr/>
          <p:nvPr/>
        </p:nvSpPr>
        <p:spPr>
          <a:xfrm>
            <a:off x="6724482" y="4486163"/>
            <a:ext cx="3009444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随访管理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：自动生成随访计划与个性化干预建议</a:t>
            </a:r>
            <a:endParaRPr lang="en-US" sz="1120" dirty="0"/>
          </a:p>
        </p:txBody>
      </p:sp>
      <p:sp>
        <p:nvSpPr>
          <p:cNvPr id="45" name="Text 24"/>
          <p:cNvSpPr/>
          <p:nvPr/>
        </p:nvSpPr>
        <p:spPr>
          <a:xfrm>
            <a:off x="6381590" y="4800480"/>
            <a:ext cx="2758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中医</a:t>
            </a:r>
            <a:endParaRPr lang="en-US" sz="1050" dirty="0"/>
          </a:p>
        </p:txBody>
      </p:sp>
      <p:sp>
        <p:nvSpPr>
          <p:cNvPr id="46" name="Text 25"/>
          <p:cNvSpPr/>
          <p:nvPr/>
        </p:nvSpPr>
        <p:spPr>
          <a:xfrm>
            <a:off x="6724482" y="4781430"/>
            <a:ext cx="2580830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中医智能辅诊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：支持辨证分型与处方推荐</a:t>
            </a:r>
            <a:endParaRPr lang="en-US" sz="1120" dirty="0"/>
          </a:p>
        </p:txBody>
      </p:sp>
      <p:pic>
        <p:nvPicPr>
          <p:cNvPr id="47" name="Image 19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191095" y="5286243"/>
            <a:ext cx="5619610" cy="1247744"/>
          </a:xfrm>
          <a:prstGeom prst="rect">
            <a:avLst/>
          </a:prstGeom>
        </p:spPr>
      </p:pic>
      <p:pic>
        <p:nvPicPr>
          <p:cNvPr id="48" name="Image 2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81590" y="5505312"/>
            <a:ext cx="152396" cy="152396"/>
          </a:xfrm>
          <a:prstGeom prst="rect">
            <a:avLst/>
          </a:prstGeom>
        </p:spPr>
      </p:pic>
      <p:sp>
        <p:nvSpPr>
          <p:cNvPr id="49" name="Text 26"/>
          <p:cNvSpPr/>
          <p:nvPr/>
        </p:nvSpPr>
        <p:spPr>
          <a:xfrm>
            <a:off x="6610185" y="5448164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全面赋能</a:t>
            </a:r>
            <a:endParaRPr lang="en-US" sz="1350" dirty="0"/>
          </a:p>
        </p:txBody>
      </p:sp>
      <p:pic>
        <p:nvPicPr>
          <p:cNvPr id="50" name="Image 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5905352"/>
            <a:ext cx="57149" cy="57149"/>
          </a:xfrm>
          <a:prstGeom prst="rect">
            <a:avLst/>
          </a:prstGeom>
        </p:spPr>
      </p:pic>
      <p:sp>
        <p:nvSpPr>
          <p:cNvPr id="51" name="Text 27"/>
          <p:cNvSpPr/>
          <p:nvPr/>
        </p:nvSpPr>
        <p:spPr>
          <a:xfrm>
            <a:off x="6514937" y="5829154"/>
            <a:ext cx="2171265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覆盖政策列举的</a:t>
            </a:r>
            <a:r>
              <a:rPr lang="en-US" sz="112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23个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细分应用场景</a:t>
            </a:r>
            <a:endParaRPr lang="en-US" sz="1120" dirty="0"/>
          </a:p>
        </p:txBody>
      </p:sp>
      <p:pic>
        <p:nvPicPr>
          <p:cNvPr id="52" name="Image 2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6210145"/>
            <a:ext cx="57149" cy="57149"/>
          </a:xfrm>
          <a:prstGeom prst="rect">
            <a:avLst/>
          </a:prstGeom>
        </p:spPr>
      </p:pic>
      <p:sp>
        <p:nvSpPr>
          <p:cNvPr id="53" name="Text 28"/>
          <p:cNvSpPr/>
          <p:nvPr/>
        </p:nvSpPr>
        <p:spPr>
          <a:xfrm>
            <a:off x="6514937" y="6133947"/>
            <a:ext cx="4723901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助力医疗质量、基本公卫、慢病协同管理、家庭医生签约等服务智能化升级</a:t>
            </a:r>
            <a:endParaRPr lang="en-US" sz="11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技术架构符合政策标准</a:t>
            </a:r>
            <a:endParaRPr lang="en-US" sz="30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971526"/>
            <a:ext cx="914377" cy="3809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80990" y="1123922"/>
            <a:ext cx="11438858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项目采用分层式技术架构，从终端到数据中心，完全符合国家政策标准与规范要求。</a:t>
            </a:r>
            <a:endParaRPr lang="en-US" sz="12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600160"/>
            <a:ext cx="7467413" cy="1362041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1876378"/>
            <a:ext cx="457189" cy="457189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761981" y="1971626"/>
            <a:ext cx="1234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3"/>
          <p:cNvSpPr/>
          <p:nvPr/>
        </p:nvSpPr>
        <p:spPr>
          <a:xfrm>
            <a:off x="1190595" y="1876378"/>
            <a:ext cx="646693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终端层</a:t>
            </a:r>
            <a:endParaRPr lang="en-US" sz="1500" dirty="0"/>
          </a:p>
        </p:txBody>
      </p:sp>
      <p:sp>
        <p:nvSpPr>
          <p:cNvPr id="10" name="Text 4"/>
          <p:cNvSpPr/>
          <p:nvPr/>
        </p:nvSpPr>
        <p:spPr>
          <a:xfrm>
            <a:off x="1190595" y="2219270"/>
            <a:ext cx="6466933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支持键盘、平板手写、语音识别、智录四种录入方式，适配基层多样化硬件条件。满足政策对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"低成本、易使用"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的要求。</a:t>
            </a:r>
            <a:endParaRPr lang="en-US" sz="112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7549" y="3076498"/>
            <a:ext cx="133347" cy="171446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3362241"/>
            <a:ext cx="7467413" cy="1362041"/>
          </a:xfrm>
          <a:prstGeom prst="rect">
            <a:avLst/>
          </a:prstGeom>
        </p:spPr>
      </p:pic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3638459"/>
            <a:ext cx="457189" cy="457189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761981" y="3733707"/>
            <a:ext cx="1234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6"/>
          <p:cNvSpPr/>
          <p:nvPr/>
        </p:nvSpPr>
        <p:spPr>
          <a:xfrm>
            <a:off x="1190595" y="3638459"/>
            <a:ext cx="646693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区域AI服务中心层</a:t>
            </a:r>
            <a:endParaRPr lang="en-US" sz="1500" dirty="0"/>
          </a:p>
        </p:txBody>
      </p:sp>
      <p:sp>
        <p:nvSpPr>
          <p:cNvPr id="16" name="Text 7"/>
          <p:cNvSpPr/>
          <p:nvPr/>
        </p:nvSpPr>
        <p:spPr>
          <a:xfrm>
            <a:off x="1190595" y="3981350"/>
            <a:ext cx="6466933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统一运行大模型、质控引擎、DRG引擎，模型与指南更新由中心统一推送，确保全网同步。对应政策提出的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"集约化建设、避免重复投入"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要求。</a:t>
            </a:r>
            <a:endParaRPr lang="en-US" sz="1120" dirty="0"/>
          </a:p>
        </p:txBody>
      </p:sp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7549" y="4838579"/>
            <a:ext cx="133347" cy="171446"/>
          </a:xfrm>
          <a:prstGeom prst="rect">
            <a:avLst/>
          </a:prstGeom>
        </p:spPr>
      </p:pic>
      <p:pic>
        <p:nvPicPr>
          <p:cNvPr id="18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5124322"/>
            <a:ext cx="7467413" cy="1362041"/>
          </a:xfrm>
          <a:prstGeom prst="rect">
            <a:avLst/>
          </a:prstGeom>
        </p:spPr>
      </p:pic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5400540"/>
            <a:ext cx="457189" cy="457189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761981" y="5495788"/>
            <a:ext cx="1234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9"/>
          <p:cNvSpPr/>
          <p:nvPr/>
        </p:nvSpPr>
        <p:spPr>
          <a:xfrm>
            <a:off x="1190595" y="5400540"/>
            <a:ext cx="646693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数据层</a:t>
            </a:r>
            <a:endParaRPr lang="en-US" sz="1500" dirty="0"/>
          </a:p>
        </p:txBody>
      </p:sp>
      <p:sp>
        <p:nvSpPr>
          <p:cNvPr id="22" name="Text 10"/>
          <p:cNvSpPr/>
          <p:nvPr/>
        </p:nvSpPr>
        <p:spPr>
          <a:xfrm>
            <a:off x="1190595" y="5743431"/>
            <a:ext cx="6466933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县级医共体统一汇聚电子病历、检验、影像、公卫数据，形成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"高质量数据集"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11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04792" y="304792"/>
            <a:ext cx="11591254" cy="42861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实现政策目标预期效果</a:t>
            </a:r>
            <a:endParaRPr lang="en-US" sz="27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92" y="809605"/>
            <a:ext cx="761981" cy="3809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04792" y="923902"/>
            <a:ext cx="1159125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项目实施路径与国家政策时间节点精准对齐，并通过量化指标全面实现政策预期效果。</a:t>
            </a:r>
            <a:endParaRPr lang="en-US" sz="105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92" y="1295368"/>
            <a:ext cx="3809905" cy="5267193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66713" y="1457289"/>
            <a:ext cx="349520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项目实施路径与政策节点对接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13" y="1800180"/>
            <a:ext cx="3486063" cy="3724182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713" y="5638659"/>
            <a:ext cx="3486063" cy="752456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466713" y="5762481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2027年</a:t>
            </a:r>
            <a:endParaRPr lang="en-US" sz="900" dirty="0"/>
          </a:p>
        </p:txBody>
      </p:sp>
      <p:sp>
        <p:nvSpPr>
          <p:cNvPr id="11" name="Text 4"/>
          <p:cNvSpPr/>
          <p:nvPr/>
        </p:nvSpPr>
        <p:spPr>
          <a:xfrm>
            <a:off x="466713" y="5952976"/>
            <a:ext cx="49490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5,000</a:t>
            </a:r>
            <a:endParaRPr lang="en-US" sz="1500" dirty="0"/>
          </a:p>
        </p:txBody>
      </p:sp>
      <p:sp>
        <p:nvSpPr>
          <p:cNvPr id="12" name="Text 5"/>
          <p:cNvSpPr/>
          <p:nvPr/>
        </p:nvSpPr>
        <p:spPr>
          <a:xfrm>
            <a:off x="466713" y="6238719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家机构</a:t>
            </a:r>
            <a:endParaRPr lang="en-US" sz="90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90695" y="6010125"/>
            <a:ext cx="123822" cy="133347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3552736" y="5762481"/>
            <a:ext cx="41870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2030年</a:t>
            </a:r>
            <a:endParaRPr lang="en-US" sz="900" dirty="0"/>
          </a:p>
        </p:txBody>
      </p:sp>
      <p:sp>
        <p:nvSpPr>
          <p:cNvPr id="15" name="Text 7"/>
          <p:cNvSpPr/>
          <p:nvPr/>
        </p:nvSpPr>
        <p:spPr>
          <a:xfrm>
            <a:off x="3552736" y="5952976"/>
            <a:ext cx="418709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80万</a:t>
            </a:r>
            <a:endParaRPr lang="en-US" sz="1500" dirty="0"/>
          </a:p>
        </p:txBody>
      </p:sp>
      <p:sp>
        <p:nvSpPr>
          <p:cNvPr id="16" name="Text 8"/>
          <p:cNvSpPr/>
          <p:nvPr/>
        </p:nvSpPr>
        <p:spPr>
          <a:xfrm>
            <a:off x="3552736" y="6238719"/>
            <a:ext cx="41870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家机构</a:t>
            </a:r>
            <a:endParaRPr lang="en-US" sz="900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5192" y="1295368"/>
            <a:ext cx="7581710" cy="666733"/>
          </a:xfrm>
          <a:prstGeom prst="rect">
            <a:avLst/>
          </a:prstGeom>
        </p:spPr>
      </p:pic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1438239"/>
            <a:ext cx="266693" cy="266693"/>
          </a:xfrm>
          <a:prstGeom prst="rect">
            <a:avLst/>
          </a:prstGeom>
        </p:spPr>
      </p:pic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5212" y="1514437"/>
            <a:ext cx="133347" cy="114297"/>
          </a:xfrm>
          <a:prstGeom prst="rect">
            <a:avLst/>
          </a:prstGeom>
        </p:spPr>
      </p:pic>
      <p:sp>
        <p:nvSpPr>
          <p:cNvPr id="20" name="Text 9"/>
          <p:cNvSpPr/>
          <p:nvPr/>
        </p:nvSpPr>
        <p:spPr>
          <a:xfrm>
            <a:off x="4790955" y="1419190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诊断能力均等化</a:t>
            </a:r>
            <a:endParaRPr lang="en-US" sz="1050" dirty="0"/>
          </a:p>
        </p:txBody>
      </p:sp>
      <p:sp>
        <p:nvSpPr>
          <p:cNvPr id="21" name="Text 10"/>
          <p:cNvSpPr/>
          <p:nvPr/>
        </p:nvSpPr>
        <p:spPr>
          <a:xfrm>
            <a:off x="4790955" y="1647784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政策目标要求缩小基层与三甲医院诊疗差距，项目指标显示基层诊断准确率可由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60-75%提升至92%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，达到三甲专家水平。</a:t>
            </a:r>
            <a:endParaRPr lang="en-US" sz="9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5192" y="2057349"/>
            <a:ext cx="7581710" cy="666733"/>
          </a:xfrm>
          <a:prstGeom prst="rect">
            <a:avLst/>
          </a:prstGeom>
        </p:spPr>
      </p:pic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2200220"/>
            <a:ext cx="266693" cy="266693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14737" y="2276418"/>
            <a:ext cx="104772" cy="114297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4790955" y="2181170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数据驱动的行业治理</a:t>
            </a:r>
            <a:endParaRPr lang="en-US" sz="1050" dirty="0"/>
          </a:p>
        </p:txBody>
      </p:sp>
      <p:sp>
        <p:nvSpPr>
          <p:cNvPr id="26" name="Text 12"/>
          <p:cNvSpPr/>
          <p:nvPr/>
        </p:nvSpPr>
        <p:spPr>
          <a:xfrm>
            <a:off x="4790955" y="2409765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政策目标要求建立高质量数据集，项目指标为每县域年均新增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结构化病历≥10万份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、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影像数据≥50万幅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，实时回传国家数据中心。</a:t>
            </a:r>
            <a:endParaRPr lang="en-US" sz="900" dirty="0"/>
          </a:p>
        </p:txBody>
      </p:sp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5192" y="2809805"/>
            <a:ext cx="7581710" cy="847704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2952676"/>
            <a:ext cx="266693" cy="266693"/>
          </a:xfrm>
          <a:prstGeom prst="rect">
            <a:avLst/>
          </a:prstGeom>
        </p:spPr>
      </p:pic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05212" y="3028874"/>
            <a:ext cx="133347" cy="114297"/>
          </a:xfrm>
          <a:prstGeom prst="rect">
            <a:avLst/>
          </a:prstGeom>
        </p:spPr>
      </p:pic>
      <p:sp>
        <p:nvSpPr>
          <p:cNvPr id="30" name="Text 13"/>
          <p:cNvSpPr/>
          <p:nvPr/>
        </p:nvSpPr>
        <p:spPr>
          <a:xfrm>
            <a:off x="4790955" y="2933627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医保资金效率提升</a:t>
            </a:r>
            <a:endParaRPr lang="en-US" sz="1050" dirty="0"/>
          </a:p>
        </p:txBody>
      </p:sp>
      <p:sp>
        <p:nvSpPr>
          <p:cNvPr id="31" name="Text 14"/>
          <p:cNvSpPr/>
          <p:nvPr/>
        </p:nvSpPr>
        <p:spPr>
          <a:xfrm>
            <a:off x="4790955" y="3162221"/>
            <a:ext cx="6981270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政策目标要求DRG/DIP改革在基层落地，项目指标可实现基层DRG分组准确率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提升30%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，医保拒付率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下降50%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，县域医保基金结余率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提升3-5个百分点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90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5192" y="3752756"/>
            <a:ext cx="7581710" cy="847704"/>
          </a:xfrm>
          <a:prstGeom prst="rect">
            <a:avLst/>
          </a:prstGeom>
        </p:spPr>
      </p:pic>
      <p:pic>
        <p:nvPicPr>
          <p:cNvPr id="33" name="Image 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3895628"/>
            <a:ext cx="266693" cy="266693"/>
          </a:xfrm>
          <a:prstGeom prst="rect">
            <a:avLst/>
          </a:prstGeom>
        </p:spPr>
      </p:pic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95688" y="3971826"/>
            <a:ext cx="142871" cy="114297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4790955" y="3876578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基层医生工作负荷减轻</a:t>
            </a:r>
            <a:endParaRPr lang="en-US" sz="1050" dirty="0"/>
          </a:p>
        </p:txBody>
      </p:sp>
      <p:sp>
        <p:nvSpPr>
          <p:cNvPr id="36" name="Text 16"/>
          <p:cNvSpPr/>
          <p:nvPr/>
        </p:nvSpPr>
        <p:spPr>
          <a:xfrm>
            <a:off x="4790955" y="4105172"/>
            <a:ext cx="6981270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政策目标要求让基层医生"愿意留在基层"，项目指标可将文书书写时间由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1-2小时/份压缩至10-15分钟/份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，日均节省3-5小时，医生满意度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提升40%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90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5192" y="4695708"/>
            <a:ext cx="7581710" cy="847704"/>
          </a:xfrm>
          <a:prstGeom prst="rect">
            <a:avLst/>
          </a:prstGeom>
        </p:spPr>
      </p:pic>
      <p:pic>
        <p:nvPicPr>
          <p:cNvPr id="38" name="Image 1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4838579"/>
            <a:ext cx="266693" cy="266693"/>
          </a:xfrm>
          <a:prstGeom prst="rect">
            <a:avLst/>
          </a:prstGeom>
        </p:spPr>
      </p:pic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05212" y="4914777"/>
            <a:ext cx="133347" cy="114297"/>
          </a:xfrm>
          <a:prstGeom prst="rect">
            <a:avLst/>
          </a:prstGeom>
        </p:spPr>
      </p:pic>
      <p:sp>
        <p:nvSpPr>
          <p:cNvPr id="40" name="Text 17"/>
          <p:cNvSpPr/>
          <p:nvPr/>
        </p:nvSpPr>
        <p:spPr>
          <a:xfrm>
            <a:off x="4790955" y="4819530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区域复制与产业带动</a:t>
            </a:r>
            <a:endParaRPr lang="en-US" sz="1050" dirty="0"/>
          </a:p>
        </p:txBody>
      </p:sp>
      <p:sp>
        <p:nvSpPr>
          <p:cNvPr id="41" name="Text 18"/>
          <p:cNvSpPr/>
          <p:nvPr/>
        </p:nvSpPr>
        <p:spPr>
          <a:xfrm>
            <a:off x="4790955" y="5048124"/>
            <a:ext cx="6981270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政策目标要求打造全球领先的医疗AI科技创新基地，项目指标为形成可复制的"基层AI+紧密型医共体"解决方案，为全国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104万基层机构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提供实战训练场，带动产业链产值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超千亿元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210459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Current Challenges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医疗信息化现状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6409784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当前医疗信息化面临六大核心痛点，制约着医疗服务质量与运营效率的提升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333567"/>
            <a:ext cx="3333667" cy="1866853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571686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7744" y="2676458"/>
            <a:ext cx="200020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85883" y="2571686"/>
            <a:ext cx="120926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诊断编码不完整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152496" y="3066973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医生凭经验编码，并发症/合并症易遗漏，影响DRG分组准确性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39" y="2333567"/>
            <a:ext cx="3333667" cy="1866853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2571686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1906" y="2676458"/>
            <a:ext cx="200020" cy="171446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5210045" y="2571686"/>
            <a:ext cx="107591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DRG管理粗放</a:t>
            </a:r>
            <a:endParaRPr lang="en-US" sz="1350" dirty="0"/>
          </a:p>
        </p:txBody>
      </p:sp>
      <p:sp>
        <p:nvSpPr>
          <p:cNvPr id="17" name="Text 6"/>
          <p:cNvSpPr/>
          <p:nvPr/>
        </p:nvSpPr>
        <p:spPr>
          <a:xfrm>
            <a:off x="4676658" y="3066973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缺乏实时分组与盈亏分析工具，无法及时调整诊疗策略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3176" y="2333567"/>
            <a:ext cx="3333667" cy="1866853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295" y="2571686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15117" y="2676458"/>
            <a:ext cx="133347" cy="17144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8724682" y="2571686"/>
            <a:ext cx="103781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质控工作量大</a:t>
            </a:r>
            <a:endParaRPr lang="en-US" sz="1350" dirty="0"/>
          </a:p>
        </p:txBody>
      </p:sp>
      <p:sp>
        <p:nvSpPr>
          <p:cNvPr id="22" name="Text 8"/>
          <p:cNvSpPr/>
          <p:nvPr/>
        </p:nvSpPr>
        <p:spPr>
          <a:xfrm>
            <a:off x="8191295" y="3066973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质控指标靠人工逐案筛查，效率低下且覆盖范围有限</a:t>
            </a:r>
            <a:endParaRPr lang="en-US" sz="1050" dirty="0"/>
          </a:p>
        </p:txBody>
      </p:sp>
      <p:pic>
        <p:nvPicPr>
          <p:cNvPr id="23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390915"/>
            <a:ext cx="3333667" cy="1866853"/>
          </a:xfrm>
          <a:prstGeom prst="rect">
            <a:avLst/>
          </a:prstGeom>
        </p:spPr>
      </p:pic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629034"/>
            <a:ext cx="380990" cy="380990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47744" y="4733807"/>
            <a:ext cx="200020" cy="171446"/>
          </a:xfrm>
          <a:prstGeom prst="rect">
            <a:avLst/>
          </a:prstGeom>
        </p:spPr>
      </p:pic>
      <p:sp>
        <p:nvSpPr>
          <p:cNvPr id="26" name="Text 9"/>
          <p:cNvSpPr/>
          <p:nvPr/>
        </p:nvSpPr>
        <p:spPr>
          <a:xfrm>
            <a:off x="1685883" y="4629034"/>
            <a:ext cx="120926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病历书写效率低</a:t>
            </a:r>
            <a:endParaRPr lang="en-US" sz="1350" dirty="0"/>
          </a:p>
        </p:txBody>
      </p:sp>
      <p:sp>
        <p:nvSpPr>
          <p:cNvPr id="27" name="Text 10"/>
          <p:cNvSpPr/>
          <p:nvPr/>
        </p:nvSpPr>
        <p:spPr>
          <a:xfrm>
            <a:off x="1152496" y="5124322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依赖键盘逐字录入，格式不规范，消耗医生大量宝贵时间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39" y="4390915"/>
            <a:ext cx="3333667" cy="1866853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4629034"/>
            <a:ext cx="380990" cy="380990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62381" y="4733807"/>
            <a:ext cx="219070" cy="171446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5210045" y="4629034"/>
            <a:ext cx="103781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信息孤岛严重</a:t>
            </a:r>
            <a:endParaRPr lang="en-US" sz="1350" dirty="0"/>
          </a:p>
        </p:txBody>
      </p:sp>
      <p:sp>
        <p:nvSpPr>
          <p:cNvPr id="32" name="Text 12"/>
          <p:cNvSpPr/>
          <p:nvPr/>
        </p:nvSpPr>
        <p:spPr>
          <a:xfrm>
            <a:off x="4676658" y="5124322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HIS/LIS/PACS各自独立，数据不互通，难以形成完整患者画像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3176" y="4390915"/>
            <a:ext cx="3333667" cy="1866853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295" y="4629034"/>
            <a:ext cx="380990" cy="380990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77018" y="4733807"/>
            <a:ext cx="219070" cy="171446"/>
          </a:xfrm>
          <a:prstGeom prst="rect">
            <a:avLst/>
          </a:prstGeom>
        </p:spPr>
      </p:pic>
      <p:sp>
        <p:nvSpPr>
          <p:cNvPr id="36" name="Text 13"/>
          <p:cNvSpPr/>
          <p:nvPr/>
        </p:nvSpPr>
        <p:spPr>
          <a:xfrm>
            <a:off x="8724682" y="4629034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AI门槛高</a:t>
            </a:r>
            <a:endParaRPr lang="en-US" sz="1350" dirty="0"/>
          </a:p>
        </p:txBody>
      </p:sp>
      <p:sp>
        <p:nvSpPr>
          <p:cNvPr id="37" name="Text 14"/>
          <p:cNvSpPr/>
          <p:nvPr/>
        </p:nvSpPr>
        <p:spPr>
          <a:xfrm>
            <a:off x="8191295" y="5124322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传统AI系统动辄百万投入，基层医院无力承担，技术普惠困难</a:t>
            </a:r>
            <a:endParaRPr lang="en-US" sz="1050" dirty="0"/>
          </a:p>
        </p:txBody>
      </p:sp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22841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Severe Consequences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痛点带来的后果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医疗信息化的核心痛点正直接导致医院运营与诊疗质量的严重下滑：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038299"/>
            <a:ext cx="3352716" cy="1333467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2238319"/>
            <a:ext cx="342891" cy="342891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0120" y="2333567"/>
            <a:ext cx="171446" cy="15239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571586" y="2238319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医保收益流失</a:t>
            </a:r>
            <a:endParaRPr lang="en-US" sz="1200" dirty="0"/>
          </a:p>
        </p:txBody>
      </p:sp>
      <p:sp>
        <p:nvSpPr>
          <p:cNvPr id="12" name="Text 4"/>
          <p:cNvSpPr/>
          <p:nvPr/>
        </p:nvSpPr>
        <p:spPr>
          <a:xfrm>
            <a:off x="1114397" y="2657409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诊断编码不完整直接导致DRG分组不准确，医院无法获得应有的医保支付。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490" y="2038299"/>
            <a:ext cx="3352716" cy="1333467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9510" y="2238319"/>
            <a:ext cx="342891" cy="342891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5232" y="2333567"/>
            <a:ext cx="171446" cy="152396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5076698" y="2238319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收入持续下降</a:t>
            </a:r>
            <a:endParaRPr lang="en-US" sz="1200" dirty="0"/>
          </a:p>
        </p:txBody>
      </p:sp>
      <p:sp>
        <p:nvSpPr>
          <p:cNvPr id="17" name="Text 6"/>
          <p:cNvSpPr/>
          <p:nvPr/>
        </p:nvSpPr>
        <p:spPr>
          <a:xfrm>
            <a:off x="4619510" y="2657409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缺乏DRG精细化管理工具，在医保付费改革下，医院收入面临持续下滑风险。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602" y="2038299"/>
            <a:ext cx="3352716" cy="1333467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4622" y="2238319"/>
            <a:ext cx="342891" cy="342891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00820" y="2333567"/>
            <a:ext cx="190495" cy="15239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8581810" y="2238319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人力消耗巨大</a:t>
            </a:r>
            <a:endParaRPr lang="en-US" sz="1200" dirty="0"/>
          </a:p>
        </p:txBody>
      </p:sp>
      <p:sp>
        <p:nvSpPr>
          <p:cNvPr id="22" name="Text 8"/>
          <p:cNvSpPr/>
          <p:nvPr/>
        </p:nvSpPr>
        <p:spPr>
          <a:xfrm>
            <a:off x="8124622" y="2657409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质控工作依赖人工逐案筛查，漏检率高，且耗费大量人力成本。</a:t>
            </a:r>
            <a:endParaRPr lang="en-US" sz="1050" dirty="0"/>
          </a:p>
        </p:txBody>
      </p:sp>
      <p:pic>
        <p:nvPicPr>
          <p:cNvPr id="23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3524162"/>
            <a:ext cx="3352716" cy="1333467"/>
          </a:xfrm>
          <a:prstGeom prst="rect">
            <a:avLst/>
          </a:prstGeom>
        </p:spPr>
      </p:pic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3724182"/>
            <a:ext cx="342891" cy="342891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8694" y="3819430"/>
            <a:ext cx="114297" cy="152396"/>
          </a:xfrm>
          <a:prstGeom prst="rect">
            <a:avLst/>
          </a:prstGeom>
        </p:spPr>
      </p:pic>
      <p:sp>
        <p:nvSpPr>
          <p:cNvPr id="26" name="Text 9"/>
          <p:cNvSpPr/>
          <p:nvPr/>
        </p:nvSpPr>
        <p:spPr>
          <a:xfrm>
            <a:off x="1571586" y="3724182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诊疗效率低下</a:t>
            </a:r>
            <a:endParaRPr lang="en-US" sz="1200" dirty="0"/>
          </a:p>
        </p:txBody>
      </p:sp>
      <p:sp>
        <p:nvSpPr>
          <p:cNvPr id="27" name="Text 10"/>
          <p:cNvSpPr/>
          <p:nvPr/>
        </p:nvSpPr>
        <p:spPr>
          <a:xfrm>
            <a:off x="1114397" y="4143271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病历书写效率低，占用医生大量临床时间，直接影响诊疗服务效率。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490" y="3524162"/>
            <a:ext cx="3352716" cy="1333467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9510" y="3724182"/>
            <a:ext cx="342891" cy="342891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14757" y="3819430"/>
            <a:ext cx="152396" cy="152396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5076698" y="3724182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决策依据不全</a:t>
            </a:r>
            <a:endParaRPr lang="en-US" sz="1200" dirty="0"/>
          </a:p>
        </p:txBody>
      </p:sp>
      <p:sp>
        <p:nvSpPr>
          <p:cNvPr id="32" name="Text 12"/>
          <p:cNvSpPr/>
          <p:nvPr/>
        </p:nvSpPr>
        <p:spPr>
          <a:xfrm>
            <a:off x="4619510" y="4143271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信息孤岛导致医生缺乏患者全景视图，临床决策缺乏完整数据支持。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602" y="3524162"/>
            <a:ext cx="3352716" cy="1333467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4622" y="3724182"/>
            <a:ext cx="342891" cy="342891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00820" y="3819430"/>
            <a:ext cx="190495" cy="152396"/>
          </a:xfrm>
          <a:prstGeom prst="rect">
            <a:avLst/>
          </a:prstGeom>
        </p:spPr>
      </p:pic>
      <p:sp>
        <p:nvSpPr>
          <p:cNvPr id="36" name="Text 13"/>
          <p:cNvSpPr/>
          <p:nvPr/>
        </p:nvSpPr>
        <p:spPr>
          <a:xfrm>
            <a:off x="8581810" y="3724182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数字鸿沟加剧</a:t>
            </a:r>
            <a:endParaRPr lang="en-US" sz="1200" dirty="0"/>
          </a:p>
        </p:txBody>
      </p:sp>
      <p:sp>
        <p:nvSpPr>
          <p:cNvPr id="37" name="Text 14"/>
          <p:cNvSpPr/>
          <p:nvPr/>
        </p:nvSpPr>
        <p:spPr>
          <a:xfrm>
            <a:off x="8124622" y="4143271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高昂的AI投入门槛使基层医院被排除在技术红利之外，加剧医疗资源不均。</a:t>
            </a:r>
            <a:endParaRPr lang="en-US" sz="1050" dirty="0"/>
          </a:p>
        </p:txBody>
      </p:sp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490" y="5000500"/>
            <a:ext cx="3352716" cy="1333467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9510" y="5200520"/>
            <a:ext cx="342891" cy="342891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14757" y="5295768"/>
            <a:ext cx="152396" cy="152396"/>
          </a:xfrm>
          <a:prstGeom prst="rect">
            <a:avLst/>
          </a:prstGeom>
        </p:spPr>
      </p:pic>
      <p:sp>
        <p:nvSpPr>
          <p:cNvPr id="41" name="Text 15"/>
          <p:cNvSpPr/>
          <p:nvPr/>
        </p:nvSpPr>
        <p:spPr>
          <a:xfrm>
            <a:off x="5076698" y="5200520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合规风险高企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4619510" y="5619610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患者隐私数据安全顾虑，使医院对应用AI系统持谨慎态度，面临合规挑战。</a:t>
            </a:r>
            <a:endParaRPr lang="en-US" sz="1050" dirty="0"/>
          </a:p>
        </p:txBody>
      </p:sp>
      <p:pic>
        <p:nvPicPr>
          <p:cNvPr id="43" name="Image 24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44" name="Image 25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45" name="Image 2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11411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Solution Framework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我们的解决思路</a:t>
            </a:r>
            <a:endParaRPr lang="en-US" sz="3000" dirty="0"/>
          </a:p>
        </p:txBody>
      </p:sp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638259"/>
            <a:ext cx="10362941" cy="1619210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269" y="1952576"/>
            <a:ext cx="457189" cy="457189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9190" y="2085923"/>
            <a:ext cx="142871" cy="190495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1904952" y="1952576"/>
            <a:ext cx="6257388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核心理念</a:t>
            </a:r>
            <a:endParaRPr lang="en-US" sz="1500" dirty="0"/>
          </a:p>
        </p:txBody>
      </p:sp>
      <p:sp>
        <p:nvSpPr>
          <p:cNvPr id="11" name="Text 3"/>
          <p:cNvSpPr/>
          <p:nvPr/>
        </p:nvSpPr>
        <p:spPr>
          <a:xfrm>
            <a:off x="1904952" y="2295468"/>
            <a:ext cx="6257388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AI增强临床决策，</a:t>
            </a:r>
            <a:r>
              <a:rPr lang="en-US" sz="18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而非替代医生判断</a:t>
            </a:r>
            <a:endParaRPr lang="en-US" sz="1800" dirty="0"/>
          </a:p>
        </p:txBody>
      </p:sp>
      <p:sp>
        <p:nvSpPr>
          <p:cNvPr id="12" name="Text 4"/>
          <p:cNvSpPr/>
          <p:nvPr/>
        </p:nvSpPr>
        <p:spPr>
          <a:xfrm>
            <a:off x="1904952" y="2695508"/>
            <a:ext cx="6257388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我们围绕此理念，构建了四大核心解决思路，直击基层医院痛点，确保技术真正服务于临床。</a:t>
            </a:r>
            <a:endParaRPr lang="en-US" sz="1200" dirty="0"/>
          </a:p>
        </p:txBody>
      </p:sp>
      <p:pic>
        <p:nvPicPr>
          <p:cNvPr id="13" name="Image 6" descr="preencoded.pn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914377" y="3562261"/>
            <a:ext cx="2447864" cy="2762181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1152496" y="3800380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1257269" y="3905152"/>
            <a:ext cx="171446" cy="171446"/>
          </a:xfrm>
          <a:prstGeom prst="rect">
            <a:avLst/>
          </a:prstGeom>
        </p:spPr>
      </p:pic>
      <p:sp>
        <p:nvSpPr>
          <p:cNvPr id="16" name="Text 5"/>
          <p:cNvSpPr/>
          <p:nvPr>
            <p:custDataLst>
              <p:tags r:id="rId13"/>
            </p:custDataLst>
          </p:nvPr>
        </p:nvSpPr>
        <p:spPr>
          <a:xfrm>
            <a:off x="1152496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低成本</a:t>
            </a:r>
            <a:endParaRPr lang="en-US" sz="1350" dirty="0"/>
          </a:p>
        </p:txBody>
      </p:sp>
      <p:sp>
        <p:nvSpPr>
          <p:cNvPr id="17" name="Text 6"/>
          <p:cNvSpPr/>
          <p:nvPr>
            <p:custDataLst>
              <p:tags r:id="rId14"/>
            </p:custDataLst>
          </p:nvPr>
        </p:nvSpPr>
        <p:spPr>
          <a:xfrm>
            <a:off x="1152496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硬件投入仅需</a:t>
            </a: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5~10万元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，通过Docker容器化实现一键部署，大幅降低AI应用门槛。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3552736" y="3562261"/>
            <a:ext cx="2447864" cy="2762181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3790855" y="3800380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3895628" y="3905152"/>
            <a:ext cx="171446" cy="171446"/>
          </a:xfrm>
          <a:prstGeom prst="rect">
            <a:avLst/>
          </a:prstGeom>
        </p:spPr>
      </p:pic>
      <p:sp>
        <p:nvSpPr>
          <p:cNvPr id="21" name="Text 7"/>
          <p:cNvSpPr/>
          <p:nvPr>
            <p:custDataLst>
              <p:tags r:id="rId19"/>
            </p:custDataLst>
          </p:nvPr>
        </p:nvSpPr>
        <p:spPr>
          <a:xfrm>
            <a:off x="3790855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强安全</a:t>
            </a:r>
            <a:endParaRPr lang="en-US" sz="1350" dirty="0"/>
          </a:p>
        </p:txBody>
      </p:sp>
      <p:sp>
        <p:nvSpPr>
          <p:cNvPr id="22" name="Text 8"/>
          <p:cNvSpPr/>
          <p:nvPr>
            <p:custDataLst>
              <p:tags r:id="rId20"/>
            </p:custDataLst>
          </p:nvPr>
        </p:nvSpPr>
        <p:spPr>
          <a:xfrm>
            <a:off x="3790855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患者敏感数据本地加密处理，遵循</a:t>
            </a: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"最小必要化"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原则，确保数据安全与合规。</a:t>
            </a:r>
            <a:endParaRPr lang="en-US" sz="1050" dirty="0"/>
          </a:p>
        </p:txBody>
      </p:sp>
      <p:pic>
        <p:nvPicPr>
          <p:cNvPr id="23" name="Image 12" descr="preencoded.png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191095" y="3562261"/>
            <a:ext cx="2447864" cy="2762181"/>
          </a:xfrm>
          <a:prstGeom prst="rect">
            <a:avLst/>
          </a:prstGeom>
        </p:spPr>
      </p:pic>
      <p:pic>
        <p:nvPicPr>
          <p:cNvPr id="24" name="Image 13" descr="preencoded.png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6429214" y="3800380"/>
            <a:ext cx="380990" cy="380990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6533987" y="3905152"/>
            <a:ext cx="171446" cy="171446"/>
          </a:xfrm>
          <a:prstGeom prst="rect">
            <a:avLst/>
          </a:prstGeom>
        </p:spPr>
      </p:pic>
      <p:sp>
        <p:nvSpPr>
          <p:cNvPr id="26" name="Text 9"/>
          <p:cNvSpPr/>
          <p:nvPr>
            <p:custDataLst>
              <p:tags r:id="rId24"/>
            </p:custDataLst>
          </p:nvPr>
        </p:nvSpPr>
        <p:spPr>
          <a:xfrm>
            <a:off x="6429214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全流程</a:t>
            </a:r>
            <a:endParaRPr lang="en-US" sz="1350" dirty="0"/>
          </a:p>
        </p:txBody>
      </p:sp>
      <p:sp>
        <p:nvSpPr>
          <p:cNvPr id="27" name="Text 10"/>
          <p:cNvSpPr/>
          <p:nvPr>
            <p:custDataLst>
              <p:tags r:id="rId25"/>
            </p:custDataLst>
          </p:nvPr>
        </p:nvSpPr>
        <p:spPr>
          <a:xfrm>
            <a:off x="6429214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覆盖住院部从入院到出院的完整诊疗流程，实现AI辅助在关键环节的无缝嵌入。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8829454" y="3562261"/>
            <a:ext cx="2447864" cy="2762181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9067573" y="3800380"/>
            <a:ext cx="380990" cy="380990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29"/>
          <a:stretch>
            <a:fillRect/>
          </a:stretch>
        </p:blipFill>
        <p:spPr>
          <a:xfrm>
            <a:off x="9191395" y="3905152"/>
            <a:ext cx="152396" cy="171446"/>
          </a:xfrm>
          <a:prstGeom prst="rect">
            <a:avLst/>
          </a:prstGeom>
        </p:spPr>
      </p:pic>
      <p:sp>
        <p:nvSpPr>
          <p:cNvPr id="31" name="Text 11"/>
          <p:cNvSpPr/>
          <p:nvPr>
            <p:custDataLst>
              <p:tags r:id="rId30"/>
            </p:custDataLst>
          </p:nvPr>
        </p:nvSpPr>
        <p:spPr>
          <a:xfrm>
            <a:off x="9067573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临床导向</a:t>
            </a:r>
            <a:endParaRPr lang="en-US" sz="1350" dirty="0"/>
          </a:p>
        </p:txBody>
      </p:sp>
      <p:sp>
        <p:nvSpPr>
          <p:cNvPr id="32" name="Text 12"/>
          <p:cNvSpPr/>
          <p:nvPr>
            <p:custDataLst>
              <p:tags r:id="rId31"/>
            </p:custDataLst>
          </p:nvPr>
        </p:nvSpPr>
        <p:spPr>
          <a:xfrm>
            <a:off x="9067573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由医生主导设计，充分贴合临床实际工作流与需求，确保系统好用、爱用。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32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33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>
            <p:custDataLst>
              <p:tags r:id="rId34"/>
            </p:custDataLst>
          </p:nvPr>
        </p:nvPicPr>
        <p:blipFill>
          <a:blip r:embed="rId35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215221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System Architecture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双服务器分离架构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通过主服务器与执行服务器的职责分离，实现业务系统与AI计算的高可用解耦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257369"/>
            <a:ext cx="5067173" cy="1523962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495488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269" y="2600260"/>
            <a:ext cx="17144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47784" y="2552636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主服务器</a:t>
            </a:r>
            <a:endParaRPr lang="en-US" sz="15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105072"/>
            <a:ext cx="57149" cy="57149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285843" y="3028874"/>
            <a:ext cx="300944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负责业务逻辑处理、REST API接口、患者数据管理</a:t>
            </a:r>
            <a:endParaRPr lang="en-US" sz="105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390815"/>
            <a:ext cx="57149" cy="57149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285843" y="3314617"/>
            <a:ext cx="207601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任务调度及与医院HIS/LIS系统对接</a:t>
            </a:r>
            <a:endParaRPr lang="en-US" sz="105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5" y="2257369"/>
            <a:ext cx="5067173" cy="1523962"/>
          </a:xfrm>
          <a:prstGeom prst="rect">
            <a:avLst/>
          </a:prstGeom>
        </p:spPr>
      </p:pic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8264" y="2495488"/>
            <a:ext cx="380990" cy="380990"/>
          </a:xfrm>
          <a:prstGeom prst="rect">
            <a:avLst/>
          </a:prstGeom>
        </p:spPr>
      </p:pic>
      <p:pic>
        <p:nvPicPr>
          <p:cNvPr id="18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3036" y="2600260"/>
            <a:ext cx="171446" cy="171446"/>
          </a:xfrm>
          <a:prstGeom prst="rect">
            <a:avLst/>
          </a:prstGeom>
        </p:spPr>
      </p:pic>
      <p:sp>
        <p:nvSpPr>
          <p:cNvPr id="19" name="Text 6"/>
          <p:cNvSpPr/>
          <p:nvPr/>
        </p:nvSpPr>
        <p:spPr>
          <a:xfrm>
            <a:off x="6943551" y="2552636"/>
            <a:ext cx="96162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执行服务器</a:t>
            </a:r>
            <a:endParaRPr lang="en-US" sz="1500" dirty="0"/>
          </a:p>
        </p:txBody>
      </p:sp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8264" y="3105072"/>
            <a:ext cx="57149" cy="57149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6581610" y="3028874"/>
            <a:ext cx="283799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独立负责AI大模型调用引擎、Prompt组装与管理</a:t>
            </a:r>
            <a:endParaRPr lang="en-US" sz="1050" dirty="0"/>
          </a:p>
        </p:txBody>
      </p:sp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8264" y="3390815"/>
            <a:ext cx="57149" cy="57149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6581610" y="3314617"/>
            <a:ext cx="240938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长耗时任务的异步处理及重试与熔断机制</a:t>
            </a:r>
            <a:endParaRPr lang="en-US" sz="105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377" y="4000400"/>
            <a:ext cx="2476438" cy="1495388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4397" y="4200420"/>
            <a:ext cx="304792" cy="304792"/>
          </a:xfrm>
          <a:prstGeom prst="rect">
            <a:avLst/>
          </a:prstGeom>
        </p:spPr>
      </p:pic>
      <p:pic>
        <p:nvPicPr>
          <p:cNvPr id="26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0120" y="4286143"/>
            <a:ext cx="133347" cy="133347"/>
          </a:xfrm>
          <a:prstGeom prst="rect">
            <a:avLst/>
          </a:prstGeom>
        </p:spPr>
      </p:pic>
      <p:sp>
        <p:nvSpPr>
          <p:cNvPr id="27" name="Text 9"/>
          <p:cNvSpPr/>
          <p:nvPr/>
        </p:nvSpPr>
        <p:spPr>
          <a:xfrm>
            <a:off x="1114397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性能隔离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1114397" y="4924302"/>
            <a:ext cx="2085542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AI计算与日常操作分离，避免高负载任务阻塞系统</a:t>
            </a:r>
            <a:endParaRPr lang="en-US" sz="900" dirty="0"/>
          </a:p>
        </p:txBody>
      </p:sp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43211" y="4000400"/>
            <a:ext cx="2476438" cy="1495388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3231" y="4200420"/>
            <a:ext cx="304792" cy="304792"/>
          </a:xfrm>
          <a:prstGeom prst="rect">
            <a:avLst/>
          </a:prstGeom>
        </p:spPr>
      </p:pic>
      <p:pic>
        <p:nvPicPr>
          <p:cNvPr id="31" name="Image 1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28954" y="4286143"/>
            <a:ext cx="133347" cy="133347"/>
          </a:xfrm>
          <a:prstGeom prst="rect">
            <a:avLst/>
          </a:prstGeom>
        </p:spPr>
      </p:pic>
      <p:sp>
        <p:nvSpPr>
          <p:cNvPr id="32" name="Text 11"/>
          <p:cNvSpPr/>
          <p:nvPr/>
        </p:nvSpPr>
        <p:spPr>
          <a:xfrm>
            <a:off x="3743231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故障隔离</a:t>
            </a:r>
            <a:endParaRPr lang="en-US" sz="1200" dirty="0"/>
          </a:p>
        </p:txBody>
      </p:sp>
      <p:sp>
        <p:nvSpPr>
          <p:cNvPr id="33" name="Text 12"/>
          <p:cNvSpPr/>
          <p:nvPr/>
        </p:nvSpPr>
        <p:spPr>
          <a:xfrm>
            <a:off x="3743231" y="4924302"/>
            <a:ext cx="2085542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执行服务异常不影响主业务，保障核心连续性</a:t>
            </a:r>
            <a:endParaRPr lang="en-US" sz="900" dirty="0"/>
          </a:p>
        </p:txBody>
      </p:sp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72046" y="4000400"/>
            <a:ext cx="2476438" cy="1495388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2066" y="4200420"/>
            <a:ext cx="304792" cy="304792"/>
          </a:xfrm>
          <a:prstGeom prst="rect">
            <a:avLst/>
          </a:prstGeom>
        </p:spPr>
      </p:pic>
      <p:pic>
        <p:nvPicPr>
          <p:cNvPr id="36" name="Image 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67313" y="4286143"/>
            <a:ext cx="123822" cy="133347"/>
          </a:xfrm>
          <a:prstGeom prst="rect">
            <a:avLst/>
          </a:prstGeom>
        </p:spPr>
      </p:pic>
      <p:sp>
        <p:nvSpPr>
          <p:cNvPr id="37" name="Text 13"/>
          <p:cNvSpPr/>
          <p:nvPr/>
        </p:nvSpPr>
        <p:spPr>
          <a:xfrm>
            <a:off x="6372066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独立扩展</a:t>
            </a:r>
            <a:endParaRPr lang="en-US" sz="1200" dirty="0"/>
          </a:p>
        </p:txBody>
      </p:sp>
      <p:sp>
        <p:nvSpPr>
          <p:cNvPr id="38" name="Text 14"/>
          <p:cNvSpPr/>
          <p:nvPr/>
        </p:nvSpPr>
        <p:spPr>
          <a:xfrm>
            <a:off x="6372066" y="4924302"/>
            <a:ext cx="20855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根据负载各自水平扩展，资源利用更高效</a:t>
            </a:r>
            <a:endParaRPr lang="en-US" sz="900" dirty="0"/>
          </a:p>
        </p:txBody>
      </p:sp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0880" y="4000400"/>
            <a:ext cx="2476438" cy="1495388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00900" y="4200420"/>
            <a:ext cx="304792" cy="304792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77098" y="4286143"/>
            <a:ext cx="171446" cy="133347"/>
          </a:xfrm>
          <a:prstGeom prst="rect">
            <a:avLst/>
          </a:prstGeom>
        </p:spPr>
      </p:pic>
      <p:sp>
        <p:nvSpPr>
          <p:cNvPr id="42" name="Text 15"/>
          <p:cNvSpPr/>
          <p:nvPr/>
        </p:nvSpPr>
        <p:spPr>
          <a:xfrm>
            <a:off x="9000900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灵活部署</a:t>
            </a:r>
            <a:endParaRPr lang="en-US" sz="1200" dirty="0"/>
          </a:p>
        </p:txBody>
      </p:sp>
      <p:sp>
        <p:nvSpPr>
          <p:cNvPr id="43" name="Text 16"/>
          <p:cNvSpPr/>
          <p:nvPr/>
        </p:nvSpPr>
        <p:spPr>
          <a:xfrm>
            <a:off x="9000900" y="4924302"/>
            <a:ext cx="2085542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支持单院独立与区域集中部署，满足不同规模</a:t>
            </a:r>
            <a:endParaRPr lang="en-US" sz="900" dirty="0"/>
          </a:p>
        </p:txBody>
      </p:sp>
      <p:pic>
        <p:nvPicPr>
          <p:cNvPr id="44" name="Image 25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45" name="Image 26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46" name="Image 2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33318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Security Architecture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多层安全防护体系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从网络、应用、数据、接口四个层面构建全方位安全防护，确保患者隐私安全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962101"/>
            <a:ext cx="5086223" cy="2085923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200220"/>
            <a:ext cx="457189" cy="457189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793" y="2333567"/>
            <a:ext cx="238119" cy="190495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762081" y="2228794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01</a:t>
            </a:r>
            <a:endParaRPr lang="en-US" sz="900" dirty="0"/>
          </a:p>
        </p:txBody>
      </p:sp>
      <p:sp>
        <p:nvSpPr>
          <p:cNvPr id="12" name="Text 4"/>
          <p:cNvSpPr/>
          <p:nvPr/>
        </p:nvSpPr>
        <p:spPr>
          <a:xfrm>
            <a:off x="1762081" y="2419290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网络安全</a:t>
            </a:r>
            <a:endParaRPr lang="en-US" sz="13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2886003"/>
            <a:ext cx="57149" cy="57149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1285843" y="2809805"/>
            <a:ext cx="126641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HTTPS/TLS加密传输</a:t>
            </a:r>
            <a:endParaRPr lang="en-US" sz="1050" dirty="0"/>
          </a:p>
        </p:txBody>
      </p:sp>
      <p:pic>
        <p:nvPicPr>
          <p:cNvPr id="15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181270"/>
            <a:ext cx="57149" cy="57149"/>
          </a:xfrm>
          <a:prstGeom prst="rect">
            <a:avLst/>
          </a:prstGeom>
        </p:spPr>
      </p:pic>
      <p:sp>
        <p:nvSpPr>
          <p:cNvPr id="16" name="Text 6"/>
          <p:cNvSpPr/>
          <p:nvPr/>
        </p:nvSpPr>
        <p:spPr>
          <a:xfrm>
            <a:off x="1285843" y="3105072"/>
            <a:ext cx="67587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防火墙配置</a:t>
            </a:r>
            <a:endParaRPr lang="en-US" sz="1050" dirty="0"/>
          </a:p>
        </p:txBody>
      </p:sp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476538"/>
            <a:ext cx="57149" cy="57149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285843" y="3400340"/>
            <a:ext cx="54253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访问控制</a:t>
            </a:r>
            <a:endParaRPr lang="en-US" sz="1050" dirty="0"/>
          </a:p>
        </p:txBody>
      </p:sp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95" y="1962101"/>
            <a:ext cx="5086223" cy="2085923"/>
          </a:xfrm>
          <a:prstGeom prst="rect">
            <a:avLst/>
          </a:prstGeom>
        </p:spPr>
      </p:pic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14" y="2200220"/>
            <a:ext cx="457189" cy="457189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1610" y="2333567"/>
            <a:ext cx="171446" cy="190495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7038799" y="2228794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02</a:t>
            </a:r>
            <a:endParaRPr lang="en-US" sz="900" dirty="0"/>
          </a:p>
        </p:txBody>
      </p:sp>
      <p:sp>
        <p:nvSpPr>
          <p:cNvPr id="23" name="Text 9"/>
          <p:cNvSpPr/>
          <p:nvPr/>
        </p:nvSpPr>
        <p:spPr>
          <a:xfrm>
            <a:off x="7038799" y="2419290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应用安全</a:t>
            </a:r>
            <a:endParaRPr lang="en-US" sz="135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2886003"/>
            <a:ext cx="57149" cy="57149"/>
          </a:xfrm>
          <a:prstGeom prst="rect">
            <a:avLst/>
          </a:prstGeom>
        </p:spPr>
      </p:pic>
      <p:sp>
        <p:nvSpPr>
          <p:cNvPr id="25" name="Text 10"/>
          <p:cNvSpPr/>
          <p:nvPr/>
        </p:nvSpPr>
        <p:spPr>
          <a:xfrm>
            <a:off x="6562561" y="2809805"/>
            <a:ext cx="1180690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Spring Security框架</a:t>
            </a:r>
            <a:endParaRPr lang="en-US" sz="105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3181270"/>
            <a:ext cx="57149" cy="57149"/>
          </a:xfrm>
          <a:prstGeom prst="rect">
            <a:avLst/>
          </a:prstGeom>
        </p:spPr>
      </p:pic>
      <p:sp>
        <p:nvSpPr>
          <p:cNvPr id="27" name="Text 11"/>
          <p:cNvSpPr/>
          <p:nvPr/>
        </p:nvSpPr>
        <p:spPr>
          <a:xfrm>
            <a:off x="6562561" y="3105072"/>
            <a:ext cx="818749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JWT令牌认证</a:t>
            </a:r>
            <a:endParaRPr lang="en-US" sz="1050" dirty="0"/>
          </a:p>
        </p:txBody>
      </p:sp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3476538"/>
            <a:ext cx="57149" cy="57149"/>
          </a:xfrm>
          <a:prstGeom prst="rect">
            <a:avLst/>
          </a:prstGeom>
        </p:spPr>
      </p:pic>
      <p:sp>
        <p:nvSpPr>
          <p:cNvPr id="29" name="Text 12"/>
          <p:cNvSpPr/>
          <p:nvPr/>
        </p:nvSpPr>
        <p:spPr>
          <a:xfrm>
            <a:off x="6562561" y="3400340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会话超时控制</a:t>
            </a:r>
            <a:endParaRPr lang="en-US" sz="1050" dirty="0"/>
          </a:p>
        </p:txBody>
      </p:sp>
      <p:pic>
        <p:nvPicPr>
          <p:cNvPr id="30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238519"/>
            <a:ext cx="5086223" cy="2085923"/>
          </a:xfrm>
          <a:prstGeom prst="rect">
            <a:avLst/>
          </a:prstGeom>
        </p:spPr>
      </p:pic>
      <p:pic>
        <p:nvPicPr>
          <p:cNvPr id="31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476638"/>
            <a:ext cx="457189" cy="457189"/>
          </a:xfrm>
          <a:prstGeom prst="rect">
            <a:avLst/>
          </a:prstGeom>
        </p:spPr>
      </p:pic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04892" y="4609985"/>
            <a:ext cx="171446" cy="190495"/>
          </a:xfrm>
          <a:prstGeom prst="rect">
            <a:avLst/>
          </a:prstGeom>
        </p:spPr>
      </p:pic>
      <p:sp>
        <p:nvSpPr>
          <p:cNvPr id="33" name="Text 13"/>
          <p:cNvSpPr/>
          <p:nvPr/>
        </p:nvSpPr>
        <p:spPr>
          <a:xfrm>
            <a:off x="1762081" y="4505212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03</a:t>
            </a:r>
            <a:endParaRPr lang="en-US" sz="900" dirty="0"/>
          </a:p>
        </p:txBody>
      </p:sp>
      <p:sp>
        <p:nvSpPr>
          <p:cNvPr id="34" name="Text 14"/>
          <p:cNvSpPr/>
          <p:nvPr/>
        </p:nvSpPr>
        <p:spPr>
          <a:xfrm>
            <a:off x="1762081" y="4695708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数据安全</a:t>
            </a:r>
            <a:endParaRPr lang="en-US" sz="1350" dirty="0"/>
          </a:p>
        </p:txBody>
      </p:sp>
      <p:pic>
        <p:nvPicPr>
          <p:cNvPr id="35" name="Image 1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162421"/>
            <a:ext cx="57149" cy="57149"/>
          </a:xfrm>
          <a:prstGeom prst="rect">
            <a:avLst/>
          </a:prstGeom>
        </p:spPr>
      </p:pic>
      <p:sp>
        <p:nvSpPr>
          <p:cNvPr id="36" name="Text 15"/>
          <p:cNvSpPr/>
          <p:nvPr/>
        </p:nvSpPr>
        <p:spPr>
          <a:xfrm>
            <a:off x="1285843" y="5086223"/>
            <a:ext cx="114259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AES-256-CBC加密</a:t>
            </a:r>
            <a:endParaRPr lang="en-US" sz="1050" dirty="0"/>
          </a:p>
        </p:txBody>
      </p:sp>
      <p:pic>
        <p:nvPicPr>
          <p:cNvPr id="37" name="Image 1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457689"/>
            <a:ext cx="57149" cy="57149"/>
          </a:xfrm>
          <a:prstGeom prst="rect">
            <a:avLst/>
          </a:prstGeom>
        </p:spPr>
      </p:pic>
      <p:sp>
        <p:nvSpPr>
          <p:cNvPr id="38" name="Text 16"/>
          <p:cNvSpPr/>
          <p:nvPr/>
        </p:nvSpPr>
        <p:spPr>
          <a:xfrm>
            <a:off x="1285843" y="5381490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敏感数据脱敏</a:t>
            </a:r>
            <a:endParaRPr lang="en-US" sz="1050" dirty="0"/>
          </a:p>
        </p:txBody>
      </p:sp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752956"/>
            <a:ext cx="57149" cy="57149"/>
          </a:xfrm>
          <a:prstGeom prst="rect">
            <a:avLst/>
          </a:prstGeom>
        </p:spPr>
      </p:pic>
      <p:sp>
        <p:nvSpPr>
          <p:cNvPr id="40" name="Text 17"/>
          <p:cNvSpPr/>
          <p:nvPr/>
        </p:nvSpPr>
        <p:spPr>
          <a:xfrm>
            <a:off x="1285843" y="5676758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完整审计日志</a:t>
            </a:r>
            <a:endParaRPr lang="en-US" sz="1050" dirty="0"/>
          </a:p>
        </p:txBody>
      </p:sp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95" y="4238519"/>
            <a:ext cx="5086223" cy="2085923"/>
          </a:xfrm>
          <a:prstGeom prst="rect">
            <a:avLst/>
          </a:prstGeom>
        </p:spPr>
      </p:pic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14" y="4476638"/>
            <a:ext cx="457189" cy="457189"/>
          </a:xfrm>
          <a:prstGeom prst="rect">
            <a:avLst/>
          </a:prstGeom>
        </p:spPr>
      </p:pic>
      <p:pic>
        <p:nvPicPr>
          <p:cNvPr id="43" name="Image 2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91135" y="4609985"/>
            <a:ext cx="142871" cy="190495"/>
          </a:xfrm>
          <a:prstGeom prst="rect">
            <a:avLst/>
          </a:prstGeom>
        </p:spPr>
      </p:pic>
      <p:sp>
        <p:nvSpPr>
          <p:cNvPr id="44" name="Text 18"/>
          <p:cNvSpPr/>
          <p:nvPr/>
        </p:nvSpPr>
        <p:spPr>
          <a:xfrm>
            <a:off x="7038799" y="4505212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04</a:t>
            </a:r>
            <a:endParaRPr lang="en-US" sz="900" dirty="0"/>
          </a:p>
        </p:txBody>
      </p:sp>
      <p:sp>
        <p:nvSpPr>
          <p:cNvPr id="45" name="Text 19"/>
          <p:cNvSpPr/>
          <p:nvPr/>
        </p:nvSpPr>
        <p:spPr>
          <a:xfrm>
            <a:off x="7038799" y="4695708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接口安全</a:t>
            </a:r>
            <a:endParaRPr lang="en-US" sz="1350" dirty="0"/>
          </a:p>
        </p:txBody>
      </p:sp>
      <p:pic>
        <p:nvPicPr>
          <p:cNvPr id="46" name="Image 2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5162421"/>
            <a:ext cx="57149" cy="57149"/>
          </a:xfrm>
          <a:prstGeom prst="rect">
            <a:avLst/>
          </a:prstGeom>
        </p:spPr>
      </p:pic>
      <p:sp>
        <p:nvSpPr>
          <p:cNvPr id="47" name="Text 20"/>
          <p:cNvSpPr/>
          <p:nvPr/>
        </p:nvSpPr>
        <p:spPr>
          <a:xfrm>
            <a:off x="6562561" y="5086223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严格参数校验</a:t>
            </a:r>
            <a:endParaRPr lang="en-US" sz="1050" dirty="0"/>
          </a:p>
        </p:txBody>
      </p:sp>
      <p:pic>
        <p:nvPicPr>
          <p:cNvPr id="48" name="Image 2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5457689"/>
            <a:ext cx="57149" cy="57149"/>
          </a:xfrm>
          <a:prstGeom prst="rect">
            <a:avLst/>
          </a:prstGeom>
        </p:spPr>
      </p:pic>
      <p:sp>
        <p:nvSpPr>
          <p:cNvPr id="49" name="Text 21"/>
          <p:cNvSpPr/>
          <p:nvPr/>
        </p:nvSpPr>
        <p:spPr>
          <a:xfrm>
            <a:off x="6562561" y="5381490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标准化错误码</a:t>
            </a:r>
            <a:endParaRPr lang="en-US" sz="1050" dirty="0"/>
          </a:p>
        </p:txBody>
      </p:sp>
      <p:pic>
        <p:nvPicPr>
          <p:cNvPr id="50" name="Image 2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5752956"/>
            <a:ext cx="57149" cy="57149"/>
          </a:xfrm>
          <a:prstGeom prst="rect">
            <a:avLst/>
          </a:prstGeom>
        </p:spPr>
      </p:pic>
      <p:sp>
        <p:nvSpPr>
          <p:cNvPr id="51" name="Text 22"/>
          <p:cNvSpPr/>
          <p:nvPr/>
        </p:nvSpPr>
        <p:spPr>
          <a:xfrm>
            <a:off x="6562561" y="5676758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智能限流控制</a:t>
            </a:r>
            <a:endParaRPr lang="en-US" sz="1050" dirty="0"/>
          </a:p>
        </p:txBody>
      </p:sp>
      <p:pic>
        <p:nvPicPr>
          <p:cNvPr id="52" name="Image 27" descr="preencoded.png"/>
          <p:cNvPicPr>
            <a:picLocks noChangeAspect="1"/>
          </p:cNvPicPr>
          <p:nvPr/>
        </p:nvPicPr>
        <p:blipFill>
          <a:blip r:embed="rId11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53" name="Image 28" descr="preencoded.png"/>
          <p:cNvPicPr>
            <a:picLocks noChangeAspect="1"/>
          </p:cNvPicPr>
          <p:nvPr/>
        </p:nvPicPr>
        <p:blipFill>
          <a:blip r:embed="rId12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54" name="Image 2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1426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 Diagnostic System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AI诊疗辅助系统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523962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智能组装患者数据为Prompt，调用大语言模型提供诊断建议和治疗方案参考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114497"/>
            <a:ext cx="304792" cy="304792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1333467" y="2162121"/>
            <a:ext cx="771125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核心功能</a:t>
            </a:r>
            <a:endParaRPr lang="en-US" sz="1500" dirty="0"/>
          </a:p>
        </p:txBody>
      </p:sp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2609785"/>
            <a:ext cx="3143171" cy="1895428"/>
          </a:xfrm>
          <a:prstGeom prst="rect">
            <a:avLst/>
          </a:prstGeom>
        </p:spPr>
      </p:pic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4397" y="2809805"/>
            <a:ext cx="380990" cy="380990"/>
          </a:xfrm>
          <a:prstGeom prst="rect">
            <a:avLst/>
          </a:prstGeom>
        </p:spPr>
      </p:pic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7744" y="2924102"/>
            <a:ext cx="114297" cy="152396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114397" y="3305092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Prompt智能组装</a:t>
            </a:r>
            <a:endParaRPr lang="en-US" sz="1200" dirty="0"/>
          </a:p>
        </p:txBody>
      </p:sp>
      <p:sp>
        <p:nvSpPr>
          <p:cNvPr id="14" name="Text 5"/>
          <p:cNvSpPr/>
          <p:nvPr/>
        </p:nvSpPr>
        <p:spPr>
          <a:xfrm>
            <a:off x="1114397" y="3609885"/>
            <a:ext cx="2752275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内置多种模板（诊断分析、治疗建议、风险评估），支持自定义</a:t>
            </a:r>
            <a:endParaRPr lang="en-US" sz="1050" dirty="0"/>
          </a:p>
        </p:txBody>
      </p:sp>
      <p:pic>
        <p:nvPicPr>
          <p:cNvPr id="15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9945" y="2609785"/>
            <a:ext cx="3143171" cy="1895428"/>
          </a:xfrm>
          <a:prstGeom prst="rect">
            <a:avLst/>
          </a:prstGeom>
        </p:spPr>
      </p:pic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9965" y="2809805"/>
            <a:ext cx="380990" cy="380990"/>
          </a:xfrm>
          <a:prstGeom prst="rect">
            <a:avLst/>
          </a:prstGeom>
        </p:spPr>
      </p:pic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4262" y="2924102"/>
            <a:ext cx="152396" cy="152396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4409965" y="3305092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多模型支持</a:t>
            </a:r>
            <a:endParaRPr lang="en-US" sz="1200" dirty="0"/>
          </a:p>
        </p:txBody>
      </p:sp>
      <p:sp>
        <p:nvSpPr>
          <p:cNvPr id="19" name="Text 7"/>
          <p:cNvSpPr/>
          <p:nvPr/>
        </p:nvSpPr>
        <p:spPr>
          <a:xfrm>
            <a:off x="4409965" y="3609885"/>
            <a:ext cx="275227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DeepSeek Chat、阿里百炼等，灵活切换</a:t>
            </a:r>
            <a:endParaRPr lang="en-US" sz="1050" dirty="0"/>
          </a:p>
        </p:txBody>
      </p:sp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377" y="4648084"/>
            <a:ext cx="3143171" cy="1676358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4397" y="4848104"/>
            <a:ext cx="380990" cy="380990"/>
          </a:xfrm>
          <a:prstGeom prst="rect">
            <a:avLst/>
          </a:prstGeom>
        </p:spPr>
      </p:pic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47744" y="4962401"/>
            <a:ext cx="114297" cy="152396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1114397" y="5343391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流式响应</a:t>
            </a:r>
            <a:endParaRPr lang="en-US" sz="1200" dirty="0"/>
          </a:p>
        </p:txBody>
      </p:sp>
      <p:sp>
        <p:nvSpPr>
          <p:cNvPr id="24" name="Text 9"/>
          <p:cNvSpPr/>
          <p:nvPr/>
        </p:nvSpPr>
        <p:spPr>
          <a:xfrm>
            <a:off x="1114397" y="5648184"/>
            <a:ext cx="275227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实时返回生成结果，无需长时间等待</a:t>
            </a:r>
            <a:endParaRPr lang="en-US" sz="1050" dirty="0"/>
          </a:p>
        </p:txBody>
      </p:sp>
      <p:pic>
        <p:nvPicPr>
          <p:cNvPr id="25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9945" y="4648084"/>
            <a:ext cx="3143171" cy="1676358"/>
          </a:xfrm>
          <a:prstGeom prst="rect">
            <a:avLst/>
          </a:prstGeom>
        </p:spPr>
      </p:pic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9965" y="4848104"/>
            <a:ext cx="380990" cy="380990"/>
          </a:xfrm>
          <a:prstGeom prst="rect">
            <a:avLst/>
          </a:prstGeom>
        </p:spPr>
      </p:pic>
      <p:pic>
        <p:nvPicPr>
          <p:cNvPr id="27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24262" y="4962401"/>
            <a:ext cx="152396" cy="152396"/>
          </a:xfrm>
          <a:prstGeom prst="rect">
            <a:avLst/>
          </a:prstGeom>
        </p:spPr>
      </p:pic>
      <p:sp>
        <p:nvSpPr>
          <p:cNvPr id="28" name="Text 10"/>
          <p:cNvSpPr/>
          <p:nvPr/>
        </p:nvSpPr>
        <p:spPr>
          <a:xfrm>
            <a:off x="4409965" y="5343391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结果管理</a:t>
            </a:r>
            <a:endParaRPr lang="en-US" sz="1200" dirty="0"/>
          </a:p>
        </p:txBody>
      </p:sp>
      <p:sp>
        <p:nvSpPr>
          <p:cNvPr id="29" name="Text 11"/>
          <p:cNvSpPr/>
          <p:nvPr/>
        </p:nvSpPr>
        <p:spPr>
          <a:xfrm>
            <a:off x="4409965" y="5648184"/>
            <a:ext cx="275227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存储历史分析结果，医生可编辑反馈</a:t>
            </a:r>
            <a:endParaRPr lang="en-US" sz="1050" dirty="0"/>
          </a:p>
        </p:txBody>
      </p:sp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7909" y="2114497"/>
            <a:ext cx="304792" cy="304792"/>
          </a:xfrm>
          <a:prstGeom prst="rect">
            <a:avLst/>
          </a:prstGeom>
        </p:spPr>
      </p:pic>
      <p:sp>
        <p:nvSpPr>
          <p:cNvPr id="31" name="Text 12"/>
          <p:cNvSpPr/>
          <p:nvPr/>
        </p:nvSpPr>
        <p:spPr>
          <a:xfrm>
            <a:off x="8076998" y="2162121"/>
            <a:ext cx="771125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工作流程</a:t>
            </a:r>
            <a:endParaRPr lang="en-US" sz="15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57909" y="2609785"/>
            <a:ext cx="3619410" cy="3724182"/>
          </a:xfrm>
          <a:prstGeom prst="rect">
            <a:avLst/>
          </a:prstGeom>
        </p:spPr>
      </p:pic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38899" y="3076498"/>
            <a:ext cx="19050" cy="2790755"/>
          </a:xfrm>
          <a:prstGeom prst="rect">
            <a:avLst/>
          </a:prstGeom>
        </p:spPr>
      </p:pic>
      <p:sp>
        <p:nvSpPr>
          <p:cNvPr id="34" name="Text 13"/>
          <p:cNvSpPr/>
          <p:nvPr/>
        </p:nvSpPr>
        <p:spPr>
          <a:xfrm>
            <a:off x="8353216" y="2847904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患者数据</a:t>
            </a:r>
            <a:endParaRPr lang="en-US" sz="1200" dirty="0"/>
          </a:p>
        </p:txBody>
      </p:sp>
      <p:pic>
        <p:nvPicPr>
          <p:cNvPr id="35" name="Image 1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2895528"/>
            <a:ext cx="304792" cy="304792"/>
          </a:xfrm>
          <a:prstGeom prst="rect">
            <a:avLst/>
          </a:prstGeom>
        </p:spPr>
      </p:pic>
      <p:sp>
        <p:nvSpPr>
          <p:cNvPr id="36" name="Text 14"/>
          <p:cNvSpPr/>
          <p:nvPr/>
        </p:nvSpPr>
        <p:spPr>
          <a:xfrm>
            <a:off x="7896028" y="2895528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050" dirty="0"/>
          </a:p>
        </p:txBody>
      </p:sp>
      <p:sp>
        <p:nvSpPr>
          <p:cNvPr id="37" name="Text 15"/>
          <p:cNvSpPr/>
          <p:nvPr/>
        </p:nvSpPr>
        <p:spPr>
          <a:xfrm>
            <a:off x="8353216" y="3400340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智能组装Prompt</a:t>
            </a:r>
            <a:endParaRPr lang="en-US" sz="1200" dirty="0"/>
          </a:p>
        </p:txBody>
      </p:sp>
      <p:pic>
        <p:nvPicPr>
          <p:cNvPr id="38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3447964"/>
            <a:ext cx="304792" cy="304792"/>
          </a:xfrm>
          <a:prstGeom prst="rect">
            <a:avLst/>
          </a:prstGeom>
        </p:spPr>
      </p:pic>
      <p:sp>
        <p:nvSpPr>
          <p:cNvPr id="39" name="Text 16"/>
          <p:cNvSpPr/>
          <p:nvPr/>
        </p:nvSpPr>
        <p:spPr>
          <a:xfrm>
            <a:off x="7896028" y="3447964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endParaRPr lang="en-US" sz="1050" dirty="0"/>
          </a:p>
        </p:txBody>
      </p:sp>
      <p:sp>
        <p:nvSpPr>
          <p:cNvPr id="40" name="Text 17"/>
          <p:cNvSpPr/>
          <p:nvPr/>
        </p:nvSpPr>
        <p:spPr>
          <a:xfrm>
            <a:off x="8353216" y="3952776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调用大模型</a:t>
            </a:r>
            <a:endParaRPr lang="en-US" sz="1200" dirty="0"/>
          </a:p>
        </p:txBody>
      </p:sp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4000400"/>
            <a:ext cx="304792" cy="304792"/>
          </a:xfrm>
          <a:prstGeom prst="rect">
            <a:avLst/>
          </a:prstGeom>
        </p:spPr>
      </p:pic>
      <p:sp>
        <p:nvSpPr>
          <p:cNvPr id="42" name="Text 18"/>
          <p:cNvSpPr/>
          <p:nvPr/>
        </p:nvSpPr>
        <p:spPr>
          <a:xfrm>
            <a:off x="7896028" y="4000400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</a:t>
            </a:r>
            <a:endParaRPr lang="en-US" sz="1050" dirty="0"/>
          </a:p>
        </p:txBody>
      </p:sp>
      <p:sp>
        <p:nvSpPr>
          <p:cNvPr id="43" name="Text 19"/>
          <p:cNvSpPr/>
          <p:nvPr/>
        </p:nvSpPr>
        <p:spPr>
          <a:xfrm>
            <a:off x="8353216" y="4505212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生成诊断建议</a:t>
            </a:r>
            <a:endParaRPr lang="en-US" sz="1200" dirty="0"/>
          </a:p>
        </p:txBody>
      </p:sp>
      <p:pic>
        <p:nvPicPr>
          <p:cNvPr id="44" name="Image 2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4552836"/>
            <a:ext cx="304792" cy="304792"/>
          </a:xfrm>
          <a:prstGeom prst="rect">
            <a:avLst/>
          </a:prstGeom>
        </p:spPr>
      </p:pic>
      <p:sp>
        <p:nvSpPr>
          <p:cNvPr id="45" name="Text 20"/>
          <p:cNvSpPr/>
          <p:nvPr/>
        </p:nvSpPr>
        <p:spPr>
          <a:xfrm>
            <a:off x="7896028" y="4552836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4</a:t>
            </a:r>
            <a:endParaRPr lang="en-US" sz="1050" dirty="0"/>
          </a:p>
        </p:txBody>
      </p:sp>
      <p:sp>
        <p:nvSpPr>
          <p:cNvPr id="46" name="Text 21"/>
          <p:cNvSpPr/>
          <p:nvPr/>
        </p:nvSpPr>
        <p:spPr>
          <a:xfrm>
            <a:off x="8353216" y="5057649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15E5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医生参考决策</a:t>
            </a:r>
            <a:endParaRPr lang="en-US" sz="1200" dirty="0"/>
          </a:p>
        </p:txBody>
      </p:sp>
      <p:pic>
        <p:nvPicPr>
          <p:cNvPr id="47" name="Image 2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5105272"/>
            <a:ext cx="304792" cy="304792"/>
          </a:xfrm>
          <a:prstGeom prst="rect">
            <a:avLst/>
          </a:prstGeom>
        </p:spPr>
      </p:pic>
      <p:sp>
        <p:nvSpPr>
          <p:cNvPr id="48" name="Text 22"/>
          <p:cNvSpPr/>
          <p:nvPr/>
        </p:nvSpPr>
        <p:spPr>
          <a:xfrm>
            <a:off x="7896028" y="5105272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</a:t>
            </a:r>
            <a:endParaRPr lang="en-US" sz="1050" dirty="0"/>
          </a:p>
        </p:txBody>
      </p:sp>
      <p:pic>
        <p:nvPicPr>
          <p:cNvPr id="49" name="Image 24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50" name="Image 25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51" name="Image 2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18093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Core Capabilities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DRG智能分析系统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自动匹配DRG分组，实时计算医保盈亏，辅助医保精细化管理</a:t>
            </a:r>
            <a:endParaRPr lang="en-US" sz="1350" dirty="0"/>
          </a:p>
        </p:txBody>
      </p:sp>
      <p:sp>
        <p:nvSpPr>
          <p:cNvPr id="8" name="Text 3"/>
          <p:cNvSpPr/>
          <p:nvPr/>
        </p:nvSpPr>
        <p:spPr>
          <a:xfrm>
            <a:off x="914377" y="2257369"/>
            <a:ext cx="610499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核心能力</a:t>
            </a:r>
            <a:endParaRPr lang="en-US" sz="15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676458"/>
            <a:ext cx="6095848" cy="952476"/>
          </a:xfrm>
          <a:prstGeom prst="rect">
            <a:avLst/>
          </a:prstGeom>
        </p:spPr>
      </p:pic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2895528"/>
            <a:ext cx="304792" cy="304792"/>
          </a:xfrm>
          <a:prstGeom prst="rect">
            <a:avLst/>
          </a:prstGeom>
        </p:spPr>
      </p:pic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9170" y="2981250"/>
            <a:ext cx="104772" cy="133347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1533487" y="2876478"/>
            <a:ext cx="528586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DRG自动匹配</a:t>
            </a:r>
            <a:endParaRPr lang="en-US" sz="120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3487" y="3181270"/>
            <a:ext cx="828654" cy="247644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1609685" y="3219370"/>
            <a:ext cx="685402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ICD精确匹配</a:t>
            </a:r>
            <a:endParaRPr lang="en-US" sz="900" dirty="0"/>
          </a:p>
        </p:txBody>
      </p:sp>
      <p:sp>
        <p:nvSpPr>
          <p:cNvPr id="15" name="Text 6"/>
          <p:cNvSpPr/>
          <p:nvPr/>
        </p:nvSpPr>
        <p:spPr>
          <a:xfrm>
            <a:off x="2438339" y="3209845"/>
            <a:ext cx="1424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→</a:t>
            </a:r>
            <a:endParaRPr lang="en-US" sz="105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47884" y="3181270"/>
            <a:ext cx="857229" cy="247644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2724082" y="3219370"/>
            <a:ext cx="713976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名称双向包含</a:t>
            </a:r>
            <a:endParaRPr lang="en-US" sz="900" dirty="0"/>
          </a:p>
        </p:txBody>
      </p:sp>
      <p:sp>
        <p:nvSpPr>
          <p:cNvPr id="18" name="Text 8"/>
          <p:cNvSpPr/>
          <p:nvPr/>
        </p:nvSpPr>
        <p:spPr>
          <a:xfrm>
            <a:off x="3581310" y="3209845"/>
            <a:ext cx="1424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→</a:t>
            </a:r>
            <a:endParaRPr lang="en-US" sz="105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90855" y="3181270"/>
            <a:ext cx="1428714" cy="247644"/>
          </a:xfrm>
          <a:prstGeom prst="rect">
            <a:avLst/>
          </a:prstGeom>
        </p:spPr>
      </p:pic>
      <p:sp>
        <p:nvSpPr>
          <p:cNvPr id="20" name="Text 9"/>
          <p:cNvSpPr/>
          <p:nvPr/>
        </p:nvSpPr>
        <p:spPr>
          <a:xfrm>
            <a:off x="3867053" y="3219370"/>
            <a:ext cx="1285462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相似度智能匹配（≥0.7）</a:t>
            </a:r>
            <a:endParaRPr lang="en-US" sz="900" dirty="0"/>
          </a:p>
        </p:txBody>
      </p:sp>
      <p:pic>
        <p:nvPicPr>
          <p:cNvPr id="2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3743231"/>
            <a:ext cx="6095848" cy="885803"/>
          </a:xfrm>
          <a:prstGeom prst="rect">
            <a:avLst/>
          </a:prstGeom>
        </p:spPr>
      </p:pic>
      <p:pic>
        <p:nvPicPr>
          <p:cNvPr id="22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3962301"/>
            <a:ext cx="304792" cy="304792"/>
          </a:xfrm>
          <a:prstGeom prst="rect">
            <a:avLst/>
          </a:prstGeom>
        </p:spPr>
      </p:pic>
      <p:pic>
        <p:nvPicPr>
          <p:cNvPr id="2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9645" y="4048024"/>
            <a:ext cx="123822" cy="133347"/>
          </a:xfrm>
          <a:prstGeom prst="rect">
            <a:avLst/>
          </a:prstGeom>
        </p:spPr>
      </p:pic>
      <p:sp>
        <p:nvSpPr>
          <p:cNvPr id="24" name="Text 10"/>
          <p:cNvSpPr/>
          <p:nvPr/>
        </p:nvSpPr>
        <p:spPr>
          <a:xfrm>
            <a:off x="1533487" y="3943251"/>
            <a:ext cx="234271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双向严格分流</a:t>
            </a:r>
            <a:endParaRPr lang="en-US" sz="1200" dirty="0"/>
          </a:p>
        </p:txBody>
      </p:sp>
      <p:sp>
        <p:nvSpPr>
          <p:cNvPr id="25" name="Text 11"/>
          <p:cNvSpPr/>
          <p:nvPr/>
        </p:nvSpPr>
        <p:spPr>
          <a:xfrm>
            <a:off x="1533487" y="4209945"/>
            <a:ext cx="234271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有手术/无手术患者分别匹配对应DRG组</a:t>
            </a:r>
            <a:endParaRPr lang="en-US" sz="1050" dirty="0"/>
          </a:p>
        </p:txBody>
      </p:sp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4733807"/>
            <a:ext cx="6095848" cy="885803"/>
          </a:xfrm>
          <a:prstGeom prst="rect">
            <a:avLst/>
          </a:prstGeom>
        </p:spPr>
      </p:pic>
      <p:pic>
        <p:nvPicPr>
          <p:cNvPr id="27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4952876"/>
            <a:ext cx="304792" cy="304792"/>
          </a:xfrm>
          <a:prstGeom prst="rect">
            <a:avLst/>
          </a:prstGeom>
        </p:spPr>
      </p:pic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9170" y="5038599"/>
            <a:ext cx="104772" cy="133347"/>
          </a:xfrm>
          <a:prstGeom prst="rect">
            <a:avLst/>
          </a:prstGeom>
        </p:spPr>
      </p:pic>
      <p:sp>
        <p:nvSpPr>
          <p:cNvPr id="29" name="Text 12"/>
          <p:cNvSpPr/>
          <p:nvPr/>
        </p:nvSpPr>
        <p:spPr>
          <a:xfrm>
            <a:off x="1533487" y="4933827"/>
            <a:ext cx="200934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盈亏实时计算</a:t>
            </a:r>
            <a:endParaRPr lang="en-US" sz="1200" dirty="0"/>
          </a:p>
        </p:txBody>
      </p:sp>
      <p:sp>
        <p:nvSpPr>
          <p:cNvPr id="30" name="Text 13"/>
          <p:cNvSpPr/>
          <p:nvPr/>
        </p:nvSpPr>
        <p:spPr>
          <a:xfrm>
            <a:off x="1533487" y="5200520"/>
            <a:ext cx="200934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实时对比医保支付标准与实际费用</a:t>
            </a:r>
            <a:endParaRPr lang="en-US" sz="1050" dirty="0"/>
          </a:p>
        </p:txBody>
      </p:sp>
      <p:sp>
        <p:nvSpPr>
          <p:cNvPr id="36" name="Text 16"/>
          <p:cNvSpPr/>
          <p:nvPr/>
        </p:nvSpPr>
        <p:spPr>
          <a:xfrm>
            <a:off x="7315017" y="2257369"/>
            <a:ext cx="397144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价值体现</a:t>
            </a:r>
            <a:endParaRPr lang="en-US" sz="150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15017" y="2638359"/>
            <a:ext cx="3962301" cy="3076498"/>
          </a:xfrm>
          <a:prstGeom prst="rect">
            <a:avLst/>
          </a:prstGeom>
        </p:spPr>
      </p:pic>
      <p:pic>
        <p:nvPicPr>
          <p:cNvPr id="38" name="Image 19" descr="preencoded.png"/>
          <p:cNvPicPr>
            <a:picLocks noChangeAspect="1"/>
          </p:cNvPicPr>
          <p:nvPr/>
        </p:nvPicPr>
        <p:blipFill>
          <a:blip r:embed="rId14">
            <a:alphaModFix amt="30000"/>
          </a:blip>
          <a:stretch>
            <a:fillRect/>
          </a:stretch>
        </p:blipFill>
        <p:spPr>
          <a:xfrm>
            <a:off x="10515337" y="1876378"/>
            <a:ext cx="1523962" cy="1523962"/>
          </a:xfrm>
          <a:prstGeom prst="rect">
            <a:avLst/>
          </a:prstGeom>
        </p:spPr>
      </p:pic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15">
            <a:alphaModFix amt="40000"/>
          </a:blip>
          <a:stretch>
            <a:fillRect/>
          </a:stretch>
        </p:blipFill>
        <p:spPr>
          <a:xfrm>
            <a:off x="6857829" y="5248144"/>
            <a:ext cx="914377" cy="914377"/>
          </a:xfrm>
          <a:prstGeom prst="rect">
            <a:avLst/>
          </a:prstGeom>
        </p:spPr>
      </p:pic>
      <p:pic>
        <p:nvPicPr>
          <p:cNvPr id="40" name="Image 2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19809" y="3305092"/>
            <a:ext cx="457189" cy="457189"/>
          </a:xfrm>
          <a:prstGeom prst="rect">
            <a:avLst/>
          </a:prstGeom>
        </p:spPr>
      </p:pic>
      <p:pic>
        <p:nvPicPr>
          <p:cNvPr id="41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753156" y="3438439"/>
            <a:ext cx="190495" cy="190495"/>
          </a:xfrm>
          <a:prstGeom prst="rect">
            <a:avLst/>
          </a:prstGeom>
        </p:spPr>
      </p:pic>
      <p:sp>
        <p:nvSpPr>
          <p:cNvPr id="42" name="Text 17"/>
          <p:cNvSpPr/>
          <p:nvPr/>
        </p:nvSpPr>
        <p:spPr>
          <a:xfrm>
            <a:off x="8191295" y="3381290"/>
            <a:ext cx="92352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核心收益</a:t>
            </a:r>
            <a:endParaRPr lang="en-US" sz="1800" dirty="0"/>
          </a:p>
        </p:txBody>
      </p:sp>
      <p:pic>
        <p:nvPicPr>
          <p:cNvPr id="43" name="Image 2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9809" y="4048024"/>
            <a:ext cx="123822" cy="133347"/>
          </a:xfrm>
          <a:prstGeom prst="rect">
            <a:avLst/>
          </a:prstGeom>
        </p:spPr>
      </p:pic>
      <p:sp>
        <p:nvSpPr>
          <p:cNvPr id="44" name="Text 18"/>
          <p:cNvSpPr/>
          <p:nvPr/>
        </p:nvSpPr>
        <p:spPr>
          <a:xfrm>
            <a:off x="7857929" y="3990875"/>
            <a:ext cx="1418809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提升DRG分组准确性</a:t>
            </a:r>
            <a:endParaRPr lang="en-US" sz="1200" dirty="0"/>
          </a:p>
        </p:txBody>
      </p:sp>
      <p:pic>
        <p:nvPicPr>
          <p:cNvPr id="45" name="Image 2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9809" y="4448064"/>
            <a:ext cx="123822" cy="133347"/>
          </a:xfrm>
          <a:prstGeom prst="rect">
            <a:avLst/>
          </a:prstGeom>
        </p:spPr>
      </p:pic>
      <p:sp>
        <p:nvSpPr>
          <p:cNvPr id="46" name="Text 19"/>
          <p:cNvSpPr/>
          <p:nvPr/>
        </p:nvSpPr>
        <p:spPr>
          <a:xfrm>
            <a:off x="7857929" y="4390915"/>
            <a:ext cx="92352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优化医保收益</a:t>
            </a:r>
            <a:endParaRPr lang="en-US" sz="1200" dirty="0"/>
          </a:p>
        </p:txBody>
      </p:sp>
      <p:pic>
        <p:nvPicPr>
          <p:cNvPr id="47" name="Image 2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9809" y="4848104"/>
            <a:ext cx="123822" cy="133347"/>
          </a:xfrm>
          <a:prstGeom prst="rect">
            <a:avLst/>
          </a:prstGeom>
        </p:spPr>
      </p:pic>
      <p:sp>
        <p:nvSpPr>
          <p:cNvPr id="48" name="Text 20"/>
          <p:cNvSpPr/>
          <p:nvPr/>
        </p:nvSpPr>
        <p:spPr>
          <a:xfrm>
            <a:off x="7857929" y="4790955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支持医院精细化管理</a:t>
            </a:r>
            <a:endParaRPr lang="en-US" sz="1200" dirty="0"/>
          </a:p>
        </p:txBody>
      </p:sp>
      <p:pic>
        <p:nvPicPr>
          <p:cNvPr id="49" name="Image 2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315017" y="5857729"/>
            <a:ext cx="3962301" cy="761981"/>
          </a:xfrm>
          <a:prstGeom prst="rect">
            <a:avLst/>
          </a:prstGeom>
        </p:spPr>
      </p:pic>
      <p:pic>
        <p:nvPicPr>
          <p:cNvPr id="50" name="Image 2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476938" y="6038699"/>
            <a:ext cx="104772" cy="133347"/>
          </a:xfrm>
          <a:prstGeom prst="rect">
            <a:avLst/>
          </a:prstGeom>
        </p:spPr>
      </p:pic>
      <p:sp>
        <p:nvSpPr>
          <p:cNvPr id="51" name="Text 21"/>
          <p:cNvSpPr/>
          <p:nvPr/>
        </p:nvSpPr>
        <p:spPr>
          <a:xfrm>
            <a:off x="7696008" y="6019650"/>
            <a:ext cx="3438058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通过智能算法降低人工编码错误率，实现医保控费与医疗质量的双重提升</a:t>
            </a:r>
            <a:endParaRPr lang="en-US" sz="1050" dirty="0"/>
          </a:p>
        </p:txBody>
      </p:sp>
      <p:pic>
        <p:nvPicPr>
          <p:cNvPr id="52" name="Image 2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  <p:pic>
        <p:nvPicPr>
          <p:cNvPr id="53" name="Image 29" descr="preencoded.png"/>
          <p:cNvPicPr>
            <a:picLocks noChangeAspect="1"/>
          </p:cNvPicPr>
          <p:nvPr/>
        </p:nvPicPr>
        <p:blipFill>
          <a:blip r:embed="rId22">
            <a:alphaModFix amt="4000"/>
          </a:blip>
          <a:stretch>
            <a:fillRect/>
          </a:stretch>
        </p:blipFill>
        <p:spPr>
          <a:xfrm>
            <a:off x="10286743" y="685783"/>
            <a:ext cx="1085823" cy="108582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2760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Intelligent Screening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并发症智能筛查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8543331" cy="4952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基于12,000+条MCC字典，自动筛查患者可能的严重并发症/合并症（MCC）和一般并发症/合并症（CC），提升诊断编码完整率。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209745"/>
            <a:ext cx="5086223" cy="1495388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571686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269" y="2676458"/>
            <a:ext cx="17144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85883" y="2571686"/>
            <a:ext cx="408574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智能匹配算法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685883" y="2914577"/>
            <a:ext cx="4085742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编码精确匹配结合名称相似度匹配（Levenshtein算法），双重保障确保筛查准确性，有效识别潜在并发症。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95" y="2209745"/>
            <a:ext cx="5086223" cy="1495388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14" y="2571686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3987" y="2676458"/>
            <a:ext cx="171446" cy="171446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6962601" y="2571686"/>
            <a:ext cx="408574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自动排除规则</a:t>
            </a:r>
            <a:endParaRPr lang="en-US" sz="1350" dirty="0"/>
          </a:p>
        </p:txBody>
      </p:sp>
      <p:sp>
        <p:nvSpPr>
          <p:cNvPr id="17" name="Text 6"/>
          <p:cNvSpPr/>
          <p:nvPr/>
        </p:nvSpPr>
        <p:spPr>
          <a:xfrm>
            <a:off x="6962601" y="2914577"/>
            <a:ext cx="4085742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内置医学逻辑排除规则引擎，自动检查并过滤误匹配项，避免假阳性结果，确保临床参考价值。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3895628"/>
            <a:ext cx="5086223" cy="1495388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257569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7269" y="4362341"/>
            <a:ext cx="171446" cy="17144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1685883" y="4257569"/>
            <a:ext cx="408574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分组优先级排序</a:t>
            </a:r>
            <a:endParaRPr lang="en-US" sz="1350" dirty="0"/>
          </a:p>
        </p:txBody>
      </p:sp>
      <p:sp>
        <p:nvSpPr>
          <p:cNvPr id="22" name="Text 8"/>
          <p:cNvSpPr/>
          <p:nvPr/>
        </p:nvSpPr>
        <p:spPr>
          <a:xfrm>
            <a:off x="1685883" y="4600460"/>
            <a:ext cx="4085742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按来源诊断智能分组展示，MCC（严重并发症）优先于CC（一般并发症）呈现，符合临床诊断逻辑。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377" y="5619610"/>
            <a:ext cx="10362941" cy="704832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4397" y="5819630"/>
            <a:ext cx="304792" cy="304792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170" y="5905352"/>
            <a:ext cx="104772" cy="133347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1571586" y="5905352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5E5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演示要点</a:t>
            </a:r>
            <a:endParaRPr lang="en-US" sz="900" dirty="0"/>
          </a:p>
        </p:txBody>
      </p:sp>
      <p:sp>
        <p:nvSpPr>
          <p:cNvPr id="32" name="Text 12"/>
          <p:cNvSpPr/>
          <p:nvPr/>
        </p:nvSpPr>
        <p:spPr>
          <a:xfrm>
            <a:off x="2171646" y="5876778"/>
            <a:ext cx="3018969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查看患者MCC/CC筛查结果 → 展示候选并发症列表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2">
            <a:alphaModFix amt="6000"/>
          </a:blip>
          <a:stretch>
            <a:fillRect/>
          </a:stretch>
        </p:blipFill>
        <p:spPr>
          <a:xfrm>
            <a:off x="10439139" y="457189"/>
            <a:ext cx="1085823" cy="1085823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629634" y="647684"/>
            <a:ext cx="1009625" cy="1009625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1856948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Voice Recognition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语音识别病历辅助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600160"/>
            <a:ext cx="854333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支持医生通过语音实时录入病历，AI辅助整理格式，</a:t>
            </a:r>
            <a:r>
              <a:rPr lang="en-US" sz="13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大幅提升病历书写效率</a:t>
            </a: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。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114497"/>
            <a:ext cx="6133947" cy="4219470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8694" y="2428814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041" y="2533587"/>
            <a:ext cx="133347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723982" y="2485963"/>
            <a:ext cx="11235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两种识别模式</a:t>
            </a:r>
            <a:endParaRPr lang="en-US" sz="15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038399"/>
            <a:ext cx="5505312" cy="428614"/>
          </a:xfrm>
          <a:prstGeom prst="rect">
            <a:avLst/>
          </a:prstGeom>
        </p:spPr>
      </p:pic>
      <p:pic>
        <p:nvPicPr>
          <p:cNvPr id="13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8694" y="3038399"/>
            <a:ext cx="1209645" cy="428614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1381090" y="3152696"/>
            <a:ext cx="913996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模式</a:t>
            </a:r>
            <a:endParaRPr lang="en-US" sz="1050" dirty="0"/>
          </a:p>
        </p:txBody>
      </p:sp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38339" y="3038399"/>
            <a:ext cx="1543011" cy="428614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2590735" y="3152696"/>
            <a:ext cx="1247363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方式</a:t>
            </a:r>
            <a:endParaRPr lang="en-US" sz="1050" dirty="0"/>
          </a:p>
        </p:txBody>
      </p:sp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81350" y="3038399"/>
            <a:ext cx="2752656" cy="428614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4133747" y="3152696"/>
            <a:ext cx="2457008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场景</a:t>
            </a:r>
            <a:endParaRPr lang="en-US" sz="1050" dirty="0"/>
          </a:p>
        </p:txBody>
      </p:sp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28694" y="3457489"/>
            <a:ext cx="5505312" cy="504812"/>
          </a:xfrm>
          <a:prstGeom prst="rect">
            <a:avLst/>
          </a:prstGeom>
        </p:spPr>
      </p:pic>
      <p:sp>
        <p:nvSpPr>
          <p:cNvPr id="20" name="Text 7"/>
          <p:cNvSpPr/>
          <p:nvPr/>
        </p:nvSpPr>
        <p:spPr>
          <a:xfrm>
            <a:off x="1228694" y="3457489"/>
            <a:ext cx="1218789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实时语音识别</a:t>
            </a:r>
            <a:endParaRPr lang="en-US" sz="1050" dirty="0"/>
          </a:p>
        </p:txBody>
      </p:sp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8339" y="3457489"/>
            <a:ext cx="1543011" cy="504812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2590735" y="3609885"/>
            <a:ext cx="1247363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WebSocket长连接</a:t>
            </a:r>
            <a:endParaRPr lang="en-US" sz="900" dirty="0"/>
          </a:p>
        </p:txBody>
      </p:sp>
      <p:sp>
        <p:nvSpPr>
          <p:cNvPr id="23" name="Text 9"/>
          <p:cNvSpPr/>
          <p:nvPr/>
        </p:nvSpPr>
        <p:spPr>
          <a:xfrm>
            <a:off x="3981350" y="3457489"/>
            <a:ext cx="2761800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医生查房时现场语音输入</a:t>
            </a:r>
            <a:endParaRPr lang="en-US" sz="1050" dirty="0"/>
          </a:p>
        </p:txBody>
      </p:sp>
      <p:sp>
        <p:nvSpPr>
          <p:cNvPr id="24" name="Text 10"/>
          <p:cNvSpPr/>
          <p:nvPr/>
        </p:nvSpPr>
        <p:spPr>
          <a:xfrm>
            <a:off x="1228694" y="3962301"/>
            <a:ext cx="1218789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录音文件识别</a:t>
            </a:r>
            <a:endParaRPr lang="en-US" sz="1050" dirty="0"/>
          </a:p>
        </p:txBody>
      </p:sp>
      <p:pic>
        <p:nvPicPr>
          <p:cNvPr id="25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8339" y="3962301"/>
            <a:ext cx="1543011" cy="504812"/>
          </a:xfrm>
          <a:prstGeom prst="rect">
            <a:avLst/>
          </a:prstGeom>
        </p:spPr>
      </p:pic>
      <p:sp>
        <p:nvSpPr>
          <p:cNvPr id="26" name="Text 11"/>
          <p:cNvSpPr/>
          <p:nvPr/>
        </p:nvSpPr>
        <p:spPr>
          <a:xfrm>
            <a:off x="2590735" y="4114697"/>
            <a:ext cx="1247363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HTTP文件上传</a:t>
            </a:r>
            <a:endParaRPr lang="en-US" sz="900" dirty="0"/>
          </a:p>
        </p:txBody>
      </p:sp>
      <p:sp>
        <p:nvSpPr>
          <p:cNvPr id="27" name="Text 12"/>
          <p:cNvSpPr/>
          <p:nvPr/>
        </p:nvSpPr>
        <p:spPr>
          <a:xfrm>
            <a:off x="3981350" y="3962301"/>
            <a:ext cx="2761800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录音后批量识别</a:t>
            </a:r>
            <a:endParaRPr lang="en-US" sz="1050" dirty="0"/>
          </a:p>
        </p:txBody>
      </p:sp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76918" y="2114497"/>
            <a:ext cx="4009925" cy="3143171"/>
          </a:xfrm>
          <a:prstGeom prst="rect">
            <a:avLst/>
          </a:prstGeom>
        </p:spPr>
      </p:pic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15037" y="2352616"/>
            <a:ext cx="342891" cy="342891"/>
          </a:xfrm>
          <a:prstGeom prst="rect">
            <a:avLst/>
          </a:prstGeom>
        </p:spPr>
      </p:pic>
      <p:pic>
        <p:nvPicPr>
          <p:cNvPr id="30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29334" y="2447864"/>
            <a:ext cx="114297" cy="152396"/>
          </a:xfrm>
          <a:prstGeom prst="rect">
            <a:avLst/>
          </a:prstGeom>
        </p:spPr>
      </p:pic>
      <p:sp>
        <p:nvSpPr>
          <p:cNvPr id="31" name="Text 13"/>
          <p:cNvSpPr/>
          <p:nvPr/>
        </p:nvSpPr>
        <p:spPr>
          <a:xfrm>
            <a:off x="7972226" y="2390715"/>
            <a:ext cx="68540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技术优势</a:t>
            </a:r>
            <a:endParaRPr lang="en-US" sz="1350" dirty="0"/>
          </a:p>
        </p:txBody>
      </p:sp>
      <p:pic>
        <p:nvPicPr>
          <p:cNvPr id="32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15037" y="2962201"/>
            <a:ext cx="57149" cy="57149"/>
          </a:xfrm>
          <a:prstGeom prst="rect">
            <a:avLst/>
          </a:prstGeom>
        </p:spPr>
      </p:pic>
      <p:sp>
        <p:nvSpPr>
          <p:cNvPr id="33" name="Text 14"/>
          <p:cNvSpPr/>
          <p:nvPr/>
        </p:nvSpPr>
        <p:spPr>
          <a:xfrm>
            <a:off x="7686483" y="2886003"/>
            <a:ext cx="189504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延迟&lt;1秒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，支持中英文混合识别</a:t>
            </a:r>
            <a:endParaRPr lang="en-US" sz="1050" dirty="0"/>
          </a:p>
        </p:txBody>
      </p:sp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15037" y="3324142"/>
            <a:ext cx="57149" cy="57149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7686483" y="3247944"/>
            <a:ext cx="147595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识别结果</a:t>
            </a: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可直接写入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</a:t>
            </a:r>
            <a:endParaRPr lang="en-US" sz="1050" dirty="0"/>
          </a:p>
        </p:txBody>
      </p:sp>
      <p:pic>
        <p:nvPicPr>
          <p:cNvPr id="36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76918" y="5448164"/>
            <a:ext cx="4009925" cy="885803"/>
          </a:xfrm>
          <a:prstGeom prst="rect">
            <a:avLst/>
          </a:prstGeom>
        </p:spPr>
      </p:pic>
      <p:pic>
        <p:nvPicPr>
          <p:cNvPr id="37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05512" y="5676758"/>
            <a:ext cx="133347" cy="133347"/>
          </a:xfrm>
          <a:prstGeom prst="rect">
            <a:avLst/>
          </a:prstGeom>
        </p:spPr>
      </p:pic>
      <p:sp>
        <p:nvSpPr>
          <p:cNvPr id="38" name="Text 16"/>
          <p:cNvSpPr/>
          <p:nvPr/>
        </p:nvSpPr>
        <p:spPr>
          <a:xfrm>
            <a:off x="7715057" y="5648184"/>
            <a:ext cx="57110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演示要点</a:t>
            </a:r>
            <a:endParaRPr lang="en-US" sz="1050" dirty="0"/>
          </a:p>
        </p:txBody>
      </p:sp>
      <p:sp>
        <p:nvSpPr>
          <p:cNvPr id="39" name="Text 17"/>
          <p:cNvSpPr/>
          <p:nvPr/>
        </p:nvSpPr>
        <p:spPr>
          <a:xfrm>
            <a:off x="7505512" y="5914877"/>
            <a:ext cx="359045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点击录音按钮 → 语音输入 → 查看实时转写结果</a:t>
            </a:r>
            <a:endParaRPr lang="en-US" sz="1050" dirty="0"/>
          </a:p>
        </p:txBody>
      </p:sp>
      <p:pic>
        <p:nvPicPr>
          <p:cNvPr id="40" name="Image 20" descr="preencoded.png"/>
          <p:cNvPicPr>
            <a:picLocks noChangeAspect="1"/>
          </p:cNvPicPr>
          <p:nvPr/>
        </p:nvPicPr>
        <p:blipFill>
          <a:blip r:embed="rId19">
            <a:alphaModFix amt="6000"/>
          </a:blip>
          <a:stretch>
            <a:fillRect/>
          </a:stretch>
        </p:blipFill>
        <p:spPr>
          <a:xfrm>
            <a:off x="10439139" y="457189"/>
            <a:ext cx="1085823" cy="1085823"/>
          </a:xfrm>
          <a:prstGeom prst="rect">
            <a:avLst/>
          </a:prstGeom>
        </p:spPr>
      </p:pic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20">
            <a:alphaModFix amt="6000"/>
          </a:blip>
          <a:stretch>
            <a:fillRect/>
          </a:stretch>
        </p:blipFill>
        <p:spPr>
          <a:xfrm>
            <a:off x="10629634" y="647684"/>
            <a:ext cx="1009625" cy="1009625"/>
          </a:xfrm>
          <a:prstGeom prst="rect">
            <a:avLst/>
          </a:prstGeom>
        </p:spPr>
      </p:pic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99019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Live Demo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现场演示环节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514437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即将进行系统功能演示，展示AI诊断分析、DRG分析、语音识别等核心功能</a:t>
            </a:r>
            <a:endParaRPr lang="en-US" sz="1350" dirty="0"/>
          </a:p>
        </p:txBody>
      </p:sp>
      <p:sp>
        <p:nvSpPr>
          <p:cNvPr id="8" name="Text 3"/>
          <p:cNvSpPr/>
          <p:nvPr/>
        </p:nvSpPr>
        <p:spPr>
          <a:xfrm>
            <a:off x="914377" y="2104972"/>
            <a:ext cx="593354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演示流程</a:t>
            </a:r>
            <a:endParaRPr lang="en-US" sz="105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447864"/>
            <a:ext cx="5924402" cy="742931"/>
          </a:xfrm>
          <a:prstGeom prst="rect">
            <a:avLst/>
          </a:prstGeom>
        </p:spPr>
      </p:pic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" y="2609785"/>
            <a:ext cx="304792" cy="304792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1200120" y="2666933"/>
            <a:ext cx="853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5"/>
          <p:cNvSpPr/>
          <p:nvPr/>
        </p:nvSpPr>
        <p:spPr>
          <a:xfrm>
            <a:off x="1533487" y="2609785"/>
            <a:ext cx="61872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患者列表</a:t>
            </a:r>
            <a:endParaRPr lang="en-US" sz="120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19270" y="2666933"/>
            <a:ext cx="76198" cy="114297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2371666" y="2609785"/>
            <a:ext cx="61872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选择患者</a:t>
            </a:r>
            <a:endParaRPr lang="en-US" sz="12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7449" y="2666933"/>
            <a:ext cx="76198" cy="11429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3200320" y="2609785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查看患者画像</a:t>
            </a:r>
            <a:endParaRPr lang="en-US" sz="1200" dirty="0"/>
          </a:p>
        </p:txBody>
      </p:sp>
      <p:sp>
        <p:nvSpPr>
          <p:cNvPr id="17" name="Text 8"/>
          <p:cNvSpPr/>
          <p:nvPr/>
        </p:nvSpPr>
        <p:spPr>
          <a:xfrm>
            <a:off x="1533487" y="2876478"/>
            <a:ext cx="46953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综合信息展示 · 多维度数据融合</a:t>
            </a:r>
            <a:endParaRPr lang="en-US" sz="9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66" y="2609785"/>
            <a:ext cx="304792" cy="304792"/>
          </a:xfrm>
          <a:prstGeom prst="rect">
            <a:avLst/>
          </a:prstGeom>
        </p:spPr>
      </p:pic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7789" y="2685983"/>
            <a:ext cx="133347" cy="152396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3305092"/>
            <a:ext cx="5924402" cy="742931"/>
          </a:xfrm>
          <a:prstGeom prst="rect">
            <a:avLst/>
          </a:prstGeom>
        </p:spPr>
      </p:pic>
      <p:pic>
        <p:nvPicPr>
          <p:cNvPr id="21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" y="3467013"/>
            <a:ext cx="304792" cy="304792"/>
          </a:xfrm>
          <a:prstGeom prst="rect">
            <a:avLst/>
          </a:prstGeom>
        </p:spPr>
      </p:pic>
      <p:sp>
        <p:nvSpPr>
          <p:cNvPr id="22" name="Text 9"/>
          <p:cNvSpPr/>
          <p:nvPr/>
        </p:nvSpPr>
        <p:spPr>
          <a:xfrm>
            <a:off x="1200120" y="3524162"/>
            <a:ext cx="853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endParaRPr lang="en-US" sz="1050" dirty="0"/>
          </a:p>
        </p:txBody>
      </p:sp>
      <p:sp>
        <p:nvSpPr>
          <p:cNvPr id="23" name="Text 10"/>
          <p:cNvSpPr/>
          <p:nvPr/>
        </p:nvSpPr>
        <p:spPr>
          <a:xfrm>
            <a:off x="1533487" y="3467013"/>
            <a:ext cx="77112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AI诊断分析</a:t>
            </a:r>
            <a:endParaRPr lang="en-US" sz="1200" dirty="0"/>
          </a:p>
        </p:txBody>
      </p:sp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666" y="3524162"/>
            <a:ext cx="76198" cy="114297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2524062" y="3467013"/>
            <a:ext cx="80922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查看Prompt</a:t>
            </a:r>
            <a:endParaRPr lang="en-US" sz="1200" dirty="0"/>
          </a:p>
        </p:txBody>
      </p:sp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0340" y="3524162"/>
            <a:ext cx="76198" cy="114297"/>
          </a:xfrm>
          <a:prstGeom prst="rect">
            <a:avLst/>
          </a:prstGeom>
        </p:spPr>
      </p:pic>
      <p:sp>
        <p:nvSpPr>
          <p:cNvPr id="27" name="Text 12"/>
          <p:cNvSpPr/>
          <p:nvPr/>
        </p:nvSpPr>
        <p:spPr>
          <a:xfrm>
            <a:off x="3543211" y="3467013"/>
            <a:ext cx="77112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AI分析结果</a:t>
            </a:r>
            <a:endParaRPr lang="en-US" sz="1200" dirty="0"/>
          </a:p>
        </p:txBody>
      </p:sp>
      <p:sp>
        <p:nvSpPr>
          <p:cNvPr id="28" name="Text 13"/>
          <p:cNvSpPr/>
          <p:nvPr/>
        </p:nvSpPr>
        <p:spPr>
          <a:xfrm>
            <a:off x="1533487" y="3733707"/>
            <a:ext cx="46953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智能推理过程透明化 · 辅助诊断建议</a:t>
            </a:r>
            <a:endParaRPr lang="en-US" sz="900" dirty="0"/>
          </a:p>
        </p:txBody>
      </p:sp>
      <p:pic>
        <p:nvPicPr>
          <p:cNvPr id="29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66" y="3467013"/>
            <a:ext cx="304792" cy="304792"/>
          </a:xfrm>
          <a:prstGeom prst="rect">
            <a:avLst/>
          </a:prstGeom>
        </p:spPr>
      </p:pic>
      <p:pic>
        <p:nvPicPr>
          <p:cNvPr id="30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8264" y="3543211"/>
            <a:ext cx="152396" cy="152396"/>
          </a:xfrm>
          <a:prstGeom prst="rect">
            <a:avLst/>
          </a:prstGeom>
        </p:spPr>
      </p:pic>
      <p:pic>
        <p:nvPicPr>
          <p:cNvPr id="31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162321"/>
            <a:ext cx="5924402" cy="742931"/>
          </a:xfrm>
          <a:prstGeom prst="rect">
            <a:avLst/>
          </a:prstGeom>
        </p:spPr>
      </p:pic>
      <p:pic>
        <p:nvPicPr>
          <p:cNvPr id="32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" y="4324242"/>
            <a:ext cx="304792" cy="304792"/>
          </a:xfrm>
          <a:prstGeom prst="rect">
            <a:avLst/>
          </a:prstGeom>
        </p:spPr>
      </p:pic>
      <p:sp>
        <p:nvSpPr>
          <p:cNvPr id="33" name="Text 14"/>
          <p:cNvSpPr/>
          <p:nvPr/>
        </p:nvSpPr>
        <p:spPr>
          <a:xfrm>
            <a:off x="1200120" y="4381390"/>
            <a:ext cx="853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</a:t>
            </a:r>
            <a:endParaRPr lang="en-US" sz="1050" dirty="0"/>
          </a:p>
        </p:txBody>
      </p:sp>
      <p:sp>
        <p:nvSpPr>
          <p:cNvPr id="34" name="Text 15"/>
          <p:cNvSpPr/>
          <p:nvPr/>
        </p:nvSpPr>
        <p:spPr>
          <a:xfrm>
            <a:off x="1533487" y="4324242"/>
            <a:ext cx="656828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DRG分析</a:t>
            </a:r>
            <a:endParaRPr lang="en-US" sz="1200" dirty="0"/>
          </a:p>
        </p:txBody>
      </p:sp>
      <p:pic>
        <p:nvPicPr>
          <p:cNvPr id="35" name="Image 1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7369" y="4381390"/>
            <a:ext cx="76198" cy="114297"/>
          </a:xfrm>
          <a:prstGeom prst="rect">
            <a:avLst/>
          </a:prstGeom>
        </p:spPr>
      </p:pic>
      <p:sp>
        <p:nvSpPr>
          <p:cNvPr id="36" name="Text 16"/>
          <p:cNvSpPr/>
          <p:nvPr/>
        </p:nvSpPr>
        <p:spPr>
          <a:xfrm>
            <a:off x="2409765" y="4324242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查看匹配结果</a:t>
            </a:r>
            <a:endParaRPr lang="en-US" sz="120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0340" y="4381390"/>
            <a:ext cx="76198" cy="114297"/>
          </a:xfrm>
          <a:prstGeom prst="rect">
            <a:avLst/>
          </a:prstGeom>
        </p:spPr>
      </p:pic>
      <p:sp>
        <p:nvSpPr>
          <p:cNvPr id="38" name="Text 17"/>
          <p:cNvSpPr/>
          <p:nvPr/>
        </p:nvSpPr>
        <p:spPr>
          <a:xfrm>
            <a:off x="3543211" y="4324242"/>
            <a:ext cx="61872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盈亏计算</a:t>
            </a:r>
            <a:endParaRPr lang="en-US" sz="1200" dirty="0"/>
          </a:p>
        </p:txBody>
      </p:sp>
      <p:sp>
        <p:nvSpPr>
          <p:cNvPr id="39" name="Text 18"/>
          <p:cNvSpPr/>
          <p:nvPr/>
        </p:nvSpPr>
        <p:spPr>
          <a:xfrm>
            <a:off x="1533487" y="4590935"/>
            <a:ext cx="46953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实时分组预测 · 费用结构分析</a:t>
            </a:r>
            <a:endParaRPr lang="en-US" sz="900" dirty="0"/>
          </a:p>
        </p:txBody>
      </p:sp>
      <p:pic>
        <p:nvPicPr>
          <p:cNvPr id="40" name="Image 1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66" y="4324242"/>
            <a:ext cx="304792" cy="304792"/>
          </a:xfrm>
          <a:prstGeom prst="rect">
            <a:avLst/>
          </a:prstGeom>
        </p:spPr>
      </p:pic>
      <p:pic>
        <p:nvPicPr>
          <p:cNvPr id="41" name="Image 2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8739" y="4400440"/>
            <a:ext cx="171446" cy="152396"/>
          </a:xfrm>
          <a:prstGeom prst="rect">
            <a:avLst/>
          </a:prstGeom>
        </p:spPr>
      </p:pic>
      <p:pic>
        <p:nvPicPr>
          <p:cNvPr id="42" name="Image 2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377" y="5019550"/>
            <a:ext cx="1904952" cy="742931"/>
          </a:xfrm>
          <a:prstGeom prst="rect">
            <a:avLst/>
          </a:prstGeom>
        </p:spPr>
      </p:pic>
      <p:pic>
        <p:nvPicPr>
          <p:cNvPr id="43" name="Image 2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8199" y="5143371"/>
            <a:ext cx="228594" cy="228594"/>
          </a:xfrm>
          <a:prstGeom prst="rect">
            <a:avLst/>
          </a:prstGeom>
        </p:spPr>
      </p:pic>
      <p:sp>
        <p:nvSpPr>
          <p:cNvPr id="44" name="Text 19"/>
          <p:cNvSpPr/>
          <p:nvPr/>
        </p:nvSpPr>
        <p:spPr>
          <a:xfrm>
            <a:off x="1123922" y="5181470"/>
            <a:ext cx="7581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4</a:t>
            </a:r>
            <a:endParaRPr lang="en-US" sz="900" dirty="0"/>
          </a:p>
        </p:txBody>
      </p:sp>
      <p:sp>
        <p:nvSpPr>
          <p:cNvPr id="45" name="Text 20"/>
          <p:cNvSpPr/>
          <p:nvPr/>
        </p:nvSpPr>
        <p:spPr>
          <a:xfrm>
            <a:off x="1342991" y="5162421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MCC/CC筛查</a:t>
            </a:r>
            <a:endParaRPr lang="en-US" sz="1050" dirty="0"/>
          </a:p>
        </p:txBody>
      </p:sp>
      <p:sp>
        <p:nvSpPr>
          <p:cNvPr id="46" name="Text 21"/>
          <p:cNvSpPr/>
          <p:nvPr/>
        </p:nvSpPr>
        <p:spPr>
          <a:xfrm>
            <a:off x="1038199" y="5448164"/>
            <a:ext cx="166645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并发症与合并症智能识别</a:t>
            </a:r>
            <a:endParaRPr lang="en-US" sz="900" dirty="0"/>
          </a:p>
        </p:txBody>
      </p:sp>
      <p:pic>
        <p:nvPicPr>
          <p:cNvPr id="47" name="Image 2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33627" y="5019550"/>
            <a:ext cx="1904952" cy="742931"/>
          </a:xfrm>
          <a:prstGeom prst="rect">
            <a:avLst/>
          </a:prstGeom>
        </p:spPr>
      </p:pic>
      <p:pic>
        <p:nvPicPr>
          <p:cNvPr id="48" name="Image 2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57449" y="5143371"/>
            <a:ext cx="228594" cy="228594"/>
          </a:xfrm>
          <a:prstGeom prst="rect">
            <a:avLst/>
          </a:prstGeom>
        </p:spPr>
      </p:pic>
      <p:sp>
        <p:nvSpPr>
          <p:cNvPr id="49" name="Text 22"/>
          <p:cNvSpPr/>
          <p:nvPr/>
        </p:nvSpPr>
        <p:spPr>
          <a:xfrm>
            <a:off x="3133647" y="5181470"/>
            <a:ext cx="7581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</a:t>
            </a:r>
            <a:endParaRPr lang="en-US" sz="900" dirty="0"/>
          </a:p>
        </p:txBody>
      </p:sp>
      <p:sp>
        <p:nvSpPr>
          <p:cNvPr id="50" name="Text 23"/>
          <p:cNvSpPr/>
          <p:nvPr/>
        </p:nvSpPr>
        <p:spPr>
          <a:xfrm>
            <a:off x="3362241" y="5162421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语音识别</a:t>
            </a:r>
            <a:endParaRPr lang="en-US" sz="1050" dirty="0"/>
          </a:p>
        </p:txBody>
      </p:sp>
      <p:sp>
        <p:nvSpPr>
          <p:cNvPr id="51" name="Text 24"/>
          <p:cNvSpPr/>
          <p:nvPr/>
        </p:nvSpPr>
        <p:spPr>
          <a:xfrm>
            <a:off x="3057449" y="5448164"/>
            <a:ext cx="166645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实时语音转写 · 病历自动生成</a:t>
            </a:r>
            <a:endParaRPr lang="en-US" sz="900" dirty="0"/>
          </a:p>
        </p:txBody>
      </p:sp>
      <p:pic>
        <p:nvPicPr>
          <p:cNvPr id="52" name="Image 2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43351" y="5019550"/>
            <a:ext cx="1904952" cy="742931"/>
          </a:xfrm>
          <a:prstGeom prst="rect">
            <a:avLst/>
          </a:prstGeom>
        </p:spPr>
      </p:pic>
      <p:pic>
        <p:nvPicPr>
          <p:cNvPr id="53" name="Image 2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7173" y="5143371"/>
            <a:ext cx="228594" cy="228594"/>
          </a:xfrm>
          <a:prstGeom prst="rect">
            <a:avLst/>
          </a:prstGeom>
        </p:spPr>
      </p:pic>
      <p:sp>
        <p:nvSpPr>
          <p:cNvPr id="54" name="Text 25"/>
          <p:cNvSpPr/>
          <p:nvPr/>
        </p:nvSpPr>
        <p:spPr>
          <a:xfrm>
            <a:off x="5143371" y="5181470"/>
            <a:ext cx="7581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6</a:t>
            </a:r>
            <a:endParaRPr lang="en-US" sz="900" dirty="0"/>
          </a:p>
        </p:txBody>
      </p:sp>
      <p:sp>
        <p:nvSpPr>
          <p:cNvPr id="55" name="Text 26"/>
          <p:cNvSpPr/>
          <p:nvPr/>
        </p:nvSpPr>
        <p:spPr>
          <a:xfrm>
            <a:off x="5371966" y="5162421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待办事项</a:t>
            </a:r>
            <a:endParaRPr lang="en-US" sz="1050" dirty="0"/>
          </a:p>
        </p:txBody>
      </p:sp>
      <p:sp>
        <p:nvSpPr>
          <p:cNvPr id="56" name="Text 27"/>
          <p:cNvSpPr/>
          <p:nvPr/>
        </p:nvSpPr>
        <p:spPr>
          <a:xfrm>
            <a:off x="5067173" y="5448164"/>
            <a:ext cx="166645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智能任务列表 · 优先级排序</a:t>
            </a:r>
            <a:endParaRPr lang="en-US" sz="900" dirty="0"/>
          </a:p>
        </p:txBody>
      </p:sp>
      <p:pic>
        <p:nvPicPr>
          <p:cNvPr id="57" name="Image 2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43571" y="2104972"/>
            <a:ext cx="4143271" cy="4228994"/>
          </a:xfrm>
          <a:prstGeom prst="rect">
            <a:avLst/>
          </a:prstGeom>
        </p:spPr>
      </p:pic>
      <p:pic>
        <p:nvPicPr>
          <p:cNvPr id="58" name="Image 2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81690" y="2362141"/>
            <a:ext cx="380990" cy="380990"/>
          </a:xfrm>
          <a:prstGeom prst="rect">
            <a:avLst/>
          </a:prstGeom>
        </p:spPr>
      </p:pic>
      <p:pic>
        <p:nvPicPr>
          <p:cNvPr id="59" name="Image 2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67413" y="2466913"/>
            <a:ext cx="219070" cy="171446"/>
          </a:xfrm>
          <a:prstGeom prst="rect">
            <a:avLst/>
          </a:prstGeom>
        </p:spPr>
      </p:pic>
      <p:sp>
        <p:nvSpPr>
          <p:cNvPr id="60" name="Text 28"/>
          <p:cNvSpPr/>
          <p:nvPr/>
        </p:nvSpPr>
        <p:spPr>
          <a:xfrm>
            <a:off x="7876978" y="2343091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互动问答</a:t>
            </a:r>
            <a:endParaRPr lang="en-US" sz="1350" dirty="0"/>
          </a:p>
        </p:txBody>
      </p:sp>
      <p:sp>
        <p:nvSpPr>
          <p:cNvPr id="61" name="Text 29"/>
          <p:cNvSpPr/>
          <p:nvPr/>
        </p:nvSpPr>
        <p:spPr>
          <a:xfrm>
            <a:off x="7876978" y="2609785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Q&amp;A Session</a:t>
            </a:r>
            <a:endParaRPr lang="en-US" sz="900" dirty="0"/>
          </a:p>
        </p:txBody>
      </p:sp>
      <p:pic>
        <p:nvPicPr>
          <p:cNvPr id="62" name="Image 3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81690" y="3066973"/>
            <a:ext cx="3667033" cy="1142971"/>
          </a:xfrm>
          <a:prstGeom prst="rect">
            <a:avLst/>
          </a:prstGeom>
        </p:spPr>
      </p:pic>
      <p:pic>
        <p:nvPicPr>
          <p:cNvPr id="63" name="Image 3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581710" y="3305092"/>
            <a:ext cx="152396" cy="152396"/>
          </a:xfrm>
          <a:prstGeom prst="rect">
            <a:avLst/>
          </a:prstGeom>
        </p:spPr>
      </p:pic>
      <p:sp>
        <p:nvSpPr>
          <p:cNvPr id="64" name="Text 30"/>
          <p:cNvSpPr/>
          <p:nvPr/>
        </p:nvSpPr>
        <p:spPr>
          <a:xfrm>
            <a:off x="7848404" y="3266993"/>
            <a:ext cx="300944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准备好您的问题</a:t>
            </a:r>
            <a:endParaRPr lang="en-US" sz="1200" dirty="0"/>
          </a:p>
        </p:txBody>
      </p:sp>
      <p:sp>
        <p:nvSpPr>
          <p:cNvPr id="65" name="Text 31"/>
          <p:cNvSpPr/>
          <p:nvPr/>
        </p:nvSpPr>
        <p:spPr>
          <a:xfrm>
            <a:off x="7848404" y="3571786"/>
            <a:ext cx="3009444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演示过程中欢迎随时提出疑问，我们将针对系统架构、算法逻辑及临床应用进行详细解答</a:t>
            </a:r>
            <a:endParaRPr lang="en-US" sz="1050" dirty="0"/>
          </a:p>
        </p:txBody>
      </p:sp>
      <p:pic>
        <p:nvPicPr>
          <p:cNvPr id="66" name="Image 32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4390915"/>
            <a:ext cx="152396" cy="133347"/>
          </a:xfrm>
          <a:prstGeom prst="rect">
            <a:avLst/>
          </a:prstGeom>
        </p:spPr>
      </p:pic>
      <p:sp>
        <p:nvSpPr>
          <p:cNvPr id="67" name="Text 32"/>
          <p:cNvSpPr/>
          <p:nvPr/>
        </p:nvSpPr>
        <p:spPr>
          <a:xfrm>
            <a:off x="7648384" y="4362341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技术实现细节</a:t>
            </a:r>
            <a:endParaRPr lang="en-US" sz="1050" dirty="0"/>
          </a:p>
        </p:txBody>
      </p:sp>
      <p:pic>
        <p:nvPicPr>
          <p:cNvPr id="68" name="Image 3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4695708"/>
            <a:ext cx="152396" cy="133347"/>
          </a:xfrm>
          <a:prstGeom prst="rect">
            <a:avLst/>
          </a:prstGeom>
        </p:spPr>
      </p:pic>
      <p:sp>
        <p:nvSpPr>
          <p:cNvPr id="69" name="Text 33"/>
          <p:cNvSpPr/>
          <p:nvPr/>
        </p:nvSpPr>
        <p:spPr>
          <a:xfrm>
            <a:off x="7648384" y="4667133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临床应用场景</a:t>
            </a:r>
            <a:endParaRPr lang="en-US" sz="1050" dirty="0"/>
          </a:p>
        </p:txBody>
      </p:sp>
      <p:pic>
        <p:nvPicPr>
          <p:cNvPr id="70" name="Image 3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5000500"/>
            <a:ext cx="152396" cy="133347"/>
          </a:xfrm>
          <a:prstGeom prst="rect">
            <a:avLst/>
          </a:prstGeom>
        </p:spPr>
      </p:pic>
      <p:sp>
        <p:nvSpPr>
          <p:cNvPr id="71" name="Text 34"/>
          <p:cNvSpPr/>
          <p:nvPr/>
        </p:nvSpPr>
        <p:spPr>
          <a:xfrm>
            <a:off x="7648384" y="4971926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数据安全策略</a:t>
            </a:r>
            <a:endParaRPr lang="en-US" sz="1050" dirty="0"/>
          </a:p>
        </p:txBody>
      </p:sp>
      <p:pic>
        <p:nvPicPr>
          <p:cNvPr id="72" name="Image 3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5305292"/>
            <a:ext cx="152396" cy="133347"/>
          </a:xfrm>
          <a:prstGeom prst="rect">
            <a:avLst/>
          </a:prstGeom>
        </p:spPr>
      </p:pic>
      <p:sp>
        <p:nvSpPr>
          <p:cNvPr id="73" name="Text 35"/>
          <p:cNvSpPr/>
          <p:nvPr/>
        </p:nvSpPr>
        <p:spPr>
          <a:xfrm>
            <a:off x="7648384" y="5276718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部署实施方案</a:t>
            </a:r>
            <a:endParaRPr lang="en-US" sz="1050" dirty="0"/>
          </a:p>
        </p:txBody>
      </p:sp>
      <p:pic>
        <p:nvPicPr>
          <p:cNvPr id="74" name="Image 3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381690" y="5772006"/>
            <a:ext cx="3667033" cy="314317"/>
          </a:xfrm>
          <a:prstGeom prst="rect">
            <a:avLst/>
          </a:prstGeom>
        </p:spPr>
      </p:pic>
      <p:pic>
        <p:nvPicPr>
          <p:cNvPr id="75" name="Image 3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15117" y="5952976"/>
            <a:ext cx="114297" cy="114297"/>
          </a:xfrm>
          <a:prstGeom prst="rect">
            <a:avLst/>
          </a:prstGeom>
        </p:spPr>
      </p:pic>
      <p:sp>
        <p:nvSpPr>
          <p:cNvPr id="76" name="Text 36"/>
          <p:cNvSpPr/>
          <p:nvPr/>
        </p:nvSpPr>
        <p:spPr>
          <a:xfrm>
            <a:off x="8467513" y="5943451"/>
            <a:ext cx="1656928" cy="13334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演示后预留15分钟专项答疑时间</a:t>
            </a:r>
            <a:endParaRPr lang="en-US" sz="900" dirty="0"/>
          </a:p>
        </p:txBody>
      </p:sp>
      <p:pic>
        <p:nvPicPr>
          <p:cNvPr id="77" name="Image 3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447664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380990"/>
            <a:ext cx="188552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Performance Metrics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09585"/>
            <a:ext cx="10676877" cy="51433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量化效能提升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162021"/>
            <a:ext cx="10676877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系统应用后，各项关键指标均实现显著改善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600160"/>
            <a:ext cx="4314717" cy="1085823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2" y="1762081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249" y="1866853"/>
            <a:ext cx="133347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419190" y="1762081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诊断编码完整率</a:t>
            </a:r>
            <a:endParaRPr lang="en-US" sz="1050" dirty="0"/>
          </a:p>
        </p:txBody>
      </p:sp>
      <p:sp>
        <p:nvSpPr>
          <p:cNvPr id="12" name="Text 4"/>
          <p:cNvSpPr/>
          <p:nvPr/>
        </p:nvSpPr>
        <p:spPr>
          <a:xfrm>
            <a:off x="1419190" y="1990675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AI辅助识别遗漏的MCC/CC</a:t>
            </a:r>
            <a:endParaRPr lang="en-US" sz="900" dirty="0"/>
          </a:p>
        </p:txBody>
      </p:sp>
      <p:sp>
        <p:nvSpPr>
          <p:cNvPr id="13" name="Text 5"/>
          <p:cNvSpPr/>
          <p:nvPr/>
        </p:nvSpPr>
        <p:spPr>
          <a:xfrm>
            <a:off x="1419190" y="2219270"/>
            <a:ext cx="856848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30~50%</a:t>
            </a:r>
            <a:endParaRPr lang="en-US" sz="1800" dirty="0"/>
          </a:p>
        </p:txBody>
      </p:sp>
      <p:sp>
        <p:nvSpPr>
          <p:cNvPr id="14" name="Text 6"/>
          <p:cNvSpPr/>
          <p:nvPr/>
        </p:nvSpPr>
        <p:spPr>
          <a:xfrm>
            <a:off x="2304992" y="2333567"/>
            <a:ext cx="237738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</a:t>
            </a:r>
            <a:endParaRPr lang="en-US" sz="9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2800280"/>
            <a:ext cx="4314717" cy="1085823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2" y="2962201"/>
            <a:ext cx="380990" cy="380990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674" y="3066973"/>
            <a:ext cx="171446" cy="171446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419190" y="2962201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医保收益优化</a:t>
            </a:r>
            <a:endParaRPr lang="en-US" sz="1050" dirty="0"/>
          </a:p>
        </p:txBody>
      </p:sp>
      <p:sp>
        <p:nvSpPr>
          <p:cNvPr id="19" name="Text 8"/>
          <p:cNvSpPr/>
          <p:nvPr/>
        </p:nvSpPr>
        <p:spPr>
          <a:xfrm>
            <a:off x="1419190" y="3190795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DRG精准分组+盈亏分析</a:t>
            </a:r>
            <a:endParaRPr lang="en-US" sz="900" dirty="0"/>
          </a:p>
        </p:txBody>
      </p:sp>
      <p:sp>
        <p:nvSpPr>
          <p:cNvPr id="20" name="Text 9"/>
          <p:cNvSpPr/>
          <p:nvPr/>
        </p:nvSpPr>
        <p:spPr>
          <a:xfrm>
            <a:off x="1419190" y="3409865"/>
            <a:ext cx="856848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10~20%</a:t>
            </a:r>
            <a:endParaRPr lang="en-US" sz="1800" dirty="0"/>
          </a:p>
        </p:txBody>
      </p:sp>
      <p:sp>
        <p:nvSpPr>
          <p:cNvPr id="21" name="Text 10"/>
          <p:cNvSpPr/>
          <p:nvPr/>
        </p:nvSpPr>
        <p:spPr>
          <a:xfrm>
            <a:off x="2304992" y="3524162"/>
            <a:ext cx="237738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优化</a:t>
            </a:r>
            <a:endParaRPr lang="en-US" sz="9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3990875"/>
            <a:ext cx="4314717" cy="1085823"/>
          </a:xfrm>
          <a:prstGeom prst="rect">
            <a:avLst/>
          </a:prstGeom>
        </p:spPr>
      </p:pic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2" y="4152796"/>
            <a:ext cx="380990" cy="38099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674" y="4257569"/>
            <a:ext cx="171446" cy="171446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1419190" y="4152796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病历书写效率</a:t>
            </a:r>
            <a:endParaRPr lang="en-US" sz="1050" dirty="0"/>
          </a:p>
        </p:txBody>
      </p:sp>
      <p:sp>
        <p:nvSpPr>
          <p:cNvPr id="26" name="Text 12"/>
          <p:cNvSpPr/>
          <p:nvPr/>
        </p:nvSpPr>
        <p:spPr>
          <a:xfrm>
            <a:off x="1419190" y="4381390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语音识别+AI整理</a:t>
            </a:r>
            <a:endParaRPr lang="en-US" sz="900" dirty="0"/>
          </a:p>
        </p:txBody>
      </p:sp>
      <p:sp>
        <p:nvSpPr>
          <p:cNvPr id="27" name="Text 13"/>
          <p:cNvSpPr/>
          <p:nvPr/>
        </p:nvSpPr>
        <p:spPr>
          <a:xfrm>
            <a:off x="1419190" y="4609985"/>
            <a:ext cx="609204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~50%</a:t>
            </a:r>
            <a:endParaRPr lang="en-US" sz="1800" dirty="0"/>
          </a:p>
        </p:txBody>
      </p:sp>
      <p:sp>
        <p:nvSpPr>
          <p:cNvPr id="28" name="Text 14"/>
          <p:cNvSpPr/>
          <p:nvPr/>
        </p:nvSpPr>
        <p:spPr>
          <a:xfrm>
            <a:off x="2057349" y="4724282"/>
            <a:ext cx="4663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时间减少</a:t>
            </a:r>
            <a:endParaRPr lang="en-US" sz="900" dirty="0"/>
          </a:p>
        </p:txBody>
      </p:sp>
      <p:pic>
        <p:nvPicPr>
          <p:cNvPr id="29" name="Image 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1981" y="5190995"/>
            <a:ext cx="4314717" cy="933427"/>
          </a:xfrm>
          <a:prstGeom prst="rect">
            <a:avLst/>
          </a:prstGeom>
        </p:spPr>
      </p:pic>
      <p:pic>
        <p:nvPicPr>
          <p:cNvPr id="30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803" y="5333867"/>
            <a:ext cx="114297" cy="114297"/>
          </a:xfrm>
          <a:prstGeom prst="rect">
            <a:avLst/>
          </a:prstGeom>
        </p:spPr>
      </p:pic>
      <p:sp>
        <p:nvSpPr>
          <p:cNvPr id="31" name="Text 15"/>
          <p:cNvSpPr/>
          <p:nvPr/>
        </p:nvSpPr>
        <p:spPr>
          <a:xfrm>
            <a:off x="1076298" y="5314817"/>
            <a:ext cx="68540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系统性能表现</a:t>
            </a:r>
            <a:endParaRPr lang="en-US" sz="900" dirty="0"/>
          </a:p>
        </p:txBody>
      </p:sp>
      <p:pic>
        <p:nvPicPr>
          <p:cNvPr id="32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03" y="5543411"/>
            <a:ext cx="1304892" cy="457189"/>
          </a:xfrm>
          <a:prstGeom prst="rect">
            <a:avLst/>
          </a:prstGeom>
        </p:spPr>
      </p:pic>
      <p:sp>
        <p:nvSpPr>
          <p:cNvPr id="33" name="Text 16"/>
          <p:cNvSpPr/>
          <p:nvPr/>
        </p:nvSpPr>
        <p:spPr>
          <a:xfrm>
            <a:off x="971526" y="5610085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并发处理</a:t>
            </a:r>
            <a:endParaRPr lang="en-US" sz="750" dirty="0"/>
          </a:p>
        </p:txBody>
      </p:sp>
      <p:sp>
        <p:nvSpPr>
          <p:cNvPr id="34" name="Text 17"/>
          <p:cNvSpPr/>
          <p:nvPr/>
        </p:nvSpPr>
        <p:spPr>
          <a:xfrm>
            <a:off x="971526" y="5781530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100+</a:t>
            </a:r>
            <a:endParaRPr lang="en-US" sz="900" dirty="0"/>
          </a:p>
        </p:txBody>
      </p:sp>
      <p:pic>
        <p:nvPicPr>
          <p:cNvPr id="35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66893" y="5543411"/>
            <a:ext cx="1304892" cy="457189"/>
          </a:xfrm>
          <a:prstGeom prst="rect">
            <a:avLst/>
          </a:prstGeom>
        </p:spPr>
      </p:pic>
      <p:sp>
        <p:nvSpPr>
          <p:cNvPr id="36" name="Text 18"/>
          <p:cNvSpPr/>
          <p:nvPr/>
        </p:nvSpPr>
        <p:spPr>
          <a:xfrm>
            <a:off x="2352616" y="5610085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MCC筛查</a:t>
            </a:r>
            <a:endParaRPr lang="en-US" sz="750" dirty="0"/>
          </a:p>
        </p:txBody>
      </p:sp>
      <p:sp>
        <p:nvSpPr>
          <p:cNvPr id="37" name="Text 19"/>
          <p:cNvSpPr/>
          <p:nvPr/>
        </p:nvSpPr>
        <p:spPr>
          <a:xfrm>
            <a:off x="2352616" y="5781530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&lt;100ms</a:t>
            </a:r>
            <a:endParaRPr lang="en-US" sz="900" dirty="0"/>
          </a:p>
        </p:txBody>
      </p:sp>
      <p:pic>
        <p:nvPicPr>
          <p:cNvPr id="38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47984" y="5543411"/>
            <a:ext cx="1304892" cy="457189"/>
          </a:xfrm>
          <a:prstGeom prst="rect">
            <a:avLst/>
          </a:prstGeom>
        </p:spPr>
      </p:pic>
      <p:sp>
        <p:nvSpPr>
          <p:cNvPr id="39" name="Text 20"/>
          <p:cNvSpPr/>
          <p:nvPr/>
        </p:nvSpPr>
        <p:spPr>
          <a:xfrm>
            <a:off x="3733707" y="5610085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质控效率</a:t>
            </a:r>
            <a:endParaRPr lang="en-US" sz="750" dirty="0"/>
          </a:p>
        </p:txBody>
      </p:sp>
      <p:sp>
        <p:nvSpPr>
          <p:cNvPr id="40" name="Text 21"/>
          <p:cNvSpPr/>
          <p:nvPr/>
        </p:nvSpPr>
        <p:spPr>
          <a:xfrm>
            <a:off x="3733707" y="5781530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显著提升</a:t>
            </a:r>
            <a:endParaRPr lang="en-US" sz="900" dirty="0"/>
          </a:p>
        </p:txBody>
      </p:sp>
      <p:pic>
        <p:nvPicPr>
          <p:cNvPr id="41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05292" y="1600160"/>
            <a:ext cx="6133947" cy="4876678"/>
          </a:xfrm>
          <a:prstGeom prst="rect">
            <a:avLst/>
          </a:prstGeom>
        </p:spPr>
      </p:pic>
      <p:sp>
        <p:nvSpPr>
          <p:cNvPr id="42" name="Text 22"/>
          <p:cNvSpPr/>
          <p:nvPr/>
        </p:nvSpPr>
        <p:spPr>
          <a:xfrm>
            <a:off x="5505312" y="1800180"/>
            <a:ext cx="574305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系统效能提升对比</a:t>
            </a:r>
            <a:endParaRPr lang="en-US" sz="1200" dirty="0"/>
          </a:p>
        </p:txBody>
      </p:sp>
      <p:sp>
        <p:nvSpPr>
          <p:cNvPr id="43" name="Text 23"/>
          <p:cNvSpPr/>
          <p:nvPr/>
        </p:nvSpPr>
        <p:spPr>
          <a:xfrm>
            <a:off x="5505312" y="2066873"/>
            <a:ext cx="574305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各项关键指标改善幅度范围（%）</a:t>
            </a:r>
            <a:endParaRPr lang="en-US" sz="900" dirty="0"/>
          </a:p>
        </p:txBody>
      </p:sp>
      <p:pic>
        <p:nvPicPr>
          <p:cNvPr id="44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05312" y="2333567"/>
            <a:ext cx="5724382" cy="3943251"/>
          </a:xfrm>
          <a:prstGeom prst="rect">
            <a:avLst/>
          </a:prstGeom>
        </p:spPr>
      </p:pic>
      <p:pic>
        <p:nvPicPr>
          <p:cNvPr id="45" name="Image 19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753456" y="314317"/>
            <a:ext cx="904852" cy="904852"/>
          </a:xfrm>
          <a:prstGeom prst="rect">
            <a:avLst/>
          </a:prstGeom>
        </p:spPr>
      </p:pic>
      <p:pic>
        <p:nvPicPr>
          <p:cNvPr id="46" name="Image 20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905852" y="466713"/>
            <a:ext cx="838179" cy="838179"/>
          </a:xfrm>
          <a:prstGeom prst="rect">
            <a:avLst/>
          </a:prstGeom>
        </p:spPr>
      </p:pic>
      <p:pic>
        <p:nvPicPr>
          <p:cNvPr id="47" name="Image 2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1981" y="6467313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447664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380990"/>
            <a:ext cx="199981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Deployment Advantage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09585"/>
            <a:ext cx="10676877" cy="51433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低成本部署优势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162021"/>
            <a:ext cx="10676877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轻量级架构设计，大幅降低医院信息化投入门槛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638259"/>
            <a:ext cx="6133947" cy="2343091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2505012"/>
            <a:ext cx="609585" cy="609585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0595" y="2695508"/>
            <a:ext cx="228594" cy="228594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838279" y="2276418"/>
            <a:ext cx="4828674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硬件投入成本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838279" y="2581210"/>
            <a:ext cx="482867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对比传统AI系统数百万级投入</a:t>
            </a:r>
            <a:endParaRPr lang="en-US" sz="1050" dirty="0"/>
          </a:p>
        </p:txBody>
      </p:sp>
      <p:sp>
        <p:nvSpPr>
          <p:cNvPr id="13" name="Text 5"/>
          <p:cNvSpPr/>
          <p:nvPr/>
        </p:nvSpPr>
        <p:spPr>
          <a:xfrm>
            <a:off x="1838279" y="2886003"/>
            <a:ext cx="999719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5~10</a:t>
            </a:r>
            <a:endParaRPr lang="en-US" sz="3600" dirty="0"/>
          </a:p>
        </p:txBody>
      </p:sp>
      <p:sp>
        <p:nvSpPr>
          <p:cNvPr id="14" name="Text 6"/>
          <p:cNvSpPr/>
          <p:nvPr/>
        </p:nvSpPr>
        <p:spPr>
          <a:xfrm>
            <a:off x="2905052" y="3038399"/>
            <a:ext cx="466333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万元</a:t>
            </a:r>
            <a:endParaRPr lang="en-US" sz="18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2736" y="3105072"/>
            <a:ext cx="962001" cy="247644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3628934" y="3143171"/>
            <a:ext cx="818749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成本降低 95%+</a:t>
            </a:r>
            <a:endParaRPr lang="en-US" sz="900" dirty="0"/>
          </a:p>
        </p:txBody>
      </p:sp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4133747"/>
            <a:ext cx="6133947" cy="2343091"/>
          </a:xfrm>
          <a:prstGeom prst="rect">
            <a:avLst/>
          </a:prstGeom>
        </p:spPr>
      </p:pic>
      <p:pic>
        <p:nvPicPr>
          <p:cNvPr id="18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5000500"/>
            <a:ext cx="609585" cy="609585"/>
          </a:xfrm>
          <a:prstGeom prst="rect">
            <a:avLst/>
          </a:prstGeom>
        </p:spPr>
      </p:pic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0595" y="5190995"/>
            <a:ext cx="228594" cy="228594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1838279" y="4771906"/>
            <a:ext cx="4828674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部署上线周期</a:t>
            </a:r>
            <a:endParaRPr lang="en-US" sz="1350" dirty="0"/>
          </a:p>
        </p:txBody>
      </p:sp>
      <p:sp>
        <p:nvSpPr>
          <p:cNvPr id="21" name="Text 9"/>
          <p:cNvSpPr/>
          <p:nvPr/>
        </p:nvSpPr>
        <p:spPr>
          <a:xfrm>
            <a:off x="1838279" y="5076698"/>
            <a:ext cx="482867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从传统数月缩短至以周为单位</a:t>
            </a:r>
            <a:endParaRPr lang="en-US" sz="1050" dirty="0"/>
          </a:p>
        </p:txBody>
      </p:sp>
      <p:sp>
        <p:nvSpPr>
          <p:cNvPr id="22" name="Text 10"/>
          <p:cNvSpPr/>
          <p:nvPr/>
        </p:nvSpPr>
        <p:spPr>
          <a:xfrm>
            <a:off x="1838279" y="5381490"/>
            <a:ext cx="752075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2~3</a:t>
            </a:r>
            <a:endParaRPr lang="en-US" sz="3600" dirty="0"/>
          </a:p>
        </p:txBody>
      </p:sp>
      <p:sp>
        <p:nvSpPr>
          <p:cNvPr id="23" name="Text 11"/>
          <p:cNvSpPr/>
          <p:nvPr/>
        </p:nvSpPr>
        <p:spPr>
          <a:xfrm>
            <a:off x="2657409" y="5533887"/>
            <a:ext cx="237738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周</a:t>
            </a:r>
            <a:endParaRPr lang="en-US" sz="1800" dirty="0"/>
          </a:p>
        </p:txBody>
      </p:sp>
      <p:pic>
        <p:nvPicPr>
          <p:cNvPr id="24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76498" y="5600560"/>
            <a:ext cx="857229" cy="247644"/>
          </a:xfrm>
          <a:prstGeom prst="rect">
            <a:avLst/>
          </a:prstGeom>
        </p:spPr>
      </p:pic>
      <p:sp>
        <p:nvSpPr>
          <p:cNvPr id="25" name="Text 12"/>
          <p:cNvSpPr/>
          <p:nvPr/>
        </p:nvSpPr>
        <p:spPr>
          <a:xfrm>
            <a:off x="3152696" y="5638659"/>
            <a:ext cx="713976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快速上线运行</a:t>
            </a:r>
            <a:endParaRPr lang="en-US" sz="900" dirty="0"/>
          </a:p>
        </p:txBody>
      </p:sp>
      <p:pic>
        <p:nvPicPr>
          <p:cNvPr id="26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4522" y="1638259"/>
            <a:ext cx="4314717" cy="990575"/>
          </a:xfrm>
          <a:prstGeom prst="rect">
            <a:avLst/>
          </a:prstGeom>
        </p:spPr>
      </p:pic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4542" y="1904952"/>
            <a:ext cx="380990" cy="380990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19790" y="2019250"/>
            <a:ext cx="190495" cy="152396"/>
          </a:xfrm>
          <a:prstGeom prst="rect">
            <a:avLst/>
          </a:prstGeom>
        </p:spPr>
      </p:pic>
      <p:sp>
        <p:nvSpPr>
          <p:cNvPr id="29" name="Text 13"/>
          <p:cNvSpPr/>
          <p:nvPr/>
        </p:nvSpPr>
        <p:spPr>
          <a:xfrm>
            <a:off x="7819829" y="1838279"/>
            <a:ext cx="122831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运维成本</a:t>
            </a:r>
            <a:endParaRPr lang="en-US" sz="1050" dirty="0"/>
          </a:p>
        </p:txBody>
      </p:sp>
      <p:sp>
        <p:nvSpPr>
          <p:cNvPr id="30" name="Text 14"/>
          <p:cNvSpPr/>
          <p:nvPr/>
        </p:nvSpPr>
        <p:spPr>
          <a:xfrm>
            <a:off x="7819829" y="2047824"/>
            <a:ext cx="14249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800" dirty="0"/>
          </a:p>
        </p:txBody>
      </p:sp>
      <p:sp>
        <p:nvSpPr>
          <p:cNvPr id="31" name="Text 15"/>
          <p:cNvSpPr/>
          <p:nvPr/>
        </p:nvSpPr>
        <p:spPr>
          <a:xfrm>
            <a:off x="7981750" y="2133547"/>
            <a:ext cx="106639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名IT人员即可维护</a:t>
            </a:r>
            <a:endParaRPr lang="en-US" sz="1050" dirty="0"/>
          </a:p>
        </p:txBody>
      </p:sp>
      <p:pic>
        <p:nvPicPr>
          <p:cNvPr id="32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24522" y="2781230"/>
            <a:ext cx="4314717" cy="876278"/>
          </a:xfrm>
          <a:prstGeom prst="rect">
            <a:avLst/>
          </a:prstGeom>
        </p:spPr>
      </p:pic>
      <p:pic>
        <p:nvPicPr>
          <p:cNvPr id="33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4542" y="2990775"/>
            <a:ext cx="380990" cy="380990"/>
          </a:xfrm>
          <a:prstGeom prst="rect">
            <a:avLst/>
          </a:prstGeom>
        </p:spPr>
      </p:pic>
      <p:pic>
        <p:nvPicPr>
          <p:cNvPr id="34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91215" y="3086023"/>
            <a:ext cx="238119" cy="190495"/>
          </a:xfrm>
          <a:prstGeom prst="rect">
            <a:avLst/>
          </a:prstGeom>
        </p:spPr>
      </p:pic>
      <p:sp>
        <p:nvSpPr>
          <p:cNvPr id="35" name="Text 16"/>
          <p:cNvSpPr/>
          <p:nvPr/>
        </p:nvSpPr>
        <p:spPr>
          <a:xfrm>
            <a:off x="7819829" y="2981250"/>
            <a:ext cx="15045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部署方式</a:t>
            </a:r>
            <a:endParaRPr lang="en-US" sz="1050" dirty="0"/>
          </a:p>
        </p:txBody>
      </p:sp>
      <p:sp>
        <p:nvSpPr>
          <p:cNvPr id="36" name="Text 17"/>
          <p:cNvSpPr/>
          <p:nvPr/>
        </p:nvSpPr>
        <p:spPr>
          <a:xfrm>
            <a:off x="7819829" y="3190795"/>
            <a:ext cx="15045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Docker容器化，一键部署</a:t>
            </a:r>
            <a:endParaRPr lang="en-US" sz="1050" dirty="0"/>
          </a:p>
        </p:txBody>
      </p:sp>
      <p:pic>
        <p:nvPicPr>
          <p:cNvPr id="37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24522" y="3809905"/>
            <a:ext cx="4314717" cy="2666933"/>
          </a:xfrm>
          <a:prstGeom prst="rect">
            <a:avLst/>
          </a:prstGeom>
        </p:spPr>
      </p:pic>
      <p:pic>
        <p:nvPicPr>
          <p:cNvPr id="38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24542" y="4038499"/>
            <a:ext cx="171446" cy="133347"/>
          </a:xfrm>
          <a:prstGeom prst="rect">
            <a:avLst/>
          </a:prstGeom>
        </p:spPr>
      </p:pic>
      <p:sp>
        <p:nvSpPr>
          <p:cNvPr id="39" name="Text 18"/>
          <p:cNvSpPr/>
          <p:nvPr/>
        </p:nvSpPr>
        <p:spPr>
          <a:xfrm>
            <a:off x="7562661" y="4009925"/>
            <a:ext cx="53300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技术优势</a:t>
            </a:r>
            <a:endParaRPr lang="en-US" sz="1050" dirty="0"/>
          </a:p>
        </p:txBody>
      </p:sp>
      <p:pic>
        <p:nvPicPr>
          <p:cNvPr id="40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4390915"/>
            <a:ext cx="57149" cy="57149"/>
          </a:xfrm>
          <a:prstGeom prst="rect">
            <a:avLst/>
          </a:prstGeom>
        </p:spPr>
      </p:pic>
      <p:sp>
        <p:nvSpPr>
          <p:cNvPr id="41" name="Text 19"/>
          <p:cNvSpPr/>
          <p:nvPr/>
        </p:nvSpPr>
        <p:spPr>
          <a:xfrm>
            <a:off x="7457889" y="4314717"/>
            <a:ext cx="215221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Docker Compose 一键编排全套服务</a:t>
            </a:r>
            <a:endParaRPr lang="en-US" sz="1050" dirty="0"/>
          </a:p>
        </p:txBody>
      </p:sp>
      <p:pic>
        <p:nvPicPr>
          <p:cNvPr id="42" name="Image 2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4705232"/>
            <a:ext cx="57149" cy="57149"/>
          </a:xfrm>
          <a:prstGeom prst="rect">
            <a:avLst/>
          </a:prstGeom>
        </p:spPr>
      </p:pic>
      <p:sp>
        <p:nvSpPr>
          <p:cNvPr id="43" name="Text 20"/>
          <p:cNvSpPr/>
          <p:nvPr/>
        </p:nvSpPr>
        <p:spPr>
          <a:xfrm>
            <a:off x="7457889" y="4629034"/>
            <a:ext cx="199029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 Windows / Linux 双平台部署</a:t>
            </a:r>
            <a:endParaRPr lang="en-US" sz="1050" dirty="0"/>
          </a:p>
        </p:txBody>
      </p:sp>
      <p:pic>
        <p:nvPicPr>
          <p:cNvPr id="44" name="Image 2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5019550"/>
            <a:ext cx="57149" cy="57149"/>
          </a:xfrm>
          <a:prstGeom prst="rect">
            <a:avLst/>
          </a:prstGeom>
        </p:spPr>
      </p:pic>
      <p:sp>
        <p:nvSpPr>
          <p:cNvPr id="45" name="Text 21"/>
          <p:cNvSpPr/>
          <p:nvPr/>
        </p:nvSpPr>
        <p:spPr>
          <a:xfrm>
            <a:off x="7457889" y="4943351"/>
            <a:ext cx="214269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环境变量统一管理，配置与代码分离</a:t>
            </a:r>
            <a:endParaRPr lang="en-US" sz="1050" dirty="0"/>
          </a:p>
        </p:txBody>
      </p:sp>
      <p:pic>
        <p:nvPicPr>
          <p:cNvPr id="46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5333867"/>
            <a:ext cx="57149" cy="57149"/>
          </a:xfrm>
          <a:prstGeom prst="rect">
            <a:avLst/>
          </a:prstGeom>
        </p:spPr>
      </p:pic>
      <p:sp>
        <p:nvSpPr>
          <p:cNvPr id="47" name="Text 22"/>
          <p:cNvSpPr/>
          <p:nvPr/>
        </p:nvSpPr>
        <p:spPr>
          <a:xfrm>
            <a:off x="7457889" y="5257669"/>
            <a:ext cx="202839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健康检查 + 自动重启策略保障稳定</a:t>
            </a:r>
            <a:endParaRPr lang="en-US" sz="1050" dirty="0"/>
          </a:p>
        </p:txBody>
      </p:sp>
      <p:pic>
        <p:nvPicPr>
          <p:cNvPr id="48" name="Image 23" descr="preencoded.png"/>
          <p:cNvPicPr>
            <a:picLocks noChangeAspect="1"/>
          </p:cNvPicPr>
          <p:nvPr/>
        </p:nvPicPr>
        <p:blipFill>
          <a:blip r:embed="rId18">
            <a:alphaModFix amt="6000"/>
          </a:blip>
          <a:stretch>
            <a:fillRect/>
          </a:stretch>
        </p:blipFill>
        <p:spPr>
          <a:xfrm>
            <a:off x="10753456" y="314317"/>
            <a:ext cx="904852" cy="904852"/>
          </a:xfrm>
          <a:prstGeom prst="rect">
            <a:avLst/>
          </a:prstGeom>
        </p:spPr>
      </p:pic>
      <p:pic>
        <p:nvPicPr>
          <p:cNvPr id="49" name="Image 24" descr="preencoded.png"/>
          <p:cNvPicPr>
            <a:picLocks noChangeAspect="1"/>
          </p:cNvPicPr>
          <p:nvPr/>
        </p:nvPicPr>
        <p:blipFill>
          <a:blip r:embed="rId19">
            <a:alphaModFix amt="6000"/>
          </a:blip>
          <a:stretch>
            <a:fillRect/>
          </a:stretch>
        </p:blipFill>
        <p:spPr>
          <a:xfrm>
            <a:off x="10905852" y="466713"/>
            <a:ext cx="838179" cy="838179"/>
          </a:xfrm>
          <a:prstGeom prst="rect">
            <a:avLst/>
          </a:prstGeom>
        </p:spPr>
      </p:pic>
      <p:pic>
        <p:nvPicPr>
          <p:cNvPr id="50" name="Image 25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61981" y="6467313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523862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457189"/>
            <a:ext cx="176170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Deployment Options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85783"/>
            <a:ext cx="10676877" cy="51433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灵活部署模式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238219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根据医院规模与组织架构，提供两种可落地的部署方案，兼顾数据安全与成本效益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714457"/>
            <a:ext cx="5219570" cy="3400340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1952576"/>
            <a:ext cx="4743331" cy="561961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100" y="1981150"/>
            <a:ext cx="380990" cy="380990"/>
          </a:xfrm>
          <a:prstGeom prst="rect">
            <a:avLst/>
          </a:prstGeom>
        </p:spPr>
      </p:pic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823" y="2085923"/>
            <a:ext cx="219070" cy="171446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1495388" y="1952576"/>
            <a:ext cx="129498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单院模式</a:t>
            </a:r>
            <a:endParaRPr lang="en-US" sz="1500" dirty="0"/>
          </a:p>
        </p:txBody>
      </p:sp>
      <p:sp>
        <p:nvSpPr>
          <p:cNvPr id="13" name="Text 4"/>
          <p:cNvSpPr/>
          <p:nvPr/>
        </p:nvSpPr>
        <p:spPr>
          <a:xfrm>
            <a:off x="1495388" y="2238319"/>
            <a:ext cx="129498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Independent Deployment</a:t>
            </a:r>
            <a:endParaRPr lang="en-US" sz="90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100" y="2762181"/>
            <a:ext cx="57149" cy="57149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133447" y="2705032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医院内网独立部署</a:t>
            </a:r>
            <a:endParaRPr lang="en-US" sz="1050" dirty="0"/>
          </a:p>
        </p:txBody>
      </p:sp>
      <p:sp>
        <p:nvSpPr>
          <p:cNvPr id="16" name="Text 6"/>
          <p:cNvSpPr/>
          <p:nvPr/>
        </p:nvSpPr>
        <p:spPr>
          <a:xfrm>
            <a:off x="1133447" y="2914577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系统完全部署在医院内部服务器，与公网物理隔离</a:t>
            </a:r>
            <a:endParaRPr lang="en-US" sz="900" dirty="0"/>
          </a:p>
        </p:txBody>
      </p:sp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100" y="3276518"/>
            <a:ext cx="57149" cy="57149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133447" y="3219370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数据不出院，安全可控</a:t>
            </a:r>
            <a:endParaRPr lang="en-US" sz="1050" dirty="0"/>
          </a:p>
        </p:txBody>
      </p:sp>
      <p:sp>
        <p:nvSpPr>
          <p:cNvPr id="19" name="Text 8"/>
          <p:cNvSpPr/>
          <p:nvPr/>
        </p:nvSpPr>
        <p:spPr>
          <a:xfrm>
            <a:off x="1133447" y="3428914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患者敏感信息全程院内流转，符合三级等保要求</a:t>
            </a:r>
            <a:endParaRPr lang="en-US" sz="900" dirty="0"/>
          </a:p>
        </p:txBody>
      </p:sp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100" y="3781330"/>
            <a:ext cx="57149" cy="57149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1133447" y="3724182"/>
            <a:ext cx="228556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适合二级以上医院</a:t>
            </a:r>
            <a:endParaRPr lang="en-US" sz="1050" dirty="0"/>
          </a:p>
        </p:txBody>
      </p:sp>
      <p:sp>
        <p:nvSpPr>
          <p:cNvPr id="22" name="Text 10"/>
          <p:cNvSpPr/>
          <p:nvPr/>
        </p:nvSpPr>
        <p:spPr>
          <a:xfrm>
            <a:off x="1133447" y="3933727"/>
            <a:ext cx="228556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具备独立IT运维能力的大型医疗机构首选方案</a:t>
            </a:r>
            <a:endParaRPr lang="en-US" sz="900" dirty="0"/>
          </a:p>
        </p:txBody>
      </p:sp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5" y="1714457"/>
            <a:ext cx="5219570" cy="340034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8264" y="1952576"/>
            <a:ext cx="4743331" cy="561961"/>
          </a:xfrm>
          <a:prstGeom prst="rect">
            <a:avLst/>
          </a:prstGeom>
        </p:spPr>
      </p:pic>
      <p:pic>
        <p:nvPicPr>
          <p:cNvPr id="25" name="Image 1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8264" y="1981150"/>
            <a:ext cx="380990" cy="380990"/>
          </a:xfrm>
          <a:prstGeom prst="rect">
            <a:avLst/>
          </a:prstGeom>
        </p:spPr>
      </p:pic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3987" y="2085923"/>
            <a:ext cx="219070" cy="171446"/>
          </a:xfrm>
          <a:prstGeom prst="rect">
            <a:avLst/>
          </a:prstGeom>
        </p:spPr>
      </p:pic>
      <p:sp>
        <p:nvSpPr>
          <p:cNvPr id="27" name="Text 11"/>
          <p:cNvSpPr/>
          <p:nvPr/>
        </p:nvSpPr>
        <p:spPr>
          <a:xfrm>
            <a:off x="6943551" y="1952576"/>
            <a:ext cx="148548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区域中心模式</a:t>
            </a:r>
            <a:endParaRPr lang="en-US" sz="1500" dirty="0"/>
          </a:p>
        </p:txBody>
      </p:sp>
      <p:sp>
        <p:nvSpPr>
          <p:cNvPr id="28" name="Text 12"/>
          <p:cNvSpPr/>
          <p:nvPr/>
        </p:nvSpPr>
        <p:spPr>
          <a:xfrm>
            <a:off x="6943551" y="2238319"/>
            <a:ext cx="148548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Regional Center Deployment</a:t>
            </a:r>
            <a:endParaRPr lang="en-US" sz="900" dirty="0"/>
          </a:p>
        </p:txBody>
      </p:sp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2762181"/>
            <a:ext cx="57149" cy="57149"/>
          </a:xfrm>
          <a:prstGeom prst="rect">
            <a:avLst/>
          </a:prstGeom>
        </p:spPr>
      </p:pic>
      <p:sp>
        <p:nvSpPr>
          <p:cNvPr id="30" name="Text 13"/>
          <p:cNvSpPr/>
          <p:nvPr/>
        </p:nvSpPr>
        <p:spPr>
          <a:xfrm>
            <a:off x="6581610" y="2705032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区域中心统一部署</a:t>
            </a:r>
            <a:endParaRPr lang="en-US" sz="1050" dirty="0"/>
          </a:p>
        </p:txBody>
      </p:sp>
      <p:sp>
        <p:nvSpPr>
          <p:cNvPr id="31" name="Text 14"/>
          <p:cNvSpPr/>
          <p:nvPr/>
        </p:nvSpPr>
        <p:spPr>
          <a:xfrm>
            <a:off x="6581610" y="2914577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在医共体牵头医院或卫健部门建立统一计算中心</a:t>
            </a:r>
            <a:endParaRPr lang="en-US" sz="90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3257469"/>
            <a:ext cx="57149" cy="57149"/>
          </a:xfrm>
          <a:prstGeom prst="rect">
            <a:avLst/>
          </a:prstGeom>
        </p:spPr>
      </p:pic>
      <p:sp>
        <p:nvSpPr>
          <p:cNvPr id="33" name="Text 15"/>
          <p:cNvSpPr/>
          <p:nvPr/>
        </p:nvSpPr>
        <p:spPr>
          <a:xfrm>
            <a:off x="6581610" y="3200320"/>
            <a:ext cx="276180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基层医院远程调用</a:t>
            </a:r>
            <a:endParaRPr lang="en-US" sz="1050" dirty="0"/>
          </a:p>
        </p:txBody>
      </p:sp>
      <p:sp>
        <p:nvSpPr>
          <p:cNvPr id="34" name="Text 16"/>
          <p:cNvSpPr/>
          <p:nvPr/>
        </p:nvSpPr>
        <p:spPr>
          <a:xfrm>
            <a:off x="6581610" y="3409865"/>
            <a:ext cx="276180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通过专网或VPN安全通道访问AI服务，无需本地建机房</a:t>
            </a:r>
            <a:endParaRPr lang="en-US" sz="900" dirty="0"/>
          </a:p>
        </p:txBody>
      </p:sp>
      <p:pic>
        <p:nvPicPr>
          <p:cNvPr id="35" name="Image 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3743231"/>
            <a:ext cx="57149" cy="57149"/>
          </a:xfrm>
          <a:prstGeom prst="rect">
            <a:avLst/>
          </a:prstGeom>
        </p:spPr>
      </p:pic>
      <p:sp>
        <p:nvSpPr>
          <p:cNvPr id="36" name="Text 17"/>
          <p:cNvSpPr/>
          <p:nvPr/>
        </p:nvSpPr>
        <p:spPr>
          <a:xfrm>
            <a:off x="6581610" y="3686083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降低基层医院投入成本</a:t>
            </a:r>
            <a:endParaRPr lang="en-US" sz="1050" dirty="0"/>
          </a:p>
        </p:txBody>
      </p:sp>
      <p:sp>
        <p:nvSpPr>
          <p:cNvPr id="37" name="Text 18"/>
          <p:cNvSpPr/>
          <p:nvPr/>
        </p:nvSpPr>
        <p:spPr>
          <a:xfrm>
            <a:off x="6581610" y="3895628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免除服务器采购与运维人员配置，按</a:t>
            </a:r>
            <a:r>
              <a:rPr lang="zh-CN" altLang="en-US" sz="9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服务</a:t>
            </a: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付费</a:t>
            </a:r>
            <a:endParaRPr lang="en-US" sz="900" dirty="0"/>
          </a:p>
        </p:txBody>
      </p:sp>
      <p:pic>
        <p:nvPicPr>
          <p:cNvPr id="38" name="Image 1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4238519"/>
            <a:ext cx="57149" cy="57149"/>
          </a:xfrm>
          <a:prstGeom prst="rect">
            <a:avLst/>
          </a:prstGeom>
        </p:spPr>
      </p:pic>
      <p:sp>
        <p:nvSpPr>
          <p:cNvPr id="39" name="Text 19"/>
          <p:cNvSpPr/>
          <p:nvPr/>
        </p:nvSpPr>
        <p:spPr>
          <a:xfrm>
            <a:off x="6581610" y="4181370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实现区域资源共享</a:t>
            </a:r>
            <a:endParaRPr lang="en-US" sz="1050" dirty="0"/>
          </a:p>
        </p:txBody>
      </p:sp>
      <p:sp>
        <p:nvSpPr>
          <p:cNvPr id="40" name="Text 20"/>
          <p:cNvSpPr/>
          <p:nvPr/>
        </p:nvSpPr>
        <p:spPr>
          <a:xfrm>
            <a:off x="6581610" y="4390915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促进优质医疗资源下沉，提升基层诊疗同质化水平</a:t>
            </a:r>
            <a:endParaRPr lang="en-US" sz="900" dirty="0"/>
          </a:p>
        </p:txBody>
      </p:sp>
      <p:pic>
        <p:nvPicPr>
          <p:cNvPr id="41" name="Image 1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1981" y="5305292"/>
            <a:ext cx="10667733" cy="1104872"/>
          </a:xfrm>
          <a:prstGeom prst="rect">
            <a:avLst/>
          </a:prstGeom>
        </p:spPr>
      </p:pic>
      <p:pic>
        <p:nvPicPr>
          <p:cNvPr id="42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2001" y="5543411"/>
            <a:ext cx="114297" cy="152396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1171546" y="5505312"/>
            <a:ext cx="60920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选择建议</a:t>
            </a:r>
            <a:endParaRPr lang="en-US" sz="1200" dirty="0"/>
          </a:p>
        </p:txBody>
      </p:sp>
      <p:pic>
        <p:nvPicPr>
          <p:cNvPr id="44" name="Image 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2001" y="5867253"/>
            <a:ext cx="266693" cy="266693"/>
          </a:xfrm>
          <a:prstGeom prst="rect">
            <a:avLst/>
          </a:prstGeom>
        </p:spPr>
      </p:pic>
      <p:sp>
        <p:nvSpPr>
          <p:cNvPr id="45" name="Text 22"/>
          <p:cNvSpPr/>
          <p:nvPr/>
        </p:nvSpPr>
        <p:spPr>
          <a:xfrm>
            <a:off x="1038199" y="5924402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01</a:t>
            </a:r>
            <a:endParaRPr lang="en-US" sz="900" dirty="0"/>
          </a:p>
        </p:txBody>
      </p:sp>
      <p:sp>
        <p:nvSpPr>
          <p:cNvPr id="46" name="Text 23"/>
          <p:cNvSpPr/>
          <p:nvPr/>
        </p:nvSpPr>
        <p:spPr>
          <a:xfrm>
            <a:off x="1323942" y="5848204"/>
            <a:ext cx="229508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大型医院</a:t>
            </a:r>
            <a:endParaRPr lang="en-US" sz="900" dirty="0"/>
          </a:p>
        </p:txBody>
      </p:sp>
      <p:sp>
        <p:nvSpPr>
          <p:cNvPr id="47" name="Text 24"/>
          <p:cNvSpPr/>
          <p:nvPr/>
        </p:nvSpPr>
        <p:spPr>
          <a:xfrm>
            <a:off x="1323942" y="6019650"/>
            <a:ext cx="229508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推荐单院模式，确保数据主权与系统响应速度</a:t>
            </a:r>
            <a:endParaRPr lang="en-US" sz="900" dirty="0"/>
          </a:p>
        </p:txBody>
      </p:sp>
      <p:pic>
        <p:nvPicPr>
          <p:cNvPr id="48" name="Image 2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38539" y="5867253"/>
            <a:ext cx="266693" cy="266693"/>
          </a:xfrm>
          <a:prstGeom prst="rect">
            <a:avLst/>
          </a:prstGeom>
        </p:spPr>
      </p:pic>
      <p:sp>
        <p:nvSpPr>
          <p:cNvPr id="49" name="Text 25"/>
          <p:cNvSpPr/>
          <p:nvPr/>
        </p:nvSpPr>
        <p:spPr>
          <a:xfrm>
            <a:off x="4505212" y="5924402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02</a:t>
            </a:r>
            <a:endParaRPr lang="en-US" sz="900" dirty="0"/>
          </a:p>
        </p:txBody>
      </p:sp>
      <p:sp>
        <p:nvSpPr>
          <p:cNvPr id="50" name="Text 26"/>
          <p:cNvSpPr/>
          <p:nvPr/>
        </p:nvSpPr>
        <p:spPr>
          <a:xfrm>
            <a:off x="4800480" y="5848204"/>
            <a:ext cx="206649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医共体/集团</a:t>
            </a:r>
            <a:endParaRPr lang="en-US" sz="900" dirty="0"/>
          </a:p>
        </p:txBody>
      </p:sp>
      <p:sp>
        <p:nvSpPr>
          <p:cNvPr id="51" name="Text 27"/>
          <p:cNvSpPr/>
          <p:nvPr/>
        </p:nvSpPr>
        <p:spPr>
          <a:xfrm>
            <a:off x="4800480" y="6019650"/>
            <a:ext cx="206649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推荐区域中心模式，实现资源集约化管理</a:t>
            </a:r>
            <a:endParaRPr lang="en-US" sz="900" dirty="0"/>
          </a:p>
        </p:txBody>
      </p:sp>
      <p:pic>
        <p:nvPicPr>
          <p:cNvPr id="52" name="Image 2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15077" y="5867253"/>
            <a:ext cx="266693" cy="266693"/>
          </a:xfrm>
          <a:prstGeom prst="rect">
            <a:avLst/>
          </a:prstGeom>
        </p:spPr>
      </p:pic>
      <p:sp>
        <p:nvSpPr>
          <p:cNvPr id="53" name="Text 28"/>
          <p:cNvSpPr/>
          <p:nvPr/>
        </p:nvSpPr>
        <p:spPr>
          <a:xfrm>
            <a:off x="7981750" y="5924402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03</a:t>
            </a:r>
            <a:endParaRPr lang="en-US" sz="900" dirty="0"/>
          </a:p>
        </p:txBody>
      </p:sp>
      <p:sp>
        <p:nvSpPr>
          <p:cNvPr id="54" name="Text 29"/>
          <p:cNvSpPr/>
          <p:nvPr/>
        </p:nvSpPr>
        <p:spPr>
          <a:xfrm>
            <a:off x="8277018" y="5848204"/>
            <a:ext cx="195219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基层医疗机构</a:t>
            </a:r>
            <a:endParaRPr lang="en-US" sz="900" dirty="0"/>
          </a:p>
        </p:txBody>
      </p:sp>
      <p:sp>
        <p:nvSpPr>
          <p:cNvPr id="55" name="Text 30"/>
          <p:cNvSpPr/>
          <p:nvPr/>
        </p:nvSpPr>
        <p:spPr>
          <a:xfrm>
            <a:off x="8277018" y="6019650"/>
            <a:ext cx="195219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建议接入区域中心，零门槛享受AI能力</a:t>
            </a:r>
            <a:endParaRPr lang="en-US" sz="900" dirty="0"/>
          </a:p>
        </p:txBody>
      </p:sp>
      <p:pic>
        <p:nvPicPr>
          <p:cNvPr id="56" name="Image 23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420089" y="361941"/>
            <a:ext cx="1266793" cy="1266793"/>
          </a:xfrm>
          <a:prstGeom prst="rect">
            <a:avLst/>
          </a:prstGeom>
        </p:spPr>
      </p:pic>
      <p:pic>
        <p:nvPicPr>
          <p:cNvPr id="57" name="Image 24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658209" y="600060"/>
            <a:ext cx="1181070" cy="1181070"/>
          </a:xfrm>
          <a:prstGeom prst="rect">
            <a:avLst/>
          </a:prstGeom>
        </p:spPr>
      </p:pic>
      <p:pic>
        <p:nvPicPr>
          <p:cNvPr id="58" name="Image 2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1981" y="6391115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137118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Target Users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目标用户价值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系统覆盖医院多层级用户群体，为不同角色提供精准的功能支持与价值实现：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981150"/>
            <a:ext cx="3333667" cy="2200220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219270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6318" y="2324042"/>
            <a:ext cx="15239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47784" y="2276418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临床医生</a:t>
            </a:r>
            <a:endParaRPr lang="en-US" sz="135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2809805"/>
            <a:ext cx="66673" cy="95248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295368" y="2752656"/>
            <a:ext cx="67587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AI诊断辅助</a:t>
            </a:r>
            <a:endParaRPr lang="en-US" sz="105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076498"/>
            <a:ext cx="66673" cy="95248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295368" y="3019350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语音病历</a:t>
            </a:r>
            <a:endParaRPr lang="en-US" sz="105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343191"/>
            <a:ext cx="66673" cy="95248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1295368" y="3286043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待办事项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496" y="3628934"/>
            <a:ext cx="2857429" cy="314317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1152496" y="3752756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提升诊疗效率，减少漏诊</a:t>
            </a:r>
            <a:endParaRPr lang="en-US" sz="1050" dirty="0"/>
          </a:p>
        </p:txBody>
      </p:sp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39" y="1981150"/>
            <a:ext cx="3333667" cy="2200220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2219270"/>
            <a:ext cx="380990" cy="380990"/>
          </a:xfrm>
          <a:prstGeom prst="rect">
            <a:avLst/>
          </a:prstGeom>
        </p:spPr>
      </p:pic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1430" y="2324042"/>
            <a:ext cx="171446" cy="171446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5171946" y="2276418"/>
            <a:ext cx="86637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科室管理者</a:t>
            </a:r>
            <a:endParaRPr lang="en-US" sz="135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2809805"/>
            <a:ext cx="66673" cy="95248"/>
          </a:xfrm>
          <a:prstGeom prst="rect">
            <a:avLst/>
          </a:prstGeom>
        </p:spPr>
      </p:pic>
      <p:sp>
        <p:nvSpPr>
          <p:cNvPr id="25" name="Text 9"/>
          <p:cNvSpPr/>
          <p:nvPr/>
        </p:nvSpPr>
        <p:spPr>
          <a:xfrm>
            <a:off x="4810005" y="2752656"/>
            <a:ext cx="58063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DRG分析</a:t>
            </a:r>
            <a:endParaRPr lang="en-US" sz="105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3076498"/>
            <a:ext cx="66673" cy="95248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4810005" y="3019350"/>
            <a:ext cx="58063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MCC筛查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3343191"/>
            <a:ext cx="66673" cy="95248"/>
          </a:xfrm>
          <a:prstGeom prst="rect">
            <a:avLst/>
          </a:prstGeom>
        </p:spPr>
      </p:pic>
      <p:sp>
        <p:nvSpPr>
          <p:cNvPr id="29" name="Text 11"/>
          <p:cNvSpPr/>
          <p:nvPr/>
        </p:nvSpPr>
        <p:spPr>
          <a:xfrm>
            <a:off x="4810005" y="3286043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盈亏计算</a:t>
            </a:r>
            <a:endParaRPr lang="en-US" sz="1050" dirty="0"/>
          </a:p>
        </p:txBody>
      </p:sp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76658" y="3628934"/>
            <a:ext cx="2857429" cy="314317"/>
          </a:xfrm>
          <a:prstGeom prst="rect">
            <a:avLst/>
          </a:prstGeom>
        </p:spPr>
      </p:pic>
      <p:sp>
        <p:nvSpPr>
          <p:cNvPr id="31" name="Text 12"/>
          <p:cNvSpPr/>
          <p:nvPr/>
        </p:nvSpPr>
        <p:spPr>
          <a:xfrm>
            <a:off x="4676658" y="3752756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精细化成本管理</a:t>
            </a:r>
            <a:endParaRPr lang="en-US" sz="105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53176" y="1981150"/>
            <a:ext cx="3333667" cy="2200220"/>
          </a:xfrm>
          <a:prstGeom prst="rect">
            <a:avLst/>
          </a:prstGeom>
        </p:spPr>
      </p:pic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295" y="2219270"/>
            <a:ext cx="380990" cy="380990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15117" y="2324042"/>
            <a:ext cx="133347" cy="171446"/>
          </a:xfrm>
          <a:prstGeom prst="rect">
            <a:avLst/>
          </a:prstGeom>
        </p:spPr>
      </p:pic>
      <p:sp>
        <p:nvSpPr>
          <p:cNvPr id="35" name="Text 13"/>
          <p:cNvSpPr/>
          <p:nvPr/>
        </p:nvSpPr>
        <p:spPr>
          <a:xfrm>
            <a:off x="8686583" y="2276418"/>
            <a:ext cx="1037818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医保管理人员</a:t>
            </a:r>
            <a:endParaRPr lang="en-US" sz="1350" dirty="0"/>
          </a:p>
        </p:txBody>
      </p:sp>
      <p:pic>
        <p:nvPicPr>
          <p:cNvPr id="36" name="Image 2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1295" y="2809805"/>
            <a:ext cx="66673" cy="95248"/>
          </a:xfrm>
          <a:prstGeom prst="rect">
            <a:avLst/>
          </a:prstGeom>
        </p:spPr>
      </p:pic>
      <p:sp>
        <p:nvSpPr>
          <p:cNvPr id="37" name="Text 14"/>
          <p:cNvSpPr/>
          <p:nvPr/>
        </p:nvSpPr>
        <p:spPr>
          <a:xfrm>
            <a:off x="8324642" y="2752656"/>
            <a:ext cx="84732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DRG分组分析</a:t>
            </a:r>
            <a:endParaRPr lang="en-US" sz="1050" dirty="0"/>
          </a:p>
        </p:txBody>
      </p:sp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1295" y="3076498"/>
            <a:ext cx="66673" cy="95248"/>
          </a:xfrm>
          <a:prstGeom prst="rect">
            <a:avLst/>
          </a:prstGeom>
        </p:spPr>
      </p:pic>
      <p:sp>
        <p:nvSpPr>
          <p:cNvPr id="39" name="Text 15"/>
          <p:cNvSpPr/>
          <p:nvPr/>
        </p:nvSpPr>
        <p:spPr>
          <a:xfrm>
            <a:off x="8324642" y="3019350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费用预测</a:t>
            </a:r>
            <a:endParaRPr lang="en-US" sz="1050" dirty="0"/>
          </a:p>
        </p:txBody>
      </p:sp>
      <p:pic>
        <p:nvPicPr>
          <p:cNvPr id="40" name="Image 2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91295" y="3628934"/>
            <a:ext cx="2857429" cy="314317"/>
          </a:xfrm>
          <a:prstGeom prst="rect">
            <a:avLst/>
          </a:prstGeom>
        </p:spPr>
      </p:pic>
      <p:sp>
        <p:nvSpPr>
          <p:cNvPr id="41" name="Text 16"/>
          <p:cNvSpPr/>
          <p:nvPr/>
        </p:nvSpPr>
        <p:spPr>
          <a:xfrm>
            <a:off x="8191295" y="3752756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支持医保付费改革</a:t>
            </a:r>
            <a:endParaRPr lang="en-US" sz="1050" dirty="0"/>
          </a:p>
        </p:txBody>
      </p:sp>
      <p:pic>
        <p:nvPicPr>
          <p:cNvPr id="42" name="Image 2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377" y="4371866"/>
            <a:ext cx="3333667" cy="1933527"/>
          </a:xfrm>
          <a:prstGeom prst="rect">
            <a:avLst/>
          </a:prstGeom>
        </p:spPr>
      </p:pic>
      <p:pic>
        <p:nvPicPr>
          <p:cNvPr id="43" name="Image 2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609985"/>
            <a:ext cx="380990" cy="380990"/>
          </a:xfrm>
          <a:prstGeom prst="rect">
            <a:avLst/>
          </a:prstGeom>
        </p:spPr>
      </p:pic>
      <p:pic>
        <p:nvPicPr>
          <p:cNvPr id="44" name="Image 2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85843" y="4714757"/>
            <a:ext cx="133347" cy="171446"/>
          </a:xfrm>
          <a:prstGeom prst="rect">
            <a:avLst/>
          </a:prstGeom>
        </p:spPr>
      </p:pic>
      <p:sp>
        <p:nvSpPr>
          <p:cNvPr id="45" name="Text 17"/>
          <p:cNvSpPr/>
          <p:nvPr/>
        </p:nvSpPr>
        <p:spPr>
          <a:xfrm>
            <a:off x="1647784" y="4667133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质控人员</a:t>
            </a:r>
            <a:endParaRPr lang="en-US" sz="1350" dirty="0"/>
          </a:p>
        </p:txBody>
      </p:sp>
      <p:pic>
        <p:nvPicPr>
          <p:cNvPr id="46" name="Image 2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200520"/>
            <a:ext cx="66673" cy="95248"/>
          </a:xfrm>
          <a:prstGeom prst="rect">
            <a:avLst/>
          </a:prstGeom>
        </p:spPr>
      </p:pic>
      <p:sp>
        <p:nvSpPr>
          <p:cNvPr id="47" name="Text 18"/>
          <p:cNvSpPr/>
          <p:nvPr/>
        </p:nvSpPr>
        <p:spPr>
          <a:xfrm>
            <a:off x="1295368" y="5143371"/>
            <a:ext cx="94257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AI辅助质控分析</a:t>
            </a:r>
            <a:endParaRPr lang="en-US" sz="1050" dirty="0"/>
          </a:p>
        </p:txBody>
      </p:sp>
      <p:pic>
        <p:nvPicPr>
          <p:cNvPr id="48" name="Image 2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496" y="5752956"/>
            <a:ext cx="2857429" cy="314317"/>
          </a:xfrm>
          <a:prstGeom prst="rect">
            <a:avLst/>
          </a:prstGeom>
        </p:spPr>
      </p:pic>
      <p:sp>
        <p:nvSpPr>
          <p:cNvPr id="49" name="Text 19"/>
          <p:cNvSpPr/>
          <p:nvPr/>
        </p:nvSpPr>
        <p:spPr>
          <a:xfrm>
            <a:off x="1152496" y="5876778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提升质控效率</a:t>
            </a:r>
            <a:endParaRPr lang="en-US" sz="105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38539" y="4371866"/>
            <a:ext cx="3333667" cy="193352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4609985"/>
            <a:ext cx="380990" cy="380990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81430" y="4714757"/>
            <a:ext cx="171446" cy="171446"/>
          </a:xfrm>
          <a:prstGeom prst="rect">
            <a:avLst/>
          </a:prstGeom>
        </p:spPr>
      </p:pic>
      <p:sp>
        <p:nvSpPr>
          <p:cNvPr id="53" name="Text 20"/>
          <p:cNvSpPr/>
          <p:nvPr/>
        </p:nvSpPr>
        <p:spPr>
          <a:xfrm>
            <a:off x="5171946" y="4667133"/>
            <a:ext cx="86637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系统管理员</a:t>
            </a:r>
            <a:endParaRPr lang="en-US" sz="1350" dirty="0"/>
          </a:p>
        </p:txBody>
      </p:sp>
      <p:pic>
        <p:nvPicPr>
          <p:cNvPr id="54" name="Image 3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5200520"/>
            <a:ext cx="66673" cy="95248"/>
          </a:xfrm>
          <a:prstGeom prst="rect">
            <a:avLst/>
          </a:prstGeom>
        </p:spPr>
      </p:pic>
      <p:sp>
        <p:nvSpPr>
          <p:cNvPr id="55" name="Text 21"/>
          <p:cNvSpPr/>
          <p:nvPr/>
        </p:nvSpPr>
        <p:spPr>
          <a:xfrm>
            <a:off x="4810005" y="5143371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系统监控</a:t>
            </a:r>
            <a:endParaRPr lang="en-US" sz="1050" dirty="0"/>
          </a:p>
        </p:txBody>
      </p:sp>
      <p:pic>
        <p:nvPicPr>
          <p:cNvPr id="56" name="Image 3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5467213"/>
            <a:ext cx="66673" cy="95248"/>
          </a:xfrm>
          <a:prstGeom prst="rect">
            <a:avLst/>
          </a:prstGeom>
        </p:spPr>
      </p:pic>
      <p:sp>
        <p:nvSpPr>
          <p:cNvPr id="57" name="Text 22"/>
          <p:cNvSpPr/>
          <p:nvPr/>
        </p:nvSpPr>
        <p:spPr>
          <a:xfrm>
            <a:off x="4810005" y="5410065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配置管理</a:t>
            </a:r>
            <a:endParaRPr lang="en-US" sz="1050" dirty="0"/>
          </a:p>
        </p:txBody>
      </p:sp>
      <p:pic>
        <p:nvPicPr>
          <p:cNvPr id="58" name="Image 3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76658" y="5752956"/>
            <a:ext cx="2857429" cy="314317"/>
          </a:xfrm>
          <a:prstGeom prst="rect">
            <a:avLst/>
          </a:prstGeom>
        </p:spPr>
      </p:pic>
      <p:sp>
        <p:nvSpPr>
          <p:cNvPr id="59" name="Text 23"/>
          <p:cNvSpPr/>
          <p:nvPr/>
        </p:nvSpPr>
        <p:spPr>
          <a:xfrm>
            <a:off x="4676658" y="5876778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保障系统稳定运行</a:t>
            </a:r>
            <a:endParaRPr lang="en-US" sz="1050" dirty="0"/>
          </a:p>
        </p:txBody>
      </p:sp>
      <p:pic>
        <p:nvPicPr>
          <p:cNvPr id="60" name="Image 34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61" name="Image 35" descr="preencoded.png"/>
          <p:cNvPicPr>
            <a:picLocks noChangeAspect="1"/>
          </p:cNvPicPr>
          <p:nvPr/>
        </p:nvPicPr>
        <p:blipFill>
          <a:blip r:embed="rId17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62" name="Image 3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sp>
        <p:nvSpPr>
          <p:cNvPr id="63" name="Text 0"/>
          <p:cNvSpPr/>
          <p:nvPr/>
        </p:nvSpPr>
        <p:spPr>
          <a:xfrm>
            <a:off x="457189" y="457189"/>
            <a:ext cx="11286462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与国家政策</a:t>
            </a: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核心定位完全对标</a:t>
            </a:r>
            <a:endParaRPr lang="en-US" sz="3000" dirty="0"/>
          </a:p>
        </p:txBody>
      </p:sp>
      <p:sp>
        <p:nvSpPr>
          <p:cNvPr id="64" name="Text 1"/>
          <p:cNvSpPr/>
          <p:nvPr/>
        </p:nvSpPr>
        <p:spPr>
          <a:xfrm>
            <a:off x="457189" y="1142971"/>
            <a:ext cx="854333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展示系统与政策要求的高度契合，体现"基层医院用得起、用得好的AI"定位</a:t>
            </a:r>
            <a:endParaRPr lang="en-US" sz="1350" dirty="0"/>
          </a:p>
        </p:txBody>
      </p:sp>
      <p:pic>
        <p:nvPicPr>
          <p:cNvPr id="6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1733507"/>
            <a:ext cx="5543411" cy="1733507"/>
          </a:xfrm>
          <a:prstGeom prst="rect">
            <a:avLst/>
          </a:prstGeom>
        </p:spPr>
      </p:pic>
      <p:pic>
        <p:nvPicPr>
          <p:cNvPr id="6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08" y="1971626"/>
            <a:ext cx="5067173" cy="390515"/>
          </a:xfrm>
          <a:prstGeom prst="rect">
            <a:avLst/>
          </a:prstGeom>
        </p:spPr>
      </p:pic>
      <p:sp>
        <p:nvSpPr>
          <p:cNvPr id="67" name="Text 2"/>
          <p:cNvSpPr/>
          <p:nvPr/>
        </p:nvSpPr>
        <p:spPr>
          <a:xfrm>
            <a:off x="695308" y="1971626"/>
            <a:ext cx="153310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降低基层应用成本</a:t>
            </a:r>
            <a:endParaRPr lang="en-US" sz="1500" dirty="0"/>
          </a:p>
        </p:txBody>
      </p:sp>
      <p:sp>
        <p:nvSpPr>
          <p:cNvPr id="68" name="Text 3"/>
          <p:cNvSpPr/>
          <p:nvPr/>
        </p:nvSpPr>
        <p:spPr>
          <a:xfrm>
            <a:off x="4457589" y="2009725"/>
            <a:ext cx="4091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契合度</a:t>
            </a:r>
            <a:endParaRPr lang="en-US" sz="1050" dirty="0"/>
          </a:p>
        </p:txBody>
      </p:sp>
      <p:pic>
        <p:nvPicPr>
          <p:cNvPr id="6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926" y="2047824"/>
            <a:ext cx="133347" cy="114297"/>
          </a:xfrm>
          <a:prstGeom prst="rect">
            <a:avLst/>
          </a:prstGeom>
        </p:spPr>
      </p:pic>
      <p:pic>
        <p:nvPicPr>
          <p:cNvPr id="7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3847" y="2047824"/>
            <a:ext cx="133347" cy="114297"/>
          </a:xfrm>
          <a:prstGeom prst="rect">
            <a:avLst/>
          </a:prstGeom>
        </p:spPr>
      </p:pic>
      <p:pic>
        <p:nvPicPr>
          <p:cNvPr id="71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5292" y="2047824"/>
            <a:ext cx="133347" cy="114297"/>
          </a:xfrm>
          <a:prstGeom prst="rect">
            <a:avLst/>
          </a:prstGeom>
        </p:spPr>
      </p:pic>
      <p:pic>
        <p:nvPicPr>
          <p:cNvPr id="7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7213" y="2047824"/>
            <a:ext cx="133347" cy="114297"/>
          </a:xfrm>
          <a:prstGeom prst="rect">
            <a:avLst/>
          </a:prstGeom>
        </p:spPr>
      </p:pic>
      <p:pic>
        <p:nvPicPr>
          <p:cNvPr id="73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8659" y="2047824"/>
            <a:ext cx="133347" cy="114297"/>
          </a:xfrm>
          <a:prstGeom prst="rect">
            <a:avLst/>
          </a:prstGeom>
        </p:spPr>
      </p:pic>
      <p:sp>
        <p:nvSpPr>
          <p:cNvPr id="74" name="Text 4"/>
          <p:cNvSpPr/>
          <p:nvPr/>
        </p:nvSpPr>
        <p:spPr>
          <a:xfrm>
            <a:off x="695308" y="2514537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900" dirty="0"/>
          </a:p>
        </p:txBody>
      </p:sp>
      <p:sp>
        <p:nvSpPr>
          <p:cNvPr id="75" name="Text 5"/>
          <p:cNvSpPr/>
          <p:nvPr/>
        </p:nvSpPr>
        <p:spPr>
          <a:xfrm>
            <a:off x="695308" y="2743131"/>
            <a:ext cx="246653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降低基层AI应用门槛</a:t>
            </a:r>
            <a:endParaRPr lang="en-US" sz="1050" dirty="0"/>
          </a:p>
        </p:txBody>
      </p:sp>
      <p:sp>
        <p:nvSpPr>
          <p:cNvPr id="76" name="Text 6"/>
          <p:cNvSpPr/>
          <p:nvPr/>
        </p:nvSpPr>
        <p:spPr>
          <a:xfrm>
            <a:off x="3305092" y="2514537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系统实现</a:t>
            </a:r>
            <a:endParaRPr lang="en-US" sz="900" dirty="0"/>
          </a:p>
        </p:txBody>
      </p:sp>
      <p:sp>
        <p:nvSpPr>
          <p:cNvPr id="77" name="Text 7"/>
          <p:cNvSpPr/>
          <p:nvPr/>
        </p:nvSpPr>
        <p:spPr>
          <a:xfrm>
            <a:off x="3305092" y="2743131"/>
            <a:ext cx="2466533" cy="4476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硬件投入仅</a:t>
            </a:r>
            <a:r>
              <a:rPr lang="en-US" sz="12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5-10万元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（传统AI系统百万级）</a:t>
            </a:r>
            <a:endParaRPr lang="en-US" sz="1050" dirty="0"/>
          </a:p>
        </p:txBody>
      </p:sp>
      <p:pic>
        <p:nvPicPr>
          <p:cNvPr id="78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095" y="1733507"/>
            <a:ext cx="5543411" cy="1733507"/>
          </a:xfrm>
          <a:prstGeom prst="rect">
            <a:avLst/>
          </a:prstGeom>
        </p:spPr>
      </p:pic>
      <p:pic>
        <p:nvPicPr>
          <p:cNvPr id="79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214" y="1971626"/>
            <a:ext cx="5067173" cy="390515"/>
          </a:xfrm>
          <a:prstGeom prst="rect">
            <a:avLst/>
          </a:prstGeom>
        </p:spPr>
      </p:pic>
      <p:sp>
        <p:nvSpPr>
          <p:cNvPr id="80" name="Text 8"/>
          <p:cNvSpPr/>
          <p:nvPr/>
        </p:nvSpPr>
        <p:spPr>
          <a:xfrm>
            <a:off x="6429214" y="1971626"/>
            <a:ext cx="115211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支持快速部署</a:t>
            </a:r>
            <a:endParaRPr lang="en-US" sz="1500" dirty="0"/>
          </a:p>
        </p:txBody>
      </p:sp>
      <p:sp>
        <p:nvSpPr>
          <p:cNvPr id="81" name="Text 9"/>
          <p:cNvSpPr/>
          <p:nvPr/>
        </p:nvSpPr>
        <p:spPr>
          <a:xfrm>
            <a:off x="10191495" y="2009725"/>
            <a:ext cx="4091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契合度</a:t>
            </a:r>
            <a:endParaRPr lang="en-US" sz="1050" dirty="0"/>
          </a:p>
        </p:txBody>
      </p:sp>
      <p:pic>
        <p:nvPicPr>
          <p:cNvPr id="82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5832" y="2047824"/>
            <a:ext cx="133347" cy="114297"/>
          </a:xfrm>
          <a:prstGeom prst="rect">
            <a:avLst/>
          </a:prstGeom>
        </p:spPr>
      </p:pic>
      <p:pic>
        <p:nvPicPr>
          <p:cNvPr id="83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7753" y="2047824"/>
            <a:ext cx="133347" cy="114297"/>
          </a:xfrm>
          <a:prstGeom prst="rect">
            <a:avLst/>
          </a:prstGeom>
        </p:spPr>
      </p:pic>
      <p:pic>
        <p:nvPicPr>
          <p:cNvPr id="84" name="Image 1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9199" y="2047824"/>
            <a:ext cx="133347" cy="114297"/>
          </a:xfrm>
          <a:prstGeom prst="rect">
            <a:avLst/>
          </a:prstGeom>
        </p:spPr>
      </p:pic>
      <p:pic>
        <p:nvPicPr>
          <p:cNvPr id="85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1120" y="2047824"/>
            <a:ext cx="133347" cy="114297"/>
          </a:xfrm>
          <a:prstGeom prst="rect">
            <a:avLst/>
          </a:prstGeom>
        </p:spPr>
      </p:pic>
      <p:pic>
        <p:nvPicPr>
          <p:cNvPr id="86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2566" y="2047824"/>
            <a:ext cx="133347" cy="114297"/>
          </a:xfrm>
          <a:prstGeom prst="rect">
            <a:avLst/>
          </a:prstGeom>
        </p:spPr>
      </p:pic>
      <p:sp>
        <p:nvSpPr>
          <p:cNvPr id="87" name="Text 10"/>
          <p:cNvSpPr/>
          <p:nvPr/>
        </p:nvSpPr>
        <p:spPr>
          <a:xfrm>
            <a:off x="6429214" y="2514537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900" dirty="0"/>
          </a:p>
        </p:txBody>
      </p:sp>
      <p:sp>
        <p:nvSpPr>
          <p:cNvPr id="88" name="Text 11"/>
          <p:cNvSpPr/>
          <p:nvPr/>
        </p:nvSpPr>
        <p:spPr>
          <a:xfrm>
            <a:off x="6429214" y="2743131"/>
            <a:ext cx="246653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快速上线运行</a:t>
            </a:r>
            <a:endParaRPr lang="en-US" sz="1050" dirty="0"/>
          </a:p>
        </p:txBody>
      </p:sp>
      <p:sp>
        <p:nvSpPr>
          <p:cNvPr id="89" name="Text 12"/>
          <p:cNvSpPr/>
          <p:nvPr/>
        </p:nvSpPr>
        <p:spPr>
          <a:xfrm>
            <a:off x="9038999" y="2514537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系统实现</a:t>
            </a:r>
            <a:endParaRPr lang="en-US" sz="900" dirty="0"/>
          </a:p>
        </p:txBody>
      </p:sp>
      <p:sp>
        <p:nvSpPr>
          <p:cNvPr id="90" name="Text 13"/>
          <p:cNvSpPr/>
          <p:nvPr/>
        </p:nvSpPr>
        <p:spPr>
          <a:xfrm>
            <a:off x="9038999" y="2743131"/>
            <a:ext cx="2466533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Docker容器化一键部署，</a:t>
            </a:r>
            <a:r>
              <a:rPr lang="en-US" sz="12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1-2周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上线</a:t>
            </a:r>
            <a:endParaRPr lang="en-US" sz="1050" dirty="0"/>
          </a:p>
        </p:txBody>
      </p:sp>
      <p:pic>
        <p:nvPicPr>
          <p:cNvPr id="91" name="Image 1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89" y="3647984"/>
            <a:ext cx="5543411" cy="1743031"/>
          </a:xfrm>
          <a:prstGeom prst="rect">
            <a:avLst/>
          </a:prstGeom>
        </p:spPr>
      </p:pic>
      <p:pic>
        <p:nvPicPr>
          <p:cNvPr id="92" name="Image 1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08" y="3886103"/>
            <a:ext cx="5067173" cy="390515"/>
          </a:xfrm>
          <a:prstGeom prst="rect">
            <a:avLst/>
          </a:prstGeom>
        </p:spPr>
      </p:pic>
      <p:sp>
        <p:nvSpPr>
          <p:cNvPr id="93" name="Text 14"/>
          <p:cNvSpPr/>
          <p:nvPr/>
        </p:nvSpPr>
        <p:spPr>
          <a:xfrm>
            <a:off x="695308" y="3886103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易于维护</a:t>
            </a:r>
            <a:endParaRPr lang="en-US" sz="1500" dirty="0"/>
          </a:p>
        </p:txBody>
      </p:sp>
      <p:sp>
        <p:nvSpPr>
          <p:cNvPr id="94" name="Text 15"/>
          <p:cNvSpPr/>
          <p:nvPr/>
        </p:nvSpPr>
        <p:spPr>
          <a:xfrm>
            <a:off x="4457589" y="3924202"/>
            <a:ext cx="4091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契合度</a:t>
            </a:r>
            <a:endParaRPr lang="en-US" sz="1050" dirty="0"/>
          </a:p>
        </p:txBody>
      </p:sp>
      <p:pic>
        <p:nvPicPr>
          <p:cNvPr id="95" name="Image 1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926" y="3962301"/>
            <a:ext cx="133347" cy="114297"/>
          </a:xfrm>
          <a:prstGeom prst="rect">
            <a:avLst/>
          </a:prstGeom>
        </p:spPr>
      </p:pic>
      <p:pic>
        <p:nvPicPr>
          <p:cNvPr id="96" name="Image 1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3847" y="3962301"/>
            <a:ext cx="133347" cy="114297"/>
          </a:xfrm>
          <a:prstGeom prst="rect">
            <a:avLst/>
          </a:prstGeom>
        </p:spPr>
      </p:pic>
      <p:pic>
        <p:nvPicPr>
          <p:cNvPr id="97" name="Image 1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5292" y="3962301"/>
            <a:ext cx="133347" cy="114297"/>
          </a:xfrm>
          <a:prstGeom prst="rect">
            <a:avLst/>
          </a:prstGeom>
        </p:spPr>
      </p:pic>
      <p:pic>
        <p:nvPicPr>
          <p:cNvPr id="98" name="Image 2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7213" y="3962301"/>
            <a:ext cx="133347" cy="114297"/>
          </a:xfrm>
          <a:prstGeom prst="rect">
            <a:avLst/>
          </a:prstGeom>
        </p:spPr>
      </p:pic>
      <p:pic>
        <p:nvPicPr>
          <p:cNvPr id="99" name="Image 2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8659" y="3962301"/>
            <a:ext cx="133347" cy="114297"/>
          </a:xfrm>
          <a:prstGeom prst="rect">
            <a:avLst/>
          </a:prstGeom>
        </p:spPr>
      </p:pic>
      <p:sp>
        <p:nvSpPr>
          <p:cNvPr id="100" name="Text 16"/>
          <p:cNvSpPr/>
          <p:nvPr/>
        </p:nvSpPr>
        <p:spPr>
          <a:xfrm>
            <a:off x="695308" y="4429014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900" dirty="0"/>
          </a:p>
        </p:txBody>
      </p:sp>
      <p:sp>
        <p:nvSpPr>
          <p:cNvPr id="101" name="Text 17"/>
          <p:cNvSpPr/>
          <p:nvPr/>
        </p:nvSpPr>
        <p:spPr>
          <a:xfrm>
            <a:off x="695308" y="4657609"/>
            <a:ext cx="246653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降低运维难度</a:t>
            </a:r>
            <a:endParaRPr lang="en-US" sz="1050" dirty="0"/>
          </a:p>
        </p:txBody>
      </p:sp>
      <p:sp>
        <p:nvSpPr>
          <p:cNvPr id="102" name="Text 18"/>
          <p:cNvSpPr/>
          <p:nvPr/>
        </p:nvSpPr>
        <p:spPr>
          <a:xfrm>
            <a:off x="3305092" y="4429014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系统实现</a:t>
            </a:r>
            <a:endParaRPr lang="en-US" sz="900" dirty="0"/>
          </a:p>
        </p:txBody>
      </p:sp>
      <p:sp>
        <p:nvSpPr>
          <p:cNvPr id="103" name="Text 19"/>
          <p:cNvSpPr/>
          <p:nvPr/>
        </p:nvSpPr>
        <p:spPr>
          <a:xfrm>
            <a:off x="3305092" y="4657609"/>
            <a:ext cx="2466533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1名IT人员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即可维护</a:t>
            </a:r>
            <a:endParaRPr lang="en-US" sz="1050" dirty="0"/>
          </a:p>
        </p:txBody>
      </p:sp>
      <p:pic>
        <p:nvPicPr>
          <p:cNvPr id="104" name="Image 2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1095" y="3647984"/>
            <a:ext cx="5543411" cy="1743031"/>
          </a:xfrm>
          <a:prstGeom prst="rect">
            <a:avLst/>
          </a:prstGeom>
        </p:spPr>
      </p:pic>
      <p:pic>
        <p:nvPicPr>
          <p:cNvPr id="105" name="Image 2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214" y="3886103"/>
            <a:ext cx="5067173" cy="390515"/>
          </a:xfrm>
          <a:prstGeom prst="rect">
            <a:avLst/>
          </a:prstGeom>
        </p:spPr>
      </p:pic>
      <p:sp>
        <p:nvSpPr>
          <p:cNvPr id="106" name="Text 20"/>
          <p:cNvSpPr/>
          <p:nvPr/>
        </p:nvSpPr>
        <p:spPr>
          <a:xfrm>
            <a:off x="6429214" y="3886103"/>
            <a:ext cx="153310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支持中小医疗机构</a:t>
            </a:r>
            <a:endParaRPr lang="en-US" sz="1500" dirty="0"/>
          </a:p>
        </p:txBody>
      </p:sp>
      <p:sp>
        <p:nvSpPr>
          <p:cNvPr id="107" name="Text 21"/>
          <p:cNvSpPr/>
          <p:nvPr/>
        </p:nvSpPr>
        <p:spPr>
          <a:xfrm>
            <a:off x="10191495" y="3924202"/>
            <a:ext cx="4091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契合度</a:t>
            </a:r>
            <a:endParaRPr lang="en-US" sz="1050" dirty="0"/>
          </a:p>
        </p:txBody>
      </p:sp>
      <p:pic>
        <p:nvPicPr>
          <p:cNvPr id="108" name="Image 2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5832" y="3962301"/>
            <a:ext cx="133347" cy="114297"/>
          </a:xfrm>
          <a:prstGeom prst="rect">
            <a:avLst/>
          </a:prstGeom>
        </p:spPr>
      </p:pic>
      <p:pic>
        <p:nvPicPr>
          <p:cNvPr id="109" name="Image 2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7753" y="3962301"/>
            <a:ext cx="133347" cy="114297"/>
          </a:xfrm>
          <a:prstGeom prst="rect">
            <a:avLst/>
          </a:prstGeom>
        </p:spPr>
      </p:pic>
      <p:pic>
        <p:nvPicPr>
          <p:cNvPr id="110" name="Image 2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9199" y="3962301"/>
            <a:ext cx="133347" cy="114297"/>
          </a:xfrm>
          <a:prstGeom prst="rect">
            <a:avLst/>
          </a:prstGeom>
        </p:spPr>
      </p:pic>
      <p:pic>
        <p:nvPicPr>
          <p:cNvPr id="111" name="Image 2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1120" y="3962301"/>
            <a:ext cx="133347" cy="114297"/>
          </a:xfrm>
          <a:prstGeom prst="rect">
            <a:avLst/>
          </a:prstGeom>
        </p:spPr>
      </p:pic>
      <p:pic>
        <p:nvPicPr>
          <p:cNvPr id="112" name="Image 2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2566" y="3962301"/>
            <a:ext cx="133347" cy="114297"/>
          </a:xfrm>
          <a:prstGeom prst="rect">
            <a:avLst/>
          </a:prstGeom>
        </p:spPr>
      </p:pic>
      <p:sp>
        <p:nvSpPr>
          <p:cNvPr id="113" name="Text 22"/>
          <p:cNvSpPr/>
          <p:nvPr/>
        </p:nvSpPr>
        <p:spPr>
          <a:xfrm>
            <a:off x="6429214" y="4429014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900" dirty="0"/>
          </a:p>
        </p:txBody>
      </p:sp>
      <p:sp>
        <p:nvSpPr>
          <p:cNvPr id="114" name="Text 23"/>
          <p:cNvSpPr/>
          <p:nvPr/>
        </p:nvSpPr>
        <p:spPr>
          <a:xfrm>
            <a:off x="6429214" y="4657609"/>
            <a:ext cx="246653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服务基层医院</a:t>
            </a:r>
            <a:endParaRPr lang="en-US" sz="1050" dirty="0"/>
          </a:p>
        </p:txBody>
      </p:sp>
      <p:sp>
        <p:nvSpPr>
          <p:cNvPr id="115" name="Text 24"/>
          <p:cNvSpPr/>
          <p:nvPr/>
        </p:nvSpPr>
        <p:spPr>
          <a:xfrm>
            <a:off x="9038999" y="4429014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系统实现</a:t>
            </a:r>
            <a:endParaRPr lang="en-US" sz="900" dirty="0"/>
          </a:p>
        </p:txBody>
      </p:sp>
      <p:sp>
        <p:nvSpPr>
          <p:cNvPr id="116" name="Text 25"/>
          <p:cNvSpPr/>
          <p:nvPr/>
        </p:nvSpPr>
        <p:spPr>
          <a:xfrm>
            <a:off x="9038999" y="4657609"/>
            <a:ext cx="2466533" cy="45718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专为基层医院设计，对标</a:t>
            </a:r>
            <a:r>
              <a:rPr lang="en-US" sz="12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紧密型县域医共体</a:t>
            </a:r>
            <a:endParaRPr lang="en-US" sz="1050" dirty="0"/>
          </a:p>
        </p:txBody>
      </p:sp>
      <p:pic>
        <p:nvPicPr>
          <p:cNvPr id="117" name="Image 2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189" y="5619610"/>
            <a:ext cx="11277318" cy="790555"/>
          </a:xfrm>
          <a:prstGeom prst="rect">
            <a:avLst/>
          </a:prstGeom>
        </p:spPr>
      </p:pic>
      <p:pic>
        <p:nvPicPr>
          <p:cNvPr id="118" name="Image 3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783" y="5848204"/>
            <a:ext cx="123822" cy="133347"/>
          </a:xfrm>
          <a:prstGeom prst="rect">
            <a:avLst/>
          </a:prstGeom>
        </p:spPr>
      </p:pic>
      <p:sp>
        <p:nvSpPr>
          <p:cNvPr id="119" name="Text 26"/>
          <p:cNvSpPr/>
          <p:nvPr/>
        </p:nvSpPr>
        <p:spPr>
          <a:xfrm>
            <a:off x="923902" y="5810105"/>
            <a:ext cx="734321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政策依据</a:t>
            </a:r>
            <a:endParaRPr lang="en-US" sz="900" dirty="0"/>
          </a:p>
        </p:txBody>
      </p:sp>
      <p:sp>
        <p:nvSpPr>
          <p:cNvPr id="120" name="Text 27"/>
          <p:cNvSpPr/>
          <p:nvPr/>
        </p:nvSpPr>
        <p:spPr>
          <a:xfrm>
            <a:off x="923902" y="6000600"/>
            <a:ext cx="734321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国家卫健委要求"鼓励由省级统筹集约化建设AI服务平台"，降低基层成本；系统的</a:t>
            </a: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单院/区域中心双模式部署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完全满足此要求。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sp>
        <p:nvSpPr>
          <p:cNvPr id="51" name="Text 0"/>
          <p:cNvSpPr/>
          <p:nvPr/>
        </p:nvSpPr>
        <p:spPr>
          <a:xfrm>
            <a:off x="457189" y="457189"/>
            <a:ext cx="11286462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功能体系全面对应</a:t>
            </a:r>
            <a:endParaRPr lang="en-US" sz="3000" dirty="0"/>
          </a:p>
        </p:txBody>
      </p:sp>
      <p:sp>
        <p:nvSpPr>
          <p:cNvPr id="52" name="Text 1"/>
          <p:cNvSpPr/>
          <p:nvPr/>
        </p:nvSpPr>
        <p:spPr>
          <a:xfrm>
            <a:off x="457189" y="1142971"/>
            <a:ext cx="11286462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展示系统功能与政策五大应用方向的完整匹配关系</a:t>
            </a:r>
            <a:endParaRPr lang="en-US" sz="1350" dirty="0"/>
          </a:p>
        </p:txBody>
      </p:sp>
      <p:pic>
        <p:nvPicPr>
          <p:cNvPr id="5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2143071"/>
            <a:ext cx="3638459" cy="1800180"/>
          </a:xfrm>
          <a:prstGeom prst="rect">
            <a:avLst/>
          </a:prstGeom>
        </p:spPr>
      </p:pic>
      <p:pic>
        <p:nvPicPr>
          <p:cNvPr id="5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09" y="2343091"/>
            <a:ext cx="3238419" cy="352416"/>
          </a:xfrm>
          <a:prstGeom prst="rect">
            <a:avLst/>
          </a:prstGeom>
        </p:spPr>
      </p:pic>
      <p:sp>
        <p:nvSpPr>
          <p:cNvPr id="55" name="Text 2"/>
          <p:cNvSpPr/>
          <p:nvPr/>
        </p:nvSpPr>
        <p:spPr>
          <a:xfrm>
            <a:off x="657209" y="2343091"/>
            <a:ext cx="172360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医共体内部智能化赋能</a:t>
            </a:r>
            <a:endParaRPr lang="en-US" sz="1350" dirty="0"/>
          </a:p>
        </p:txBody>
      </p:sp>
      <p:pic>
        <p:nvPicPr>
          <p:cNvPr id="5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1746" y="2343091"/>
            <a:ext cx="723882" cy="228594"/>
          </a:xfrm>
          <a:prstGeom prst="rect">
            <a:avLst/>
          </a:prstGeom>
        </p:spPr>
      </p:pic>
      <p:sp>
        <p:nvSpPr>
          <p:cNvPr id="57" name="Text 3"/>
          <p:cNvSpPr/>
          <p:nvPr/>
        </p:nvSpPr>
        <p:spPr>
          <a:xfrm>
            <a:off x="3247944" y="2381190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已完整实现</a:t>
            </a:r>
            <a:endParaRPr lang="en-US" sz="900" dirty="0"/>
          </a:p>
        </p:txBody>
      </p:sp>
      <p:sp>
        <p:nvSpPr>
          <p:cNvPr id="58" name="Text 4"/>
          <p:cNvSpPr/>
          <p:nvPr/>
        </p:nvSpPr>
        <p:spPr>
          <a:xfrm>
            <a:off x="657209" y="280980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59" name="Text 5"/>
          <p:cNvSpPr/>
          <p:nvPr/>
        </p:nvSpPr>
        <p:spPr>
          <a:xfrm>
            <a:off x="657209" y="300030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提升医共体整体诊疗水平</a:t>
            </a:r>
            <a:endParaRPr lang="en-US" sz="1050" dirty="0"/>
          </a:p>
        </p:txBody>
      </p:sp>
      <p:sp>
        <p:nvSpPr>
          <p:cNvPr id="60" name="Text 6"/>
          <p:cNvSpPr/>
          <p:nvPr/>
        </p:nvSpPr>
        <p:spPr>
          <a:xfrm>
            <a:off x="657209" y="3324142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61" name="Text 7"/>
          <p:cNvSpPr/>
          <p:nvPr/>
        </p:nvSpPr>
        <p:spPr>
          <a:xfrm>
            <a:off x="657209" y="3514637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DRG智能分析系统、MCC/CC并发症智能筛查</a:t>
            </a:r>
            <a:endParaRPr lang="en-US" sz="1050" dirty="0"/>
          </a:p>
        </p:txBody>
      </p:sp>
      <p:pic>
        <p:nvPicPr>
          <p:cNvPr id="6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143" y="2143071"/>
            <a:ext cx="3638459" cy="1800180"/>
          </a:xfrm>
          <a:prstGeom prst="rect">
            <a:avLst/>
          </a:prstGeom>
        </p:spPr>
      </p:pic>
      <p:pic>
        <p:nvPicPr>
          <p:cNvPr id="63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163" y="2343091"/>
            <a:ext cx="3238419" cy="352416"/>
          </a:xfrm>
          <a:prstGeom prst="rect">
            <a:avLst/>
          </a:prstGeom>
        </p:spPr>
      </p:pic>
      <p:sp>
        <p:nvSpPr>
          <p:cNvPr id="64" name="Text 8"/>
          <p:cNvSpPr/>
          <p:nvPr/>
        </p:nvSpPr>
        <p:spPr>
          <a:xfrm>
            <a:off x="4486163" y="2343091"/>
            <a:ext cx="1380710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基层医生"AI助手"</a:t>
            </a:r>
            <a:endParaRPr lang="en-US" sz="1350" dirty="0"/>
          </a:p>
        </p:txBody>
      </p:sp>
      <p:pic>
        <p:nvPicPr>
          <p:cNvPr id="65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1175" y="2343091"/>
            <a:ext cx="723882" cy="228594"/>
          </a:xfrm>
          <a:prstGeom prst="rect">
            <a:avLst/>
          </a:prstGeom>
        </p:spPr>
      </p:pic>
      <p:sp>
        <p:nvSpPr>
          <p:cNvPr id="66" name="Text 9"/>
          <p:cNvSpPr/>
          <p:nvPr/>
        </p:nvSpPr>
        <p:spPr>
          <a:xfrm>
            <a:off x="7067373" y="2381190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已完整实现</a:t>
            </a:r>
            <a:endParaRPr lang="en-US" sz="900" dirty="0"/>
          </a:p>
        </p:txBody>
      </p:sp>
      <p:sp>
        <p:nvSpPr>
          <p:cNvPr id="67" name="Text 10"/>
          <p:cNvSpPr/>
          <p:nvPr/>
        </p:nvSpPr>
        <p:spPr>
          <a:xfrm>
            <a:off x="4486163" y="280980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68" name="Text 11"/>
          <p:cNvSpPr/>
          <p:nvPr/>
        </p:nvSpPr>
        <p:spPr>
          <a:xfrm>
            <a:off x="4486163" y="300030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为基层医生提供智能辅助</a:t>
            </a:r>
            <a:endParaRPr lang="en-US" sz="1050" dirty="0"/>
          </a:p>
        </p:txBody>
      </p:sp>
      <p:sp>
        <p:nvSpPr>
          <p:cNvPr id="69" name="Text 12"/>
          <p:cNvSpPr/>
          <p:nvPr/>
        </p:nvSpPr>
        <p:spPr>
          <a:xfrm>
            <a:off x="4486163" y="3324142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70" name="Text 13"/>
          <p:cNvSpPr/>
          <p:nvPr/>
        </p:nvSpPr>
        <p:spPr>
          <a:xfrm>
            <a:off x="4486163" y="3514637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AI诊疗辅助系统、Prompt智能组装</a:t>
            </a:r>
            <a:endParaRPr lang="en-US" sz="1050" dirty="0"/>
          </a:p>
        </p:txBody>
      </p:sp>
      <p:pic>
        <p:nvPicPr>
          <p:cNvPr id="71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5572" y="2143071"/>
            <a:ext cx="3638459" cy="1800180"/>
          </a:xfrm>
          <a:prstGeom prst="rect">
            <a:avLst/>
          </a:prstGeom>
        </p:spPr>
      </p:pic>
      <p:pic>
        <p:nvPicPr>
          <p:cNvPr id="72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5592" y="2343091"/>
            <a:ext cx="3238419" cy="352416"/>
          </a:xfrm>
          <a:prstGeom prst="rect">
            <a:avLst/>
          </a:prstGeom>
        </p:spPr>
      </p:pic>
      <p:sp>
        <p:nvSpPr>
          <p:cNvPr id="73" name="Text 14"/>
          <p:cNvSpPr/>
          <p:nvPr/>
        </p:nvSpPr>
        <p:spPr>
          <a:xfrm>
            <a:off x="8305592" y="2343091"/>
            <a:ext cx="172360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慢性病与重点人群管理</a:t>
            </a:r>
            <a:endParaRPr lang="en-US" sz="1350" dirty="0"/>
          </a:p>
        </p:txBody>
      </p:sp>
      <p:pic>
        <p:nvPicPr>
          <p:cNvPr id="74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10605" y="2343091"/>
            <a:ext cx="723882" cy="228594"/>
          </a:xfrm>
          <a:prstGeom prst="rect">
            <a:avLst/>
          </a:prstGeom>
        </p:spPr>
      </p:pic>
      <p:sp>
        <p:nvSpPr>
          <p:cNvPr id="75" name="Text 15"/>
          <p:cNvSpPr/>
          <p:nvPr/>
        </p:nvSpPr>
        <p:spPr>
          <a:xfrm>
            <a:off x="10886803" y="2381190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E40A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已基础实现</a:t>
            </a:r>
            <a:endParaRPr lang="en-US" sz="900" dirty="0"/>
          </a:p>
        </p:txBody>
      </p:sp>
      <p:sp>
        <p:nvSpPr>
          <p:cNvPr id="76" name="Text 16"/>
          <p:cNvSpPr/>
          <p:nvPr/>
        </p:nvSpPr>
        <p:spPr>
          <a:xfrm>
            <a:off x="8305592" y="280980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77" name="Text 17"/>
          <p:cNvSpPr/>
          <p:nvPr/>
        </p:nvSpPr>
        <p:spPr>
          <a:xfrm>
            <a:off x="8305592" y="300030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加强慢病管理和重点人群健康服务</a:t>
            </a:r>
            <a:endParaRPr lang="en-US" sz="1050" dirty="0"/>
          </a:p>
        </p:txBody>
      </p:sp>
      <p:sp>
        <p:nvSpPr>
          <p:cNvPr id="78" name="Text 18"/>
          <p:cNvSpPr/>
          <p:nvPr/>
        </p:nvSpPr>
        <p:spPr>
          <a:xfrm>
            <a:off x="8305592" y="3324142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79" name="Text 19"/>
          <p:cNvSpPr/>
          <p:nvPr/>
        </p:nvSpPr>
        <p:spPr>
          <a:xfrm>
            <a:off x="8305592" y="3514637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患者数据管理、待办事项生成（医生提醒）</a:t>
            </a:r>
            <a:endParaRPr lang="en-US" sz="1050" dirty="0"/>
          </a:p>
        </p:txBody>
      </p:sp>
      <p:pic>
        <p:nvPicPr>
          <p:cNvPr id="80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143" y="4124222"/>
            <a:ext cx="3638459" cy="1800180"/>
          </a:xfrm>
          <a:prstGeom prst="rect">
            <a:avLst/>
          </a:prstGeom>
        </p:spPr>
      </p:pic>
      <p:pic>
        <p:nvPicPr>
          <p:cNvPr id="81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163" y="4324242"/>
            <a:ext cx="3238419" cy="352416"/>
          </a:xfrm>
          <a:prstGeom prst="rect">
            <a:avLst/>
          </a:prstGeom>
        </p:spPr>
      </p:pic>
      <p:sp>
        <p:nvSpPr>
          <p:cNvPr id="82" name="Text 20"/>
          <p:cNvSpPr/>
          <p:nvPr/>
        </p:nvSpPr>
        <p:spPr>
          <a:xfrm>
            <a:off x="4486163" y="4333767"/>
            <a:ext cx="103781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医学影像分析</a:t>
            </a:r>
            <a:endParaRPr lang="en-US" sz="1350" dirty="0"/>
          </a:p>
        </p:txBody>
      </p:sp>
      <p:pic>
        <p:nvPicPr>
          <p:cNvPr id="83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19770" y="4324242"/>
            <a:ext cx="495288" cy="228594"/>
          </a:xfrm>
          <a:prstGeom prst="rect">
            <a:avLst/>
          </a:prstGeom>
        </p:spPr>
      </p:pic>
      <p:sp>
        <p:nvSpPr>
          <p:cNvPr id="84" name="Text 21"/>
          <p:cNvSpPr/>
          <p:nvPr/>
        </p:nvSpPr>
        <p:spPr>
          <a:xfrm>
            <a:off x="7295968" y="4362341"/>
            <a:ext cx="35203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规划中</a:t>
            </a:r>
            <a:endParaRPr lang="en-US" sz="900" dirty="0"/>
          </a:p>
        </p:txBody>
      </p:sp>
      <p:sp>
        <p:nvSpPr>
          <p:cNvPr id="85" name="Text 22"/>
          <p:cNvSpPr/>
          <p:nvPr/>
        </p:nvSpPr>
        <p:spPr>
          <a:xfrm>
            <a:off x="4486163" y="479095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86" name="Text 23"/>
          <p:cNvSpPr/>
          <p:nvPr/>
        </p:nvSpPr>
        <p:spPr>
          <a:xfrm>
            <a:off x="4486163" y="498145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提升影像诊断效率</a:t>
            </a:r>
            <a:endParaRPr lang="en-US" sz="1050" dirty="0"/>
          </a:p>
        </p:txBody>
      </p:sp>
      <p:sp>
        <p:nvSpPr>
          <p:cNvPr id="87" name="Text 24"/>
          <p:cNvSpPr/>
          <p:nvPr/>
        </p:nvSpPr>
        <p:spPr>
          <a:xfrm>
            <a:off x="4486163" y="5314817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88" name="Text 25"/>
          <p:cNvSpPr/>
          <p:nvPr/>
        </p:nvSpPr>
        <p:spPr>
          <a:xfrm>
            <a:off x="4486163" y="5505312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支持与医院PACS系统集成</a:t>
            </a:r>
            <a:endParaRPr lang="en-US" sz="1050" dirty="0"/>
          </a:p>
        </p:txBody>
      </p:sp>
      <p:pic>
        <p:nvPicPr>
          <p:cNvPr id="89" name="Image 1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5572" y="4124222"/>
            <a:ext cx="3638459" cy="1800180"/>
          </a:xfrm>
          <a:prstGeom prst="rect">
            <a:avLst/>
          </a:prstGeom>
        </p:spPr>
      </p:pic>
      <p:pic>
        <p:nvPicPr>
          <p:cNvPr id="90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5592" y="4324242"/>
            <a:ext cx="3238419" cy="352416"/>
          </a:xfrm>
          <a:prstGeom prst="rect">
            <a:avLst/>
          </a:prstGeom>
        </p:spPr>
      </p:pic>
      <p:sp>
        <p:nvSpPr>
          <p:cNvPr id="91" name="Text 26"/>
          <p:cNvSpPr/>
          <p:nvPr/>
        </p:nvSpPr>
        <p:spPr>
          <a:xfrm>
            <a:off x="8305592" y="4333767"/>
            <a:ext cx="155215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数据安全与隐私保护</a:t>
            </a:r>
            <a:endParaRPr lang="en-US" sz="1350" dirty="0"/>
          </a:p>
        </p:txBody>
      </p:sp>
      <p:pic>
        <p:nvPicPr>
          <p:cNvPr id="92" name="Image 1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10605" y="4324242"/>
            <a:ext cx="723882" cy="228594"/>
          </a:xfrm>
          <a:prstGeom prst="rect">
            <a:avLst/>
          </a:prstGeom>
        </p:spPr>
      </p:pic>
      <p:sp>
        <p:nvSpPr>
          <p:cNvPr id="93" name="Text 27"/>
          <p:cNvSpPr/>
          <p:nvPr/>
        </p:nvSpPr>
        <p:spPr>
          <a:xfrm>
            <a:off x="10886803" y="4362341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已完整实现</a:t>
            </a:r>
            <a:endParaRPr lang="en-US" sz="900" dirty="0"/>
          </a:p>
        </p:txBody>
      </p:sp>
      <p:sp>
        <p:nvSpPr>
          <p:cNvPr id="94" name="Text 28"/>
          <p:cNvSpPr/>
          <p:nvPr/>
        </p:nvSpPr>
        <p:spPr>
          <a:xfrm>
            <a:off x="8305592" y="479095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95" name="Text 29"/>
          <p:cNvSpPr/>
          <p:nvPr/>
        </p:nvSpPr>
        <p:spPr>
          <a:xfrm>
            <a:off x="8305592" y="498145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保障医疗数据安全</a:t>
            </a:r>
            <a:endParaRPr lang="en-US" sz="1050" dirty="0"/>
          </a:p>
        </p:txBody>
      </p:sp>
      <p:sp>
        <p:nvSpPr>
          <p:cNvPr id="96" name="Text 30"/>
          <p:cNvSpPr/>
          <p:nvPr/>
        </p:nvSpPr>
        <p:spPr>
          <a:xfrm>
            <a:off x="8305592" y="5314817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97" name="Text 31"/>
          <p:cNvSpPr/>
          <p:nvPr/>
        </p:nvSpPr>
        <p:spPr>
          <a:xfrm>
            <a:off x="8305592" y="5505312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多层安全防护体系、本地化部署</a:t>
            </a:r>
            <a:endParaRPr lang="en-US" sz="1050" dirty="0"/>
          </a:p>
        </p:txBody>
      </p:sp>
      <p:pic>
        <p:nvPicPr>
          <p:cNvPr id="98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6997" y="4124271"/>
            <a:ext cx="3638459" cy="1800180"/>
          </a:xfrm>
          <a:prstGeom prst="rect">
            <a:avLst/>
          </a:prstGeom>
        </p:spPr>
      </p:pic>
      <p:pic>
        <p:nvPicPr>
          <p:cNvPr id="99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017" y="4324291"/>
            <a:ext cx="3238419" cy="352416"/>
          </a:xfrm>
          <a:prstGeom prst="rect">
            <a:avLst/>
          </a:prstGeom>
        </p:spPr>
      </p:pic>
      <p:sp>
        <p:nvSpPr>
          <p:cNvPr id="100" name="Text 14"/>
          <p:cNvSpPr/>
          <p:nvPr/>
        </p:nvSpPr>
        <p:spPr>
          <a:xfrm>
            <a:off x="657017" y="4324291"/>
            <a:ext cx="172360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350" b="1" dirty="0"/>
              <a:t>中医药特色应用</a:t>
            </a:r>
            <a:endParaRPr lang="zh-CN" altLang="en-US" sz="1350" b="1" dirty="0"/>
          </a:p>
        </p:txBody>
      </p:sp>
      <p:pic>
        <p:nvPicPr>
          <p:cNvPr id="10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2030" y="4324291"/>
            <a:ext cx="723882" cy="228594"/>
          </a:xfrm>
          <a:prstGeom prst="rect">
            <a:avLst/>
          </a:prstGeom>
        </p:spPr>
      </p:pic>
      <p:sp>
        <p:nvSpPr>
          <p:cNvPr id="102" name="Text 15"/>
          <p:cNvSpPr/>
          <p:nvPr/>
        </p:nvSpPr>
        <p:spPr>
          <a:xfrm>
            <a:off x="3238228" y="4362390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900" b="1" dirty="0"/>
              <a:t>可定制开发</a:t>
            </a:r>
            <a:endParaRPr lang="zh-CN" altLang="en-US" sz="900" b="1" dirty="0"/>
          </a:p>
        </p:txBody>
      </p:sp>
      <p:sp>
        <p:nvSpPr>
          <p:cNvPr id="103" name="Text 16"/>
          <p:cNvSpPr/>
          <p:nvPr/>
        </p:nvSpPr>
        <p:spPr>
          <a:xfrm>
            <a:off x="657017" y="479100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104" name="Text 17"/>
          <p:cNvSpPr/>
          <p:nvPr/>
        </p:nvSpPr>
        <p:spPr>
          <a:xfrm>
            <a:off x="657017" y="498150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开发中医药特色应用</a:t>
            </a:r>
            <a:endParaRPr lang="zh-CN" altLang="en-US" sz="1050" dirty="0">
              <a:solidFill>
                <a:srgbClr val="334155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</p:txBody>
      </p:sp>
      <p:sp>
        <p:nvSpPr>
          <p:cNvPr id="105" name="Text 18"/>
          <p:cNvSpPr/>
          <p:nvPr/>
        </p:nvSpPr>
        <p:spPr>
          <a:xfrm>
            <a:off x="657017" y="5305342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106" name="Text 19"/>
          <p:cNvSpPr/>
          <p:nvPr/>
        </p:nvSpPr>
        <p:spPr>
          <a:xfrm>
            <a:off x="657017" y="5495837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altLang="zh-CN" sz="1050" dirty="0"/>
              <a:t>Prompt</a:t>
            </a:r>
            <a:r>
              <a:rPr lang="zh-CN" altLang="en-US" sz="1050" dirty="0"/>
              <a:t>模板支持定制中医诊疗逻辑</a:t>
            </a:r>
            <a:endParaRPr lang="zh-CN" alt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>
            <a:alphaModFix amt="4000"/>
          </a:blip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5" y="2514537"/>
            <a:ext cx="28574" cy="914377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5" y="3543211"/>
            <a:ext cx="28574" cy="45718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85" y="4114697"/>
            <a:ext cx="28574" cy="228594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773" y="695308"/>
            <a:ext cx="304792" cy="19050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1485863" y="609585"/>
            <a:ext cx="120926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Clinical Value</a:t>
            </a:r>
            <a:endParaRPr lang="en-US" sz="1050" dirty="0"/>
          </a:p>
        </p:txBody>
      </p:sp>
      <p:sp>
        <p:nvSpPr>
          <p:cNvPr id="9" name="Text 1"/>
          <p:cNvSpPr/>
          <p:nvPr/>
        </p:nvSpPr>
        <p:spPr>
          <a:xfrm>
            <a:off x="1066773" y="914377"/>
            <a:ext cx="10524481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  <a:sym typeface="+mn-ea"/>
              </a:rPr>
              <a:t>AI智能眼镜</a:t>
            </a: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临床核心价值</a:t>
            </a:r>
            <a:endParaRPr lang="en-US" sz="3000" dirty="0"/>
          </a:p>
        </p:txBody>
      </p:sp>
      <p:sp>
        <p:nvSpPr>
          <p:cNvPr id="10" name="Text 2"/>
          <p:cNvSpPr/>
          <p:nvPr/>
        </p:nvSpPr>
        <p:spPr>
          <a:xfrm>
            <a:off x="1066773" y="1466813"/>
            <a:ext cx="1052448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AI智能眼镜在医疗场景中的关键效益与价值创造</a:t>
            </a:r>
            <a:endParaRPr lang="en-US" sz="1350" dirty="0"/>
          </a:p>
        </p:txBody>
      </p:sp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773" y="2057349"/>
            <a:ext cx="3381290" cy="3819430"/>
          </a:xfrm>
          <a:prstGeom prst="rect">
            <a:avLst/>
          </a:prstGeom>
        </p:spPr>
      </p:pic>
      <p:pic>
        <p:nvPicPr>
          <p:cNvPr id="12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04892" y="2295468"/>
            <a:ext cx="380990" cy="380990"/>
          </a:xfrm>
          <a:prstGeom prst="rect">
            <a:avLst/>
          </a:prstGeom>
        </p:spPr>
      </p:pic>
      <p:pic>
        <p:nvPicPr>
          <p:cNvPr id="13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28714" y="2400240"/>
            <a:ext cx="152396" cy="171446"/>
          </a:xfrm>
          <a:prstGeom prst="rect">
            <a:avLst/>
          </a:prstGeom>
        </p:spPr>
      </p:pic>
      <p:sp>
        <p:nvSpPr>
          <p:cNvPr id="14" name="Text 3"/>
          <p:cNvSpPr/>
          <p:nvPr/>
        </p:nvSpPr>
        <p:spPr>
          <a:xfrm>
            <a:off x="1800180" y="2352616"/>
            <a:ext cx="115211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查房场景价值</a:t>
            </a:r>
            <a:endParaRPr lang="en-US" sz="1500" dirty="0"/>
          </a:p>
        </p:txBody>
      </p:sp>
      <p:sp>
        <p:nvSpPr>
          <p:cNvPr id="15" name="Text 4"/>
          <p:cNvSpPr/>
          <p:nvPr/>
        </p:nvSpPr>
        <p:spPr>
          <a:xfrm>
            <a:off x="1304892" y="2924102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16" name="Text 5"/>
          <p:cNvSpPr/>
          <p:nvPr/>
        </p:nvSpPr>
        <p:spPr>
          <a:xfrm>
            <a:off x="1495388" y="2866953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全程面向患者沟通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：通过语音向AI提问，AR叠加显示患者病情摘要、检验结果、用药方案</a:t>
            </a:r>
            <a:endParaRPr lang="en-US" sz="1050" dirty="0"/>
          </a:p>
        </p:txBody>
      </p:sp>
      <p:sp>
        <p:nvSpPr>
          <p:cNvPr id="17" name="Text 6"/>
          <p:cNvSpPr/>
          <p:nvPr/>
        </p:nvSpPr>
        <p:spPr>
          <a:xfrm>
            <a:off x="1304892" y="3505112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18" name="Text 7"/>
          <p:cNvSpPr/>
          <p:nvPr/>
        </p:nvSpPr>
        <p:spPr>
          <a:xfrm>
            <a:off x="1495388" y="3447964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提升医患信任感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：无需低头查看设备，自然交流增强患者满意度</a:t>
            </a:r>
            <a:endParaRPr lang="en-US" sz="1050" dirty="0"/>
          </a:p>
        </p:txBody>
      </p:sp>
      <p:sp>
        <p:nvSpPr>
          <p:cNvPr id="19" name="Text 8"/>
          <p:cNvSpPr/>
          <p:nvPr/>
        </p:nvSpPr>
        <p:spPr>
          <a:xfrm>
            <a:off x="1304892" y="4095648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20" name="Text 9"/>
          <p:cNvSpPr/>
          <p:nvPr/>
        </p:nvSpPr>
        <p:spPr>
          <a:xfrm>
            <a:off x="1495388" y="4038499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信息获取零中断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：实时获取关键信息，保持诊疗连续性</a:t>
            </a:r>
            <a:endParaRPr lang="en-US" sz="1050" dirty="0"/>
          </a:p>
        </p:txBody>
      </p:sp>
      <p:pic>
        <p:nvPicPr>
          <p:cNvPr id="2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38559" y="2057349"/>
            <a:ext cx="3381290" cy="3819430"/>
          </a:xfrm>
          <a:prstGeom prst="rect">
            <a:avLst/>
          </a:prstGeom>
        </p:spPr>
      </p:pic>
      <p:pic>
        <p:nvPicPr>
          <p:cNvPr id="22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76678" y="2295468"/>
            <a:ext cx="380990" cy="380990"/>
          </a:xfrm>
          <a:prstGeom prst="rect">
            <a:avLst/>
          </a:prstGeom>
        </p:spPr>
      </p:pic>
      <p:pic>
        <p:nvPicPr>
          <p:cNvPr id="2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71926" y="2400240"/>
            <a:ext cx="200020" cy="171446"/>
          </a:xfrm>
          <a:prstGeom prst="rect">
            <a:avLst/>
          </a:prstGeom>
        </p:spPr>
      </p:pic>
      <p:sp>
        <p:nvSpPr>
          <p:cNvPr id="24" name="Text 10"/>
          <p:cNvSpPr/>
          <p:nvPr/>
        </p:nvSpPr>
        <p:spPr>
          <a:xfrm>
            <a:off x="5371966" y="2352616"/>
            <a:ext cx="115211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手术场景价值</a:t>
            </a:r>
            <a:endParaRPr lang="en-US" sz="1500" dirty="0"/>
          </a:p>
        </p:txBody>
      </p:sp>
      <p:sp>
        <p:nvSpPr>
          <p:cNvPr id="25" name="Text 11"/>
          <p:cNvSpPr/>
          <p:nvPr/>
        </p:nvSpPr>
        <p:spPr>
          <a:xfrm>
            <a:off x="4876678" y="2924102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26" name="Text 12"/>
          <p:cNvSpPr/>
          <p:nvPr/>
        </p:nvSpPr>
        <p:spPr>
          <a:xfrm>
            <a:off x="5057649" y="2866953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无菌操作保障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：语音交互避免触碰非无菌设备，降低感染风险</a:t>
            </a:r>
            <a:endParaRPr lang="en-US" sz="1050" dirty="0"/>
          </a:p>
        </p:txBody>
      </p:sp>
      <p:sp>
        <p:nvSpPr>
          <p:cNvPr id="27" name="Text 13"/>
          <p:cNvSpPr/>
          <p:nvPr/>
        </p:nvSpPr>
        <p:spPr>
          <a:xfrm>
            <a:off x="4876678" y="3505112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28" name="Text 14"/>
          <p:cNvSpPr/>
          <p:nvPr/>
        </p:nvSpPr>
        <p:spPr>
          <a:xfrm>
            <a:off x="5057649" y="3447964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快速决策支持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：术中实时获取并发症处置方案、药物剂量、类似病例参考</a:t>
            </a:r>
            <a:endParaRPr lang="en-US" sz="1050" dirty="0"/>
          </a:p>
        </p:txBody>
      </p:sp>
      <p:sp>
        <p:nvSpPr>
          <p:cNvPr id="29" name="Text 15"/>
          <p:cNvSpPr/>
          <p:nvPr/>
        </p:nvSpPr>
        <p:spPr>
          <a:xfrm>
            <a:off x="4876678" y="4095648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30" name="Text 16"/>
          <p:cNvSpPr/>
          <p:nvPr/>
        </p:nvSpPr>
        <p:spPr>
          <a:xfrm>
            <a:off x="5057649" y="4038499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减少医疗差错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：AI基于实时数据提供个性化建议，降低人为记忆误差</a:t>
            </a:r>
            <a:endParaRPr lang="en-US" sz="1050" dirty="0"/>
          </a:p>
        </p:txBody>
      </p:sp>
      <p:pic>
        <p:nvPicPr>
          <p:cNvPr id="31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0345" y="2057349"/>
            <a:ext cx="3381290" cy="3819430"/>
          </a:xfrm>
          <a:prstGeom prst="rect">
            <a:avLst/>
          </a:prstGeom>
        </p:spPr>
      </p:pic>
      <p:pic>
        <p:nvPicPr>
          <p:cNvPr id="32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8464" y="2295468"/>
            <a:ext cx="380990" cy="380990"/>
          </a:xfrm>
          <a:prstGeom prst="rect">
            <a:avLst/>
          </a:prstGeom>
        </p:spPr>
      </p:pic>
      <p:pic>
        <p:nvPicPr>
          <p:cNvPr id="33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53236" y="2400240"/>
            <a:ext cx="171446" cy="171446"/>
          </a:xfrm>
          <a:prstGeom prst="rect">
            <a:avLst/>
          </a:prstGeom>
        </p:spPr>
      </p:pic>
      <p:sp>
        <p:nvSpPr>
          <p:cNvPr id="34" name="Text 17"/>
          <p:cNvSpPr/>
          <p:nvPr/>
        </p:nvSpPr>
        <p:spPr>
          <a:xfrm>
            <a:off x="8943751" y="2352616"/>
            <a:ext cx="115211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整体临床效益</a:t>
            </a:r>
            <a:endParaRPr lang="en-US" sz="1500" dirty="0"/>
          </a:p>
        </p:txBody>
      </p:sp>
      <p:sp>
        <p:nvSpPr>
          <p:cNvPr id="35" name="Text 18"/>
          <p:cNvSpPr/>
          <p:nvPr/>
        </p:nvSpPr>
        <p:spPr>
          <a:xfrm>
            <a:off x="8448464" y="2924102"/>
            <a:ext cx="85342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36" name="Text 19"/>
          <p:cNvSpPr/>
          <p:nvPr/>
        </p:nvSpPr>
        <p:spPr>
          <a:xfrm>
            <a:off x="8629434" y="2866953"/>
            <a:ext cx="267607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沟通效率提升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：医患面对面交流时间显著增加</a:t>
            </a:r>
            <a:endParaRPr lang="en-US" sz="1050" dirty="0"/>
          </a:p>
        </p:txBody>
      </p:sp>
      <p:sp>
        <p:nvSpPr>
          <p:cNvPr id="37" name="Text 20"/>
          <p:cNvSpPr/>
          <p:nvPr/>
        </p:nvSpPr>
        <p:spPr>
          <a:xfrm>
            <a:off x="8448464" y="3286043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38" name="Text 21"/>
          <p:cNvSpPr/>
          <p:nvPr/>
        </p:nvSpPr>
        <p:spPr>
          <a:xfrm>
            <a:off x="8629434" y="3228894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决策风险降低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：高压环境下提供快速、准确的循证建议</a:t>
            </a:r>
            <a:endParaRPr lang="en-US" sz="1050" dirty="0"/>
          </a:p>
        </p:txBody>
      </p:sp>
      <p:sp>
        <p:nvSpPr>
          <p:cNvPr id="39" name="Text 22"/>
          <p:cNvSpPr/>
          <p:nvPr/>
        </p:nvSpPr>
        <p:spPr>
          <a:xfrm>
            <a:off x="8448464" y="3876578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40" name="Text 23"/>
          <p:cNvSpPr/>
          <p:nvPr/>
        </p:nvSpPr>
        <p:spPr>
          <a:xfrm>
            <a:off x="8629434" y="3819430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工作流程优化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：语音+手势控制让医生专注于患者本身</a:t>
            </a:r>
            <a:endParaRPr lang="en-US" sz="1050" dirty="0"/>
          </a:p>
        </p:txBody>
      </p:sp>
      <p:pic>
        <p:nvPicPr>
          <p:cNvPr id="41" name="Image 15" descr="preencoded.png"/>
          <p:cNvPicPr>
            <a:picLocks noChangeAspect="1"/>
          </p:cNvPicPr>
          <p:nvPr/>
        </p:nvPicPr>
        <p:blipFill>
          <a:blip r:embed="rId13">
            <a:alphaModFix amt="40000"/>
          </a:blip>
          <a:stretch>
            <a:fillRect/>
          </a:stretch>
        </p:blipFill>
        <p:spPr>
          <a:xfrm>
            <a:off x="10458189" y="6172046"/>
            <a:ext cx="304792" cy="9525"/>
          </a:xfrm>
          <a:prstGeom prst="rect">
            <a:avLst/>
          </a:prstGeom>
        </p:spPr>
      </p:pic>
      <p:pic>
        <p:nvPicPr>
          <p:cNvPr id="42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39179" y="6095848"/>
            <a:ext cx="752456" cy="152396"/>
          </a:xfrm>
          <a:prstGeom prst="rect">
            <a:avLst/>
          </a:prstGeom>
        </p:spPr>
      </p:pic>
      <p:sp>
        <p:nvSpPr>
          <p:cNvPr id="43" name="Text 24"/>
          <p:cNvSpPr/>
          <p:nvPr/>
        </p:nvSpPr>
        <p:spPr>
          <a:xfrm>
            <a:off x="10839179" y="6095848"/>
            <a:ext cx="76160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MEDICAL AI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>
            <a:alphaModFix amt="4000"/>
          </a:blip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5" y="2514537"/>
            <a:ext cx="28574" cy="914377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5" y="3543211"/>
            <a:ext cx="28574" cy="45718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85" y="4114697"/>
            <a:ext cx="28574" cy="228594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773" y="695308"/>
            <a:ext cx="304792" cy="19050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1485863" y="609585"/>
            <a:ext cx="177122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System Architecture</a:t>
            </a:r>
            <a:endParaRPr lang="en-US" sz="1050" dirty="0"/>
          </a:p>
        </p:txBody>
      </p:sp>
      <p:sp>
        <p:nvSpPr>
          <p:cNvPr id="9" name="Text 1"/>
          <p:cNvSpPr/>
          <p:nvPr/>
        </p:nvSpPr>
        <p:spPr>
          <a:xfrm>
            <a:off x="1066773" y="914377"/>
            <a:ext cx="10524481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微服务架构设计</a:t>
            </a:r>
            <a:endParaRPr lang="en-US" sz="3000" dirty="0"/>
          </a:p>
        </p:txBody>
      </p:sp>
      <p:sp>
        <p:nvSpPr>
          <p:cNvPr id="10" name="Text 2"/>
          <p:cNvSpPr/>
          <p:nvPr/>
        </p:nvSpPr>
        <p:spPr>
          <a:xfrm>
            <a:off x="1066773" y="1466813"/>
            <a:ext cx="854333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为集成智能眼镜，我们在现有系统基础上扩展轻量化微服务，实现无缝对接与高效协同。</a:t>
            </a:r>
            <a:endParaRPr lang="en-US" sz="1350" dirty="0"/>
          </a:p>
        </p:txBody>
      </p:sp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773" y="1981150"/>
            <a:ext cx="3381290" cy="3895628"/>
          </a:xfrm>
          <a:prstGeom prst="rect">
            <a:avLst/>
          </a:prstGeom>
        </p:spPr>
      </p:pic>
      <p:pic>
        <p:nvPicPr>
          <p:cNvPr id="12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04892" y="2219270"/>
            <a:ext cx="2905052" cy="542911"/>
          </a:xfrm>
          <a:prstGeom prst="rect">
            <a:avLst/>
          </a:prstGeom>
        </p:spPr>
      </p:pic>
      <p:pic>
        <p:nvPicPr>
          <p:cNvPr id="13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04892" y="2219270"/>
            <a:ext cx="380990" cy="380990"/>
          </a:xfrm>
          <a:prstGeom prst="rect">
            <a:avLst/>
          </a:prstGeom>
        </p:spPr>
      </p:pic>
      <p:sp>
        <p:nvSpPr>
          <p:cNvPr id="14" name="Text 3"/>
          <p:cNvSpPr/>
          <p:nvPr/>
        </p:nvSpPr>
        <p:spPr>
          <a:xfrm>
            <a:off x="1400140" y="2276418"/>
            <a:ext cx="209164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01</a:t>
            </a:r>
            <a:endParaRPr lang="en-US" sz="1350" dirty="0"/>
          </a:p>
        </p:txBody>
      </p:sp>
      <p:sp>
        <p:nvSpPr>
          <p:cNvPr id="15" name="Text 4"/>
          <p:cNvSpPr/>
          <p:nvPr/>
        </p:nvSpPr>
        <p:spPr>
          <a:xfrm>
            <a:off x="1800180" y="2276418"/>
            <a:ext cx="96162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终端接入层</a:t>
            </a:r>
            <a:endParaRPr lang="en-US" sz="1500" dirty="0"/>
          </a:p>
        </p:txBody>
      </p:sp>
      <p:sp>
        <p:nvSpPr>
          <p:cNvPr id="16" name="Text 5"/>
          <p:cNvSpPr/>
          <p:nvPr/>
        </p:nvSpPr>
        <p:spPr>
          <a:xfrm>
            <a:off x="1304892" y="3009825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17" name="Text 6"/>
          <p:cNvSpPr/>
          <p:nvPr/>
        </p:nvSpPr>
        <p:spPr>
          <a:xfrm>
            <a:off x="1495388" y="2952676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智能眼镜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：作为新型移动终端，通过专用SDK接入系统</a:t>
            </a:r>
            <a:endParaRPr lang="en-US" sz="1050" dirty="0"/>
          </a:p>
        </p:txBody>
      </p:sp>
      <p:sp>
        <p:nvSpPr>
          <p:cNvPr id="18" name="Text 7"/>
          <p:cNvSpPr/>
          <p:nvPr/>
        </p:nvSpPr>
        <p:spPr>
          <a:xfrm>
            <a:off x="1304892" y="3590835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19" name="Text 8"/>
          <p:cNvSpPr/>
          <p:nvPr/>
        </p:nvSpPr>
        <p:spPr>
          <a:xfrm>
            <a:off x="1495388" y="3533687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语音交互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：复用现有语音识别能力，实现免提操作</a:t>
            </a:r>
            <a:endParaRPr lang="en-US" sz="1050" dirty="0"/>
          </a:p>
        </p:txBody>
      </p:sp>
      <p:sp>
        <p:nvSpPr>
          <p:cNvPr id="20" name="Text 9"/>
          <p:cNvSpPr/>
          <p:nvPr/>
        </p:nvSpPr>
        <p:spPr>
          <a:xfrm>
            <a:off x="1304892" y="4181370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21" name="Text 10"/>
          <p:cNvSpPr/>
          <p:nvPr/>
        </p:nvSpPr>
        <p:spPr>
          <a:xfrm>
            <a:off x="1495388" y="4124222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AR显示引擎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：负责将AI返回信息渲染为AR叠加层</a:t>
            </a:r>
            <a:endParaRPr lang="en-US" sz="105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9014" y="3819430"/>
            <a:ext cx="114297" cy="171446"/>
          </a:xfrm>
          <a:prstGeom prst="rect">
            <a:avLst/>
          </a:prstGeom>
        </p:spPr>
      </p:pic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38559" y="1981150"/>
            <a:ext cx="3381290" cy="3895628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76678" y="2219270"/>
            <a:ext cx="2905052" cy="542911"/>
          </a:xfrm>
          <a:prstGeom prst="rect">
            <a:avLst/>
          </a:prstGeom>
        </p:spPr>
      </p:pic>
      <p:pic>
        <p:nvPicPr>
          <p:cNvPr id="25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76678" y="2219270"/>
            <a:ext cx="380990" cy="380990"/>
          </a:xfrm>
          <a:prstGeom prst="rect">
            <a:avLst/>
          </a:prstGeom>
        </p:spPr>
      </p:pic>
      <p:sp>
        <p:nvSpPr>
          <p:cNvPr id="26" name="Text 11"/>
          <p:cNvSpPr/>
          <p:nvPr/>
        </p:nvSpPr>
        <p:spPr>
          <a:xfrm>
            <a:off x="4971926" y="2276418"/>
            <a:ext cx="209164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02</a:t>
            </a:r>
            <a:endParaRPr lang="en-US" sz="1350" dirty="0"/>
          </a:p>
        </p:txBody>
      </p:sp>
      <p:sp>
        <p:nvSpPr>
          <p:cNvPr id="27" name="Text 12"/>
          <p:cNvSpPr/>
          <p:nvPr/>
        </p:nvSpPr>
        <p:spPr>
          <a:xfrm>
            <a:off x="5371966" y="2276418"/>
            <a:ext cx="115211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微服务集成层</a:t>
            </a:r>
            <a:endParaRPr lang="en-US" sz="1500" dirty="0"/>
          </a:p>
        </p:txBody>
      </p:sp>
      <p:sp>
        <p:nvSpPr>
          <p:cNvPr id="28" name="Text 13"/>
          <p:cNvSpPr/>
          <p:nvPr/>
        </p:nvSpPr>
        <p:spPr>
          <a:xfrm>
            <a:off x="4876678" y="3009825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29" name="Text 14"/>
          <p:cNvSpPr/>
          <p:nvPr/>
        </p:nvSpPr>
        <p:spPr>
          <a:xfrm>
            <a:off x="5057649" y="2952676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智能眼镜网关服务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：统一处理眼镜端的认证、请求路由与协议转换</a:t>
            </a:r>
            <a:endParaRPr lang="en-US" sz="1050" dirty="0"/>
          </a:p>
        </p:txBody>
      </p:sp>
      <p:sp>
        <p:nvSpPr>
          <p:cNvPr id="30" name="Text 15"/>
          <p:cNvSpPr/>
          <p:nvPr/>
        </p:nvSpPr>
        <p:spPr>
          <a:xfrm>
            <a:off x="4876678" y="3590835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31" name="Text 16"/>
          <p:cNvSpPr/>
          <p:nvPr/>
        </p:nvSpPr>
        <p:spPr>
          <a:xfrm>
            <a:off x="5057649" y="3533687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实时消息队列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：确保查房、手术等高并发场景下的低延迟通信</a:t>
            </a:r>
            <a:endParaRPr lang="en-US" sz="1050" dirty="0"/>
          </a:p>
        </p:txBody>
      </p:sp>
      <p:sp>
        <p:nvSpPr>
          <p:cNvPr id="32" name="Text 17"/>
          <p:cNvSpPr/>
          <p:nvPr/>
        </p:nvSpPr>
        <p:spPr>
          <a:xfrm>
            <a:off x="4876678" y="4181370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33" name="Text 18"/>
          <p:cNvSpPr/>
          <p:nvPr/>
        </p:nvSpPr>
        <p:spPr>
          <a:xfrm>
            <a:off x="5057649" y="4124222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安全代理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：继承现有多层安全体系，确保数据传输与隐私合规</a:t>
            </a:r>
            <a:endParaRPr lang="en-US" sz="1050" dirty="0"/>
          </a:p>
        </p:txBody>
      </p:sp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0800" y="3819430"/>
            <a:ext cx="114297" cy="171446"/>
          </a:xfrm>
          <a:prstGeom prst="rect">
            <a:avLst/>
          </a:prstGeom>
        </p:spPr>
      </p:pic>
      <p:pic>
        <p:nvPicPr>
          <p:cNvPr id="35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0345" y="1981150"/>
            <a:ext cx="3381290" cy="3895628"/>
          </a:xfrm>
          <a:prstGeom prst="rect">
            <a:avLst/>
          </a:prstGeom>
        </p:spPr>
      </p:pic>
      <p:pic>
        <p:nvPicPr>
          <p:cNvPr id="36" name="Image 1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8464" y="2219270"/>
            <a:ext cx="2905052" cy="542911"/>
          </a:xfrm>
          <a:prstGeom prst="rect">
            <a:avLst/>
          </a:prstGeom>
        </p:spPr>
      </p:pic>
      <p:pic>
        <p:nvPicPr>
          <p:cNvPr id="37" name="Image 1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48464" y="2219270"/>
            <a:ext cx="380990" cy="380990"/>
          </a:xfrm>
          <a:prstGeom prst="rect">
            <a:avLst/>
          </a:prstGeom>
        </p:spPr>
      </p:pic>
      <p:sp>
        <p:nvSpPr>
          <p:cNvPr id="38" name="Text 19"/>
          <p:cNvSpPr/>
          <p:nvPr/>
        </p:nvSpPr>
        <p:spPr>
          <a:xfrm>
            <a:off x="8543711" y="2276418"/>
            <a:ext cx="209164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03</a:t>
            </a:r>
            <a:endParaRPr lang="en-US" sz="1350" dirty="0"/>
          </a:p>
        </p:txBody>
      </p:sp>
      <p:sp>
        <p:nvSpPr>
          <p:cNvPr id="39" name="Text 20"/>
          <p:cNvSpPr/>
          <p:nvPr/>
        </p:nvSpPr>
        <p:spPr>
          <a:xfrm>
            <a:off x="8943751" y="2276418"/>
            <a:ext cx="115211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核心AI服务层</a:t>
            </a:r>
            <a:endParaRPr lang="en-US" sz="1500" dirty="0"/>
          </a:p>
        </p:txBody>
      </p:sp>
      <p:sp>
        <p:nvSpPr>
          <p:cNvPr id="40" name="Text 21"/>
          <p:cNvSpPr/>
          <p:nvPr/>
        </p:nvSpPr>
        <p:spPr>
          <a:xfrm>
            <a:off x="8448464" y="3009825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41" name="Text 22"/>
          <p:cNvSpPr/>
          <p:nvPr/>
        </p:nvSpPr>
        <p:spPr>
          <a:xfrm>
            <a:off x="8629434" y="2952676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复用现有双服务器架构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：主服务器处理业务逻辑，执行服务器专注AI计算</a:t>
            </a:r>
            <a:endParaRPr lang="en-US" sz="1050" dirty="0"/>
          </a:p>
        </p:txBody>
      </p:sp>
      <p:sp>
        <p:nvSpPr>
          <p:cNvPr id="42" name="Text 23"/>
          <p:cNvSpPr/>
          <p:nvPr/>
        </p:nvSpPr>
        <p:spPr>
          <a:xfrm>
            <a:off x="8448464" y="3590835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43" name="Text 24"/>
          <p:cNvSpPr/>
          <p:nvPr/>
        </p:nvSpPr>
        <p:spPr>
          <a:xfrm>
            <a:off x="8629434" y="3533687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API接口适配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：通过RESTful API与微服务层交互，调用AI诊断、DRG分析等核心能力</a:t>
            </a:r>
            <a:endParaRPr lang="en-US" sz="1050" dirty="0"/>
          </a:p>
        </p:txBody>
      </p:sp>
      <p:sp>
        <p:nvSpPr>
          <p:cNvPr id="44" name="Text 25"/>
          <p:cNvSpPr/>
          <p:nvPr/>
        </p:nvSpPr>
        <p:spPr>
          <a:xfrm>
            <a:off x="8448464" y="4181370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45" name="Text 26"/>
          <p:cNvSpPr/>
          <p:nvPr/>
        </p:nvSpPr>
        <p:spPr>
          <a:xfrm>
            <a:off x="8629434" y="4124222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Prompt智能组装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：根据眼镜场景（如查房、手术）动态优化Prompt模板</a:t>
            </a:r>
            <a:endParaRPr lang="en-US" sz="1050" dirty="0"/>
          </a:p>
        </p:txBody>
      </p:sp>
      <p:pic>
        <p:nvPicPr>
          <p:cNvPr id="46" name="Image 17" descr="preencoded.png"/>
          <p:cNvPicPr>
            <a:picLocks noChangeAspect="1"/>
          </p:cNvPicPr>
          <p:nvPr/>
        </p:nvPicPr>
        <p:blipFill>
          <a:blip r:embed="rId13">
            <a:alphaModFix amt="40000"/>
          </a:blip>
          <a:stretch>
            <a:fillRect/>
          </a:stretch>
        </p:blipFill>
        <p:spPr>
          <a:xfrm>
            <a:off x="10096248" y="6172046"/>
            <a:ext cx="304792" cy="9525"/>
          </a:xfrm>
          <a:prstGeom prst="rect">
            <a:avLst/>
          </a:prstGeom>
        </p:spPr>
      </p:pic>
      <p:pic>
        <p:nvPicPr>
          <p:cNvPr id="47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477238" y="6095848"/>
            <a:ext cx="1114397" cy="152396"/>
          </a:xfrm>
          <a:prstGeom prst="rect">
            <a:avLst/>
          </a:prstGeom>
        </p:spPr>
      </p:pic>
      <p:sp>
        <p:nvSpPr>
          <p:cNvPr id="48" name="Text 27"/>
          <p:cNvSpPr/>
          <p:nvPr/>
        </p:nvSpPr>
        <p:spPr>
          <a:xfrm>
            <a:off x="10477238" y="6095848"/>
            <a:ext cx="112354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MICROSERVICES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31413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Partnership Invitation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合作邀请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523962"/>
            <a:ext cx="1037208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诚邀各医院参与试点计划</a:t>
            </a:r>
            <a:endParaRPr lang="en-US" sz="15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095448"/>
            <a:ext cx="5067173" cy="2771706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8694" y="2409765"/>
            <a:ext cx="457189" cy="457189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2516" y="2543111"/>
            <a:ext cx="219070" cy="190495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838279" y="2505012"/>
            <a:ext cx="75207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试点支持</a:t>
            </a:r>
            <a:endParaRPr lang="en-US" sz="15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133647"/>
            <a:ext cx="133347" cy="152396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476338" y="309554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免费系统部署与培训</a:t>
            </a:r>
            <a:endParaRPr lang="en-US" sz="120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533687"/>
            <a:ext cx="133347" cy="152396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476338" y="3495588"/>
            <a:ext cx="1533106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专业技术团队全程支持</a:t>
            </a:r>
            <a:endParaRPr lang="en-US" sz="120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933727"/>
            <a:ext cx="133347" cy="152396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1476338" y="389562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定制化功能开发配合</a:t>
            </a:r>
            <a:endParaRPr lang="en-US" sz="120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5" y="2095448"/>
            <a:ext cx="5067173" cy="2771706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462" y="2409765"/>
            <a:ext cx="457189" cy="457189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6383" y="2543111"/>
            <a:ext cx="142871" cy="190495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7134047" y="2505012"/>
            <a:ext cx="75207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参与条件</a:t>
            </a:r>
            <a:endParaRPr lang="en-US" sz="1500" dirty="0"/>
          </a:p>
        </p:txBody>
      </p:sp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462" y="3190795"/>
            <a:ext cx="57149" cy="57149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6695908" y="3095548"/>
            <a:ext cx="1066393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具备基础IT环境</a:t>
            </a:r>
            <a:endParaRPr lang="en-US" sz="120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462" y="3590835"/>
            <a:ext cx="57149" cy="57149"/>
          </a:xfrm>
          <a:prstGeom prst="rect">
            <a:avLst/>
          </a:prstGeom>
        </p:spPr>
      </p:pic>
      <p:sp>
        <p:nvSpPr>
          <p:cNvPr id="25" name="Text 9"/>
          <p:cNvSpPr/>
          <p:nvPr/>
        </p:nvSpPr>
        <p:spPr>
          <a:xfrm>
            <a:off x="6695908" y="349558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配合数据对接与测试</a:t>
            </a:r>
            <a:endParaRPr lang="en-US" sz="120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462" y="3990875"/>
            <a:ext cx="57149" cy="57149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6695908" y="389562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提供使用反馈与建议</a:t>
            </a:r>
            <a:endParaRPr lang="en-US" sz="120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5095748"/>
            <a:ext cx="10362941" cy="1238219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170" y="5400540"/>
            <a:ext cx="457189" cy="457189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52516" y="5533887"/>
            <a:ext cx="190495" cy="190495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1866853" y="5400540"/>
            <a:ext cx="378095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共同目标</a:t>
            </a:r>
            <a:endParaRPr lang="en-US" sz="1350" dirty="0"/>
          </a:p>
        </p:txBody>
      </p:sp>
      <p:sp>
        <p:nvSpPr>
          <p:cNvPr id="32" name="Text 12"/>
          <p:cNvSpPr/>
          <p:nvPr/>
        </p:nvSpPr>
        <p:spPr>
          <a:xfrm>
            <a:off x="1866853" y="5743431"/>
            <a:ext cx="3780950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推进基层医疗AI化进程，提升医疗服务质量与效率</a:t>
            </a:r>
            <a:endParaRPr lang="en-US" sz="13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8029" y="5467213"/>
            <a:ext cx="2124022" cy="495288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72346" y="5619610"/>
            <a:ext cx="190495" cy="190495"/>
          </a:xfrm>
          <a:prstGeom prst="rect">
            <a:avLst/>
          </a:prstGeom>
        </p:spPr>
      </p:pic>
      <p:sp>
        <p:nvSpPr>
          <p:cNvPr id="35" name="Text 13"/>
          <p:cNvSpPr/>
          <p:nvPr/>
        </p:nvSpPr>
        <p:spPr>
          <a:xfrm>
            <a:off x="9477138" y="5467213"/>
            <a:ext cx="151405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联系我们</a:t>
            </a:r>
            <a:r>
              <a:rPr lang="zh-CN" altLang="en-US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</a:t>
            </a:r>
            <a:endParaRPr lang="zh-CN" altLang="en-US" sz="1050" dirty="0">
              <a:solidFill>
                <a:srgbClr val="CCFBF1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  <a:p>
            <a:pPr marL="0" indent="0" algn="l">
              <a:buNone/>
            </a:pPr>
            <a:r>
              <a:rPr lang="zh-CN" altLang="en-US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刘朝晖</a:t>
            </a:r>
            <a:r>
              <a:rPr lang="en-US" altLang="zh-CN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 13458003688</a:t>
            </a:r>
            <a:endParaRPr lang="en-US" altLang="zh-CN" sz="1050" dirty="0">
              <a:solidFill>
                <a:srgbClr val="CCFBF1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</p:txBody>
      </p:sp>
      <p:sp>
        <p:nvSpPr>
          <p:cNvPr id="36" name="Text 14"/>
          <p:cNvSpPr/>
          <p:nvPr/>
        </p:nvSpPr>
        <p:spPr>
          <a:xfrm>
            <a:off x="9477138" y="5695808"/>
            <a:ext cx="151405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开启智慧医疗新篇章</a:t>
            </a:r>
            <a:endParaRPr lang="en-US" sz="1350" dirty="0"/>
          </a:p>
        </p:txBody>
      </p:sp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6933"/>
            <a:ext cx="76198" cy="1523962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>
            <a:alphaModFix amt="7000"/>
          </a:blip>
          <a:stretch>
            <a:fillRect/>
          </a:stretch>
        </p:blipFill>
        <p:spPr>
          <a:xfrm>
            <a:off x="10448664" y="847704"/>
            <a:ext cx="904852" cy="904852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7000"/>
          </a:blip>
          <a:stretch>
            <a:fillRect/>
          </a:stretch>
        </p:blipFill>
        <p:spPr>
          <a:xfrm>
            <a:off x="10601060" y="1000100"/>
            <a:ext cx="838179" cy="83817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>
            <a:alphaModFix amt="5000"/>
          </a:blip>
          <a:stretch>
            <a:fillRect/>
          </a:stretch>
        </p:blipFill>
        <p:spPr>
          <a:xfrm>
            <a:off x="914377" y="5333867"/>
            <a:ext cx="609585" cy="609585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263" y="2247844"/>
            <a:ext cx="457189" cy="190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7749" y="2219270"/>
            <a:ext cx="76198" cy="76198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244" y="2247844"/>
            <a:ext cx="457189" cy="19050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4067073" y="2676458"/>
            <a:ext cx="4076217" cy="60958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感谢聆听</a:t>
            </a:r>
            <a:endParaRPr lang="en-US" sz="4800" dirty="0"/>
          </a:p>
        </p:txBody>
      </p:sp>
      <p:sp>
        <p:nvSpPr>
          <p:cNvPr id="11" name="Text 1"/>
          <p:cNvSpPr/>
          <p:nvPr/>
        </p:nvSpPr>
        <p:spPr>
          <a:xfrm>
            <a:off x="4067073" y="3590835"/>
            <a:ext cx="4076217" cy="40956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9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期待与您携手，共创智慧医疗新未来</a:t>
            </a:r>
            <a:endParaRPr lang="en-US" sz="1950" dirty="0"/>
          </a:p>
        </p:txBody>
      </p:sp>
      <p:pic>
        <p:nvPicPr>
          <p:cNvPr id="12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4302" y="4543311"/>
            <a:ext cx="914377" cy="9525"/>
          </a:xfrm>
          <a:prstGeom prst="rect">
            <a:avLst/>
          </a:prstGeom>
        </p:spPr>
      </p:pic>
      <p:pic>
        <p:nvPicPr>
          <p:cNvPr id="13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1075" y="4457589"/>
            <a:ext cx="219070" cy="190495"/>
          </a:xfrm>
          <a:prstGeom prst="rect">
            <a:avLst/>
          </a:prstGeom>
        </p:spPr>
      </p:pic>
      <p:pic>
        <p:nvPicPr>
          <p:cNvPr id="14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2541" y="4543311"/>
            <a:ext cx="914377" cy="9525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bb05f5b11a7e6e735f5fa2100ea4dd3f034f5ea"/>
  <p:tag name="KSO_WM_NEWLAYOUT_GROUP_ID" val="layout_14"/>
  <p:tag name="KSO_WM_NEWLAYOUT_ID" val="slide_fbd1737be693ef9a"/>
</p:tagLst>
</file>

<file path=ppt/tags/tag2.xml><?xml version="1.0" encoding="utf-8"?>
<p:tagLst xmlns:p="http://schemas.openxmlformats.org/presentationml/2006/main">
  <p:tag name="KSO_WM_FIGMA_DECORATION_INDEX" val="18_contentModel"/>
  <p:tag name="$PH_EXT" val="2"/>
  <p:tag name="KSO_WM_BEAUTIFY_FLAG" val="#fgm#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"/>
  <p:tag name="KSO_WM_UNIT_TYPE" val="l_i"/>
</p:tagLst>
</file>

<file path=ppt/tags/tag3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f"/>
</p:tagLst>
</file>

<file path=ppt/tags/tag4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67253d15d2bdd186cda96aeb1348512f2ef5ab1b"/>
  <p:tag name="KSO_WM_NEWLAYOUT_GROUP_ID" val="layout_30"/>
  <p:tag name="KSO_WM_NEWLAYOUT_ID" val="slide_12c4e45e347f26ce"/>
</p:tagLst>
</file>

<file path=ppt/tags/tag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6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9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1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2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1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5272ad59617974b9e6928979ea66529bb55e064"/>
  <p:tag name="KSO_WM_NEWLAYOUT_GROUP_ID" val="layout_10003"/>
  <p:tag name="KSO_WM_NEWLAYOUT_ID" val="slide_10cd397e0139f3d8"/>
</p:tagLst>
</file>

<file path=ppt/tags/tag1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7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1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0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2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23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2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2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e0cd08f9b3c0281866ce384d7177d77c4474fb26"/>
  <p:tag name="KSO_WM_NEWLAYOUT_GROUP_ID" val="layout_31"/>
  <p:tag name="KSO_WM_NEWLAYOUT_ID" val="slide_ea14bcc1890a96c2"/>
</p:tagLst>
</file>

<file path=ppt/tags/tag26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2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2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30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3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3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3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34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3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3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3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38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5b49b74bd07ed73b7531db9ecf1e4aaaacd07512"/>
  <p:tag name="KSO_WM_NEWLAYOUT_GROUP_ID" val="layout_10007"/>
  <p:tag name="KSO_WM_NEWLAYOUT_ID" val="slide_5d2fe44769cb3f7d"/>
</p:tagLst>
</file>

<file path=ppt/tags/tag3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4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4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4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4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4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4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</p:tagLst>
</file>

<file path=ppt/tags/tag4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f"/>
</p:tagLst>
</file>

<file path=ppt/tags/tag47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a0485855ab51a78fd5d08f2d2bbee655ada459a"/>
  <p:tag name="KSO_WM_NEWLAYOUT_GROUP_ID" val="layout_38"/>
  <p:tag name="KSO_WM_NEWLAYOUT_ID" val="slide_602d535931c36a5c"/>
</p:tagLst>
</file>

<file path=ppt/tags/tag48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4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5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5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52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5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5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5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56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5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5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5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60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d1daa83663b92fe78fe713a4fff29006f6fb4262"/>
  <p:tag name="KSO_WM_NEWLAYOUT_GROUP_ID" val="layout_10011"/>
  <p:tag name="KSO_WM_NEWLAYOUT_ID" val="slide_718c7f70e2753aac"/>
</p:tagLst>
</file>

<file path=ppt/tags/tag6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62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f"/>
</p:tagLst>
</file>

<file path=ppt/tags/tag63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64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65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66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67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68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69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0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1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2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3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4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5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6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7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8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9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80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81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82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83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7740</Words>
  <Application>WPS 演示</Application>
  <PresentationFormat>On-screen Show (16:9)</PresentationFormat>
  <Paragraphs>1185</Paragraphs>
  <Slides>30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43" baseType="lpstr">
      <vt:lpstr>Arial</vt:lpstr>
      <vt:lpstr>宋体</vt:lpstr>
      <vt:lpstr>Wingdings</vt:lpstr>
      <vt:lpstr>等线</vt:lpstr>
      <vt:lpstr>等线</vt:lpstr>
      <vt:lpstr>宋体</vt:lpstr>
      <vt:lpstr>Calibri</vt:lpstr>
      <vt:lpstr>微软雅黑</vt:lpstr>
      <vt:lpstr>Arial Unicode MS</vt:lpstr>
      <vt:lpstr>Consolas</vt:lpstr>
      <vt:lpstr>Consolas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1</cp:lastModifiedBy>
  <cp:revision>16</cp:revision>
  <dcterms:created xsi:type="dcterms:W3CDTF">2026-04-15T14:38:00Z</dcterms:created>
  <dcterms:modified xsi:type="dcterms:W3CDTF">2026-04-30T03:59:36Z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00119144030071526726XG1MO2E","ProduceID":"Cjk2OWRmOWRiZTIxZDRkMTNkNjc0YmFiMWI2MWY0ODYzOTk5YjJfczVyOGJhXzE3NzYyNjI1OTI1Njc","ReservedCode1":"SyUA79VDVY4orHDi+vnnx32C6RkpzFAyR8hqV0ztd2iVDCXK7VY9at6RrVTUoRZ6JUq0UKkZbrfatOhG0/E7fSN5Z1GvmpxyBpGO69Vf+f6nY3U9EwX52boqh7xAkSxbb4xWH6yd9Fp7/N6Z5n3Nuz24XthLHwZwkQqg62p/h3doHJ5fxP8o2cWRB4tZ9RAnANLjZA==","ContentPropagator":"00119144030071526726XG1MO2E","PropagateID":"Cjk2OWRmOWRiZTIxZDRkMTNkNjc0YmFiMWI2MWY0ODYzOTk5YjJfczVyOGJhXzE3NzYyNjI1OTI1Njc","ReservedCode2":"SyUA79VDVY4orHDi+vnnx32C6RkpzFAyR8hqV0ztd2iVDCXK7VY9at6RrVTUoRZ6JUq0UKkZbrfatOhG0/E7fSN5Z1GvmpxyBpGO69Vf+f6nY3U9EwX52boqh7xAkSxbb4xWH6yd9Fp7/N6Z5n3Nuz24XthLHwZwkQqg62p/h3doHJ5fxP8o2cWRB4tZ9RAnANLjZA=="}</vt:lpwstr>
  </property>
  <property fmtid="{D5CDD505-2E9C-101B-9397-08002B2CF9AE}" pid="3" name="KSOProductBuildVer">
    <vt:lpwstr>2052-12.1.0.25225</vt:lpwstr>
  </property>
  <property fmtid="{D5CDD505-2E9C-101B-9397-08002B2CF9AE}" pid="4" name="ICV">
    <vt:lpwstr>EE060652398D49D5B83BB6E56D6F7305_13</vt:lpwstr>
  </property>
</Properties>
</file>