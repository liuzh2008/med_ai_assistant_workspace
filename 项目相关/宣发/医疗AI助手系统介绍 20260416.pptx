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7" r:id="rId3"/>
    <p:sldId id="256" r:id="rId5"/>
    <p:sldId id="275" r:id="rId6"/>
    <p:sldId id="258" r:id="rId7"/>
    <p:sldId id="291" r:id="rId8"/>
    <p:sldId id="292" r:id="rId9"/>
    <p:sldId id="293" r:id="rId10"/>
    <p:sldId id="294" r:id="rId11"/>
    <p:sldId id="295" r:id="rId12"/>
    <p:sldId id="296" r:id="rId13"/>
    <p:sldId id="290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8" r:id="rId28"/>
    <p:sldId id="279" r:id="rId29"/>
    <p:sldId id="272" r:id="rId30"/>
    <p:sldId id="273" r:id="rId31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11.xml"/><Relationship Id="rId8" Type="http://schemas.openxmlformats.org/officeDocument/2006/relationships/tags" Target="../tags/tag10.xml"/><Relationship Id="rId7" Type="http://schemas.openxmlformats.org/officeDocument/2006/relationships/tags" Target="../tags/tag9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tags" Target="../tags/tag37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0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4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3428821" cy="548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87" hasCustomPrompt="1"/>
            <p:custDataLst>
              <p:tags r:id="rId3"/>
            </p:custDataLst>
          </p:nvPr>
        </p:nvSpPr>
        <p:spPr>
          <a:xfrm>
            <a:off x="4647958" y="609600"/>
            <a:ext cx="6933839" cy="5638800"/>
          </a:xfrm>
          <a:custGeom>
            <a:avLst/>
            <a:gdLst>
              <a:gd name="connisteX0" fmla="*/ 0 w 6934200"/>
              <a:gd name="connsiteY0" fmla="*/ 203200 h 5638800"/>
              <a:gd name="connisteX1" fmla="*/ 203200 w 6934200"/>
              <a:gd name="connsiteY1" fmla="*/ 0 h 5638800"/>
              <a:gd name="connisteX2" fmla="*/ 6731000 w 6934200"/>
              <a:gd name="connsiteY2" fmla="*/ 0 h 5638800"/>
              <a:gd name="connisteX3" fmla="*/ 6934200 w 6934200"/>
              <a:gd name="connsiteY3" fmla="*/ 203200 h 5638800"/>
              <a:gd name="connisteX4" fmla="*/ 6934200 w 6934200"/>
              <a:gd name="connsiteY4" fmla="*/ 5435600 h 5638800"/>
              <a:gd name="connisteX5" fmla="*/ 6731000 w 6934200"/>
              <a:gd name="connsiteY5" fmla="*/ 5638800 h 5638800"/>
              <a:gd name="connisteX6" fmla="*/ 203200 w 6934200"/>
              <a:gd name="connsiteY6" fmla="*/ 5638800 h 5638800"/>
              <a:gd name="connisteX7" fmla="*/ 0 w 6934200"/>
              <a:gd name="connsiteY7" fmla="*/ 5435600 h 5638800"/>
              <a:gd name="connisteX8" fmla="*/ 0 w 69342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69342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6731000" y="0"/>
                </a:lnTo>
                <a:cubicBezTo>
                  <a:pt x="6843224" y="0"/>
                  <a:pt x="6934200" y="90976"/>
                  <a:pt x="6934200" y="203200"/>
                </a:cubicBezTo>
                <a:lnTo>
                  <a:pt x="6934200" y="5435600"/>
                </a:lnTo>
                <a:cubicBezTo>
                  <a:pt x="6934200" y="5547824"/>
                  <a:pt x="6843224" y="5638800"/>
                  <a:pt x="67310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5054337" y="1143000"/>
            <a:ext cx="6121081" cy="4572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705251" y="533400"/>
            <a:ext cx="4876546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568" y="609600"/>
            <a:ext cx="5486114" cy="5638800"/>
          </a:xfrm>
          <a:custGeom>
            <a:avLst/>
            <a:gdLst>
              <a:gd name="connisteX0" fmla="*/ 0 w 5486400"/>
              <a:gd name="connsiteY0" fmla="*/ 0 h 5638800"/>
              <a:gd name="connisteX1" fmla="*/ 5486400 w 5486400"/>
              <a:gd name="connsiteY1" fmla="*/ 0 h 5638800"/>
              <a:gd name="connisteX2" fmla="*/ 5486400 w 5486400"/>
              <a:gd name="connsiteY2" fmla="*/ 5638800 h 5638800"/>
              <a:gd name="connisteX3" fmla="*/ 0 w 5486400"/>
              <a:gd name="connsiteY3" fmla="*/ 5638800 h 5638800"/>
              <a:gd name="connisteX4" fmla="*/ 0 w 54864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5486400" h="5638800">
                <a:moveTo>
                  <a:pt x="0" y="0"/>
                </a:moveTo>
                <a:lnTo>
                  <a:pt x="5486400" y="0"/>
                </a:lnTo>
                <a:lnTo>
                  <a:pt x="54864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3" hasCustomPrompt="1"/>
            <p:custDataLst>
              <p:tags r:id="rId4"/>
            </p:custDataLst>
          </p:nvPr>
        </p:nvSpPr>
        <p:spPr>
          <a:xfrm>
            <a:off x="6705251" y="22860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6857643" y="22860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6857643" y="27940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6705251" y="37084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6857643" y="37084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6857643" y="42164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5" hasCustomPrompt="1"/>
            <p:custDataLst>
              <p:tags r:id="rId10"/>
            </p:custDataLst>
          </p:nvPr>
        </p:nvSpPr>
        <p:spPr>
          <a:xfrm>
            <a:off x="6705251" y="51308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857643" y="51308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857643" y="56388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2" hasCustomPrompt="1"/>
            <p:custDataLst>
              <p:tags r:id="rId4"/>
            </p:custDataLst>
          </p:nvPr>
        </p:nvSpPr>
        <p:spPr>
          <a:xfrm>
            <a:off x="609568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352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368573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4368573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673357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8127577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8127577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432361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t>单击此处添加标题</a:t>
            </a:r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1574718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1015947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1015947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5333722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774951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774951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9092727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533956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533956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7_2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609568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8" hasCustomPrompt="1"/>
            <p:custDataLst>
              <p:tags r:id="rId5"/>
            </p:custDataLst>
          </p:nvPr>
        </p:nvSpPr>
        <p:spPr>
          <a:xfrm>
            <a:off x="350501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9" hasCustomPrompt="1"/>
            <p:custDataLst>
              <p:tags r:id="rId6"/>
            </p:custDataLst>
          </p:nvPr>
        </p:nvSpPr>
        <p:spPr>
          <a:xfrm>
            <a:off x="350501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 hasCustomPrompt="1"/>
            <p:custDataLst>
              <p:tags r:id="rId7"/>
            </p:custDataLst>
          </p:nvPr>
        </p:nvSpPr>
        <p:spPr>
          <a:xfrm>
            <a:off x="640046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 hasCustomPrompt="1"/>
            <p:custDataLst>
              <p:tags r:id="rId8"/>
            </p:custDataLst>
          </p:nvPr>
        </p:nvSpPr>
        <p:spPr>
          <a:xfrm>
            <a:off x="640046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2" hasCustomPrompt="1"/>
            <p:custDataLst>
              <p:tags r:id="rId9"/>
            </p:custDataLst>
          </p:nvPr>
        </p:nvSpPr>
        <p:spPr>
          <a:xfrm>
            <a:off x="9295916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9295916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8_1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609568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914352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914352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4368573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673357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673357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8127577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32361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32361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1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87" hasCustomPrompt="1"/>
            <p:custDataLst>
              <p:tags r:id="rId3"/>
            </p:custDataLst>
          </p:nvPr>
        </p:nvSpPr>
        <p:spPr>
          <a:xfrm>
            <a:off x="6095683" y="1524000"/>
            <a:ext cx="5486114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568" y="1600200"/>
            <a:ext cx="5028938" cy="45720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png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4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8.png"/><Relationship Id="rId7" Type="http://schemas.openxmlformats.org/officeDocument/2006/relationships/image" Target="../media/image4.png"/><Relationship Id="rId6" Type="http://schemas.openxmlformats.org/officeDocument/2006/relationships/image" Target="../media/image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3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.png"/><Relationship Id="rId8" Type="http://schemas.openxmlformats.org/officeDocument/2006/relationships/image" Target="../media/image27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9" Type="http://schemas.openxmlformats.org/officeDocument/2006/relationships/notesSlide" Target="../notesSlides/notesSlide5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36.png"/><Relationship Id="rId16" Type="http://schemas.openxmlformats.org/officeDocument/2006/relationships/image" Target="../media/image35.png"/><Relationship Id="rId15" Type="http://schemas.openxmlformats.org/officeDocument/2006/relationships/image" Target="../media/image34.png"/><Relationship Id="rId14" Type="http://schemas.openxmlformats.org/officeDocument/2006/relationships/image" Target="../media/image33.png"/><Relationship Id="rId13" Type="http://schemas.openxmlformats.org/officeDocument/2006/relationships/image" Target="../media/image32.png"/><Relationship Id="rId12" Type="http://schemas.openxmlformats.org/officeDocument/2006/relationships/image" Target="../media/image31.png"/><Relationship Id="rId11" Type="http://schemas.openxmlformats.org/officeDocument/2006/relationships/image" Target="../media/image30.png"/><Relationship Id="rId10" Type="http://schemas.openxmlformats.org/officeDocument/2006/relationships/image" Target="../media/image29.png"/><Relationship Id="rId1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2.png"/><Relationship Id="rId8" Type="http://schemas.openxmlformats.org/officeDocument/2006/relationships/image" Target="../media/image27.png"/><Relationship Id="rId7" Type="http://schemas.openxmlformats.org/officeDocument/2006/relationships/image" Target="../media/image41.png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3" Type="http://schemas.openxmlformats.org/officeDocument/2006/relationships/image" Target="../media/image22.png"/><Relationship Id="rId2" Type="http://schemas.openxmlformats.org/officeDocument/2006/relationships/image" Target="../media/image37.png"/><Relationship Id="rId17" Type="http://schemas.openxmlformats.org/officeDocument/2006/relationships/notesSlide" Target="../notesSlides/notesSlide6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48.png"/><Relationship Id="rId14" Type="http://schemas.openxmlformats.org/officeDocument/2006/relationships/image" Target="../media/image47.png"/><Relationship Id="rId13" Type="http://schemas.openxmlformats.org/officeDocument/2006/relationships/image" Target="../media/image46.png"/><Relationship Id="rId12" Type="http://schemas.openxmlformats.org/officeDocument/2006/relationships/image" Target="../media/image45.png"/><Relationship Id="rId11" Type="http://schemas.openxmlformats.org/officeDocument/2006/relationships/image" Target="../media/image44.png"/><Relationship Id="rId10" Type="http://schemas.openxmlformats.org/officeDocument/2006/relationships/image" Target="../media/image43.png"/><Relationship Id="rId1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55.png"/><Relationship Id="rId8" Type="http://schemas.openxmlformats.org/officeDocument/2006/relationships/image" Target="../media/image54.png"/><Relationship Id="rId7" Type="http://schemas.openxmlformats.org/officeDocument/2006/relationships/image" Target="../media/image53.png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21.pn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62.png"/><Relationship Id="rId15" Type="http://schemas.openxmlformats.org/officeDocument/2006/relationships/image" Target="../media/image61.png"/><Relationship Id="rId14" Type="http://schemas.openxmlformats.org/officeDocument/2006/relationships/image" Target="../media/image60.png"/><Relationship Id="rId13" Type="http://schemas.openxmlformats.org/officeDocument/2006/relationships/image" Target="../media/image59.png"/><Relationship Id="rId12" Type="http://schemas.openxmlformats.org/officeDocument/2006/relationships/image" Target="../media/image58.png"/><Relationship Id="rId11" Type="http://schemas.openxmlformats.org/officeDocument/2006/relationships/image" Target="../media/image57.png"/><Relationship Id="rId10" Type="http://schemas.openxmlformats.org/officeDocument/2006/relationships/image" Target="../media/image56.png"/><Relationship Id="rId1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.png"/><Relationship Id="rId8" Type="http://schemas.openxmlformats.org/officeDocument/2006/relationships/image" Target="../media/image66.png"/><Relationship Id="rId7" Type="http://schemas.openxmlformats.org/officeDocument/2006/relationships/image" Target="../media/image65.png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23.png"/><Relationship Id="rId3" Type="http://schemas.openxmlformats.org/officeDocument/2006/relationships/image" Target="../media/image27.png"/><Relationship Id="rId2" Type="http://schemas.openxmlformats.org/officeDocument/2006/relationships/image" Target="../media/image37.png"/><Relationship Id="rId19" Type="http://schemas.openxmlformats.org/officeDocument/2006/relationships/notesSlide" Target="../notesSlides/notesSlide8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34.png"/><Relationship Id="rId16" Type="http://schemas.openxmlformats.org/officeDocument/2006/relationships/image" Target="../media/image73.png"/><Relationship Id="rId15" Type="http://schemas.openxmlformats.org/officeDocument/2006/relationships/image" Target="../media/image72.png"/><Relationship Id="rId14" Type="http://schemas.openxmlformats.org/officeDocument/2006/relationships/image" Target="../media/image71.png"/><Relationship Id="rId13" Type="http://schemas.openxmlformats.org/officeDocument/2006/relationships/image" Target="../media/image70.png"/><Relationship Id="rId12" Type="http://schemas.openxmlformats.org/officeDocument/2006/relationships/image" Target="../media/image69.png"/><Relationship Id="rId11" Type="http://schemas.openxmlformats.org/officeDocument/2006/relationships/image" Target="../media/image68.png"/><Relationship Id="rId10" Type="http://schemas.openxmlformats.org/officeDocument/2006/relationships/image" Target="../media/image67.png"/><Relationship Id="rId1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Relationship Id="rId3" Type="http://schemas.openxmlformats.org/officeDocument/2006/relationships/image" Target="../media/image74.png"/><Relationship Id="rId2" Type="http://schemas.openxmlformats.org/officeDocument/2006/relationships/image" Target="../media/image37.png"/><Relationship Id="rId1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83.png"/><Relationship Id="rId8" Type="http://schemas.openxmlformats.org/officeDocument/2006/relationships/image" Target="../media/image82.png"/><Relationship Id="rId7" Type="http://schemas.openxmlformats.org/officeDocument/2006/relationships/image" Target="../media/image81.png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Relationship Id="rId3" Type="http://schemas.openxmlformats.org/officeDocument/2006/relationships/image" Target="../media/image77.png"/><Relationship Id="rId2" Type="http://schemas.openxmlformats.org/officeDocument/2006/relationships/image" Target="../media/image21.png"/><Relationship Id="rId16" Type="http://schemas.openxmlformats.org/officeDocument/2006/relationships/notesSlide" Target="../notesSlides/notesSlide10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88.png"/><Relationship Id="rId13" Type="http://schemas.openxmlformats.org/officeDocument/2006/relationships/image" Target="../media/image87.png"/><Relationship Id="rId12" Type="http://schemas.openxmlformats.org/officeDocument/2006/relationships/image" Target="../media/image86.png"/><Relationship Id="rId11" Type="http://schemas.openxmlformats.org/officeDocument/2006/relationships/image" Target="../media/image85.png"/><Relationship Id="rId10" Type="http://schemas.openxmlformats.org/officeDocument/2006/relationships/image" Target="../media/image84.png"/><Relationship Id="rId1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4.png"/><Relationship Id="rId8" Type="http://schemas.openxmlformats.org/officeDocument/2006/relationships/image" Target="../media/image93.png"/><Relationship Id="rId7" Type="http://schemas.openxmlformats.org/officeDocument/2006/relationships/image" Target="../media/image92.png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7" Type="http://schemas.openxmlformats.org/officeDocument/2006/relationships/notesSlide" Target="../notesSlides/notesSlide11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8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97.png"/><Relationship Id="rId11" Type="http://schemas.openxmlformats.org/officeDocument/2006/relationships/image" Target="../media/image96.png"/><Relationship Id="rId10" Type="http://schemas.openxmlformats.org/officeDocument/2006/relationships/image" Target="../media/image95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3.png"/><Relationship Id="rId8" Type="http://schemas.openxmlformats.org/officeDocument/2006/relationships/image" Target="../media/image102.png"/><Relationship Id="rId7" Type="http://schemas.openxmlformats.org/officeDocument/2006/relationships/image" Target="../media/image101.png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7" Type="http://schemas.openxmlformats.org/officeDocument/2006/relationships/notesSlide" Target="../notesSlides/notesSlide12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8.png"/><Relationship Id="rId14" Type="http://schemas.openxmlformats.org/officeDocument/2006/relationships/image" Target="../media/image107.png"/><Relationship Id="rId13" Type="http://schemas.openxmlformats.org/officeDocument/2006/relationships/image" Target="../media/image106.png"/><Relationship Id="rId12" Type="http://schemas.openxmlformats.org/officeDocument/2006/relationships/image" Target="../media/image34.png"/><Relationship Id="rId11" Type="http://schemas.openxmlformats.org/officeDocument/2006/relationships/image" Target="../media/image105.png"/><Relationship Id="rId10" Type="http://schemas.openxmlformats.org/officeDocument/2006/relationships/image" Target="../media/image104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image" Target="../media/image111.png"/><Relationship Id="rId7" Type="http://schemas.openxmlformats.org/officeDocument/2006/relationships/tags" Target="../tags/tag63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Relationship Id="rId37" Type="http://schemas.openxmlformats.org/officeDocument/2006/relationships/notesSlide" Target="../notesSlides/notesSlide13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8.png"/><Relationship Id="rId34" Type="http://schemas.openxmlformats.org/officeDocument/2006/relationships/tags" Target="../tags/tag83.xml"/><Relationship Id="rId33" Type="http://schemas.openxmlformats.org/officeDocument/2006/relationships/image" Target="../media/image107.png"/><Relationship Id="rId32" Type="http://schemas.openxmlformats.org/officeDocument/2006/relationships/image" Target="../media/image106.png"/><Relationship Id="rId31" Type="http://schemas.openxmlformats.org/officeDocument/2006/relationships/tags" Target="../tags/tag82.xml"/><Relationship Id="rId30" Type="http://schemas.openxmlformats.org/officeDocument/2006/relationships/tags" Target="../tags/tag81.xml"/><Relationship Id="rId3" Type="http://schemas.openxmlformats.org/officeDocument/2006/relationships/image" Target="../media/image15.png"/><Relationship Id="rId29" Type="http://schemas.openxmlformats.org/officeDocument/2006/relationships/image" Target="../media/image45.png"/><Relationship Id="rId28" Type="http://schemas.openxmlformats.org/officeDocument/2006/relationships/tags" Target="../tags/tag80.xml"/><Relationship Id="rId27" Type="http://schemas.openxmlformats.org/officeDocument/2006/relationships/tags" Target="../tags/tag79.xml"/><Relationship Id="rId26" Type="http://schemas.openxmlformats.org/officeDocument/2006/relationships/tags" Target="../tags/tag78.xml"/><Relationship Id="rId25" Type="http://schemas.openxmlformats.org/officeDocument/2006/relationships/tags" Target="../tags/tag77.xml"/><Relationship Id="rId24" Type="http://schemas.openxmlformats.org/officeDocument/2006/relationships/tags" Target="../tags/tag76.xml"/><Relationship Id="rId23" Type="http://schemas.openxmlformats.org/officeDocument/2006/relationships/tags" Target="../tags/tag75.xml"/><Relationship Id="rId22" Type="http://schemas.openxmlformats.org/officeDocument/2006/relationships/tags" Target="../tags/tag74.xml"/><Relationship Id="rId21" Type="http://schemas.openxmlformats.org/officeDocument/2006/relationships/tags" Target="../tags/tag73.xml"/><Relationship Id="rId20" Type="http://schemas.openxmlformats.org/officeDocument/2006/relationships/tags" Target="../tags/tag72.xml"/><Relationship Id="rId2" Type="http://schemas.openxmlformats.org/officeDocument/2006/relationships/image" Target="../media/image2.png"/><Relationship Id="rId19" Type="http://schemas.openxmlformats.org/officeDocument/2006/relationships/tags" Target="../tags/tag71.xml"/><Relationship Id="rId18" Type="http://schemas.openxmlformats.org/officeDocument/2006/relationships/image" Target="../media/image113.png"/><Relationship Id="rId17" Type="http://schemas.openxmlformats.org/officeDocument/2006/relationships/tags" Target="../tags/tag70.xml"/><Relationship Id="rId16" Type="http://schemas.openxmlformats.org/officeDocument/2006/relationships/tags" Target="../tags/tag69.xml"/><Relationship Id="rId15" Type="http://schemas.openxmlformats.org/officeDocument/2006/relationships/tags" Target="../tags/tag68.xml"/><Relationship Id="rId14" Type="http://schemas.openxmlformats.org/officeDocument/2006/relationships/tags" Target="../tags/tag67.xml"/><Relationship Id="rId13" Type="http://schemas.openxmlformats.org/officeDocument/2006/relationships/tags" Target="../tags/tag66.xml"/><Relationship Id="rId12" Type="http://schemas.openxmlformats.org/officeDocument/2006/relationships/image" Target="../media/image112.png"/><Relationship Id="rId11" Type="http://schemas.openxmlformats.org/officeDocument/2006/relationships/tags" Target="../tags/tag65.xml"/><Relationship Id="rId10" Type="http://schemas.openxmlformats.org/officeDocument/2006/relationships/image" Target="../media/image90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7.png"/><Relationship Id="rId8" Type="http://schemas.openxmlformats.org/officeDocument/2006/relationships/image" Target="../media/image116.png"/><Relationship Id="rId7" Type="http://schemas.openxmlformats.org/officeDocument/2006/relationships/image" Target="../media/image70.png"/><Relationship Id="rId6" Type="http://schemas.openxmlformats.org/officeDocument/2006/relationships/image" Target="../media/image115.png"/><Relationship Id="rId5" Type="http://schemas.openxmlformats.org/officeDocument/2006/relationships/image" Target="../media/image90.png"/><Relationship Id="rId4" Type="http://schemas.openxmlformats.org/officeDocument/2006/relationships/image" Target="../media/image114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4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4.png"/><Relationship Id="rId15" Type="http://schemas.openxmlformats.org/officeDocument/2006/relationships/image" Target="../media/image3.png"/><Relationship Id="rId14" Type="http://schemas.openxmlformats.org/officeDocument/2006/relationships/image" Target="../media/image56.png"/><Relationship Id="rId13" Type="http://schemas.openxmlformats.org/officeDocument/2006/relationships/image" Target="../media/image121.png"/><Relationship Id="rId12" Type="http://schemas.openxmlformats.org/officeDocument/2006/relationships/image" Target="../media/image120.png"/><Relationship Id="rId11" Type="http://schemas.openxmlformats.org/officeDocument/2006/relationships/image" Target="../media/image119.png"/><Relationship Id="rId10" Type="http://schemas.openxmlformats.org/officeDocument/2006/relationships/image" Target="../media/image118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5.png"/><Relationship Id="rId8" Type="http://schemas.openxmlformats.org/officeDocument/2006/relationships/image" Target="../media/image124.png"/><Relationship Id="rId7" Type="http://schemas.openxmlformats.org/officeDocument/2006/relationships/image" Target="../media/image70.png"/><Relationship Id="rId6" Type="http://schemas.openxmlformats.org/officeDocument/2006/relationships/image" Target="../media/image123.png"/><Relationship Id="rId5" Type="http://schemas.openxmlformats.org/officeDocument/2006/relationships/image" Target="../media/image109.png"/><Relationship Id="rId4" Type="http://schemas.openxmlformats.org/officeDocument/2006/relationships/image" Target="../media/image122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5" Type="http://schemas.openxmlformats.org/officeDocument/2006/relationships/notesSlide" Target="../notesSlides/notesSlide15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8.png"/><Relationship Id="rId12" Type="http://schemas.openxmlformats.org/officeDocument/2006/relationships/image" Target="../media/image107.png"/><Relationship Id="rId11" Type="http://schemas.openxmlformats.org/officeDocument/2006/relationships/image" Target="../media/image106.png"/><Relationship Id="rId10" Type="http://schemas.openxmlformats.org/officeDocument/2006/relationships/image" Target="../media/image126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0.png"/><Relationship Id="rId8" Type="http://schemas.openxmlformats.org/officeDocument/2006/relationships/image" Target="../media/image129.png"/><Relationship Id="rId7" Type="http://schemas.openxmlformats.org/officeDocument/2006/relationships/image" Target="../media/image128.png"/><Relationship Id="rId6" Type="http://schemas.openxmlformats.org/officeDocument/2006/relationships/image" Target="../media/image90.png"/><Relationship Id="rId5" Type="http://schemas.openxmlformats.org/officeDocument/2006/relationships/image" Target="../media/image127.png"/><Relationship Id="rId4" Type="http://schemas.openxmlformats.org/officeDocument/2006/relationships/image" Target="../media/image118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107.png"/><Relationship Id="rId15" Type="http://schemas.openxmlformats.org/officeDocument/2006/relationships/image" Target="../media/image106.png"/><Relationship Id="rId14" Type="http://schemas.openxmlformats.org/officeDocument/2006/relationships/image" Target="../media/image135.png"/><Relationship Id="rId13" Type="http://schemas.openxmlformats.org/officeDocument/2006/relationships/image" Target="../media/image134.png"/><Relationship Id="rId12" Type="http://schemas.openxmlformats.org/officeDocument/2006/relationships/image" Target="../media/image133.png"/><Relationship Id="rId11" Type="http://schemas.openxmlformats.org/officeDocument/2006/relationships/image" Target="../media/image132.png"/><Relationship Id="rId10" Type="http://schemas.openxmlformats.org/officeDocument/2006/relationships/image" Target="../media/image131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png"/><Relationship Id="rId8" Type="http://schemas.openxmlformats.org/officeDocument/2006/relationships/image" Target="../media/image139.png"/><Relationship Id="rId7" Type="http://schemas.openxmlformats.org/officeDocument/2006/relationships/image" Target="../media/image138.png"/><Relationship Id="rId6" Type="http://schemas.openxmlformats.org/officeDocument/2006/relationships/image" Target="../media/image137.png"/><Relationship Id="rId5" Type="http://schemas.openxmlformats.org/officeDocument/2006/relationships/image" Target="../media/image118.png"/><Relationship Id="rId4" Type="http://schemas.openxmlformats.org/officeDocument/2006/relationships/image" Target="../media/image136.png"/><Relationship Id="rId3" Type="http://schemas.openxmlformats.org/officeDocument/2006/relationships/image" Target="../media/image15.png"/><Relationship Id="rId24" Type="http://schemas.openxmlformats.org/officeDocument/2006/relationships/notesSlide" Target="../notesSlides/notesSlide17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152.png"/><Relationship Id="rId21" Type="http://schemas.openxmlformats.org/officeDocument/2006/relationships/image" Target="../media/image18.png"/><Relationship Id="rId20" Type="http://schemas.openxmlformats.org/officeDocument/2006/relationships/image" Target="../media/image151.png"/><Relationship Id="rId2" Type="http://schemas.openxmlformats.org/officeDocument/2006/relationships/image" Target="../media/image2.png"/><Relationship Id="rId19" Type="http://schemas.openxmlformats.org/officeDocument/2006/relationships/image" Target="../media/image150.png"/><Relationship Id="rId18" Type="http://schemas.openxmlformats.org/officeDocument/2006/relationships/image" Target="../media/image149.png"/><Relationship Id="rId17" Type="http://schemas.openxmlformats.org/officeDocument/2006/relationships/image" Target="../media/image148.png"/><Relationship Id="rId16" Type="http://schemas.openxmlformats.org/officeDocument/2006/relationships/image" Target="../media/image147.png"/><Relationship Id="rId15" Type="http://schemas.openxmlformats.org/officeDocument/2006/relationships/image" Target="../media/image146.png"/><Relationship Id="rId14" Type="http://schemas.openxmlformats.org/officeDocument/2006/relationships/image" Target="../media/image145.png"/><Relationship Id="rId13" Type="http://schemas.openxmlformats.org/officeDocument/2006/relationships/image" Target="../media/image144.png"/><Relationship Id="rId12" Type="http://schemas.openxmlformats.org/officeDocument/2006/relationships/image" Target="../media/image143.png"/><Relationship Id="rId11" Type="http://schemas.openxmlformats.org/officeDocument/2006/relationships/image" Target="../media/image142.png"/><Relationship Id="rId10" Type="http://schemas.openxmlformats.org/officeDocument/2006/relationships/image" Target="../media/image141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7.png"/><Relationship Id="rId8" Type="http://schemas.openxmlformats.org/officeDocument/2006/relationships/image" Target="../media/image156.png"/><Relationship Id="rId7" Type="http://schemas.openxmlformats.org/officeDocument/2006/relationships/image" Target="../media/image155.png"/><Relationship Id="rId6" Type="http://schemas.openxmlformats.org/officeDocument/2006/relationships/image" Target="../media/image154.png"/><Relationship Id="rId5" Type="http://schemas.openxmlformats.org/officeDocument/2006/relationships/image" Target="../media/image90.png"/><Relationship Id="rId4" Type="http://schemas.openxmlformats.org/officeDocument/2006/relationships/image" Target="../media/image153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6" Type="http://schemas.openxmlformats.org/officeDocument/2006/relationships/notesSlide" Target="../notesSlides/notesSlide18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8.png"/><Relationship Id="rId13" Type="http://schemas.openxmlformats.org/officeDocument/2006/relationships/image" Target="../media/image160.png"/><Relationship Id="rId12" Type="http://schemas.openxmlformats.org/officeDocument/2006/relationships/image" Target="../media/image159.png"/><Relationship Id="rId11" Type="http://schemas.openxmlformats.org/officeDocument/2006/relationships/image" Target="../media/image151.png"/><Relationship Id="rId10" Type="http://schemas.openxmlformats.org/officeDocument/2006/relationships/image" Target="../media/image158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5.png"/><Relationship Id="rId8" Type="http://schemas.openxmlformats.org/officeDocument/2006/relationships/image" Target="../media/image164.png"/><Relationship Id="rId7" Type="http://schemas.openxmlformats.org/officeDocument/2006/relationships/image" Target="../media/image163.png"/><Relationship Id="rId6" Type="http://schemas.openxmlformats.org/officeDocument/2006/relationships/image" Target="../media/image162.png"/><Relationship Id="rId5" Type="http://schemas.openxmlformats.org/officeDocument/2006/relationships/image" Target="../media/image90.png"/><Relationship Id="rId4" Type="http://schemas.openxmlformats.org/officeDocument/2006/relationships/image" Target="../media/image161.png"/><Relationship Id="rId3" Type="http://schemas.openxmlformats.org/officeDocument/2006/relationships/image" Target="../media/image15.png"/><Relationship Id="rId23" Type="http://schemas.openxmlformats.org/officeDocument/2006/relationships/notesSlide" Target="../notesSlides/notesSlide19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8.png"/><Relationship Id="rId20" Type="http://schemas.openxmlformats.org/officeDocument/2006/relationships/image" Target="../media/image160.png"/><Relationship Id="rId2" Type="http://schemas.openxmlformats.org/officeDocument/2006/relationships/image" Target="../media/image2.png"/><Relationship Id="rId19" Type="http://schemas.openxmlformats.org/officeDocument/2006/relationships/image" Target="../media/image159.png"/><Relationship Id="rId18" Type="http://schemas.openxmlformats.org/officeDocument/2006/relationships/image" Target="../media/image171.png"/><Relationship Id="rId17" Type="http://schemas.openxmlformats.org/officeDocument/2006/relationships/image" Target="../media/image170.png"/><Relationship Id="rId16" Type="http://schemas.openxmlformats.org/officeDocument/2006/relationships/image" Target="../media/image70.png"/><Relationship Id="rId15" Type="http://schemas.openxmlformats.org/officeDocument/2006/relationships/image" Target="../media/image131.png"/><Relationship Id="rId14" Type="http://schemas.openxmlformats.org/officeDocument/2006/relationships/image" Target="../media/image99.png"/><Relationship Id="rId13" Type="http://schemas.openxmlformats.org/officeDocument/2006/relationships/image" Target="../media/image169.png"/><Relationship Id="rId12" Type="http://schemas.openxmlformats.org/officeDocument/2006/relationships/image" Target="../media/image168.png"/><Relationship Id="rId11" Type="http://schemas.openxmlformats.org/officeDocument/2006/relationships/image" Target="../media/image167.png"/><Relationship Id="rId10" Type="http://schemas.openxmlformats.org/officeDocument/2006/relationships/image" Target="../media/image166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7.png"/><Relationship Id="rId8" Type="http://schemas.openxmlformats.org/officeDocument/2006/relationships/image" Target="../media/image176.png"/><Relationship Id="rId7" Type="http://schemas.openxmlformats.org/officeDocument/2006/relationships/image" Target="../media/image175.png"/><Relationship Id="rId6" Type="http://schemas.openxmlformats.org/officeDocument/2006/relationships/image" Target="../media/image174.png"/><Relationship Id="rId5" Type="http://schemas.openxmlformats.org/officeDocument/2006/relationships/image" Target="../media/image173.png"/><Relationship Id="rId4" Type="http://schemas.openxmlformats.org/officeDocument/2006/relationships/image" Target="../media/image172.png"/><Relationship Id="rId3" Type="http://schemas.openxmlformats.org/officeDocument/2006/relationships/image" Target="../media/image15.png"/><Relationship Id="rId23" Type="http://schemas.openxmlformats.org/officeDocument/2006/relationships/notesSlide" Target="../notesSlides/notesSlide20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8.png"/><Relationship Id="rId20" Type="http://schemas.openxmlformats.org/officeDocument/2006/relationships/image" Target="../media/image188.png"/><Relationship Id="rId2" Type="http://schemas.openxmlformats.org/officeDocument/2006/relationships/image" Target="../media/image2.png"/><Relationship Id="rId19" Type="http://schemas.openxmlformats.org/officeDocument/2006/relationships/image" Target="../media/image187.png"/><Relationship Id="rId18" Type="http://schemas.openxmlformats.org/officeDocument/2006/relationships/image" Target="../media/image186.png"/><Relationship Id="rId17" Type="http://schemas.openxmlformats.org/officeDocument/2006/relationships/image" Target="../media/image185.png"/><Relationship Id="rId16" Type="http://schemas.openxmlformats.org/officeDocument/2006/relationships/image" Target="../media/image184.png"/><Relationship Id="rId15" Type="http://schemas.openxmlformats.org/officeDocument/2006/relationships/image" Target="../media/image183.png"/><Relationship Id="rId14" Type="http://schemas.openxmlformats.org/officeDocument/2006/relationships/image" Target="../media/image182.png"/><Relationship Id="rId13" Type="http://schemas.openxmlformats.org/officeDocument/2006/relationships/image" Target="../media/image181.png"/><Relationship Id="rId12" Type="http://schemas.openxmlformats.org/officeDocument/2006/relationships/image" Target="../media/image180.png"/><Relationship Id="rId11" Type="http://schemas.openxmlformats.org/officeDocument/2006/relationships/image" Target="../media/image179.png"/><Relationship Id="rId10" Type="http://schemas.openxmlformats.org/officeDocument/2006/relationships/image" Target="../media/image178.png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4.png"/><Relationship Id="rId8" Type="http://schemas.openxmlformats.org/officeDocument/2006/relationships/image" Target="../media/image193.png"/><Relationship Id="rId7" Type="http://schemas.openxmlformats.org/officeDocument/2006/relationships/image" Target="../media/image113.png"/><Relationship Id="rId6" Type="http://schemas.openxmlformats.org/officeDocument/2006/relationships/image" Target="../media/image192.png"/><Relationship Id="rId5" Type="http://schemas.openxmlformats.org/officeDocument/2006/relationships/image" Target="../media/image90.png"/><Relationship Id="rId4" Type="http://schemas.openxmlformats.org/officeDocument/2006/relationships/image" Target="../media/image191.png"/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8" Type="http://schemas.openxmlformats.org/officeDocument/2006/relationships/notesSlide" Target="../notesSlides/notesSlide21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201.png"/><Relationship Id="rId15" Type="http://schemas.openxmlformats.org/officeDocument/2006/relationships/image" Target="../media/image200.png"/><Relationship Id="rId14" Type="http://schemas.openxmlformats.org/officeDocument/2006/relationships/image" Target="../media/image199.png"/><Relationship Id="rId13" Type="http://schemas.openxmlformats.org/officeDocument/2006/relationships/image" Target="../media/image198.png"/><Relationship Id="rId12" Type="http://schemas.openxmlformats.org/officeDocument/2006/relationships/image" Target="../media/image197.png"/><Relationship Id="rId11" Type="http://schemas.openxmlformats.org/officeDocument/2006/relationships/image" Target="../media/image196.png"/><Relationship Id="rId10" Type="http://schemas.openxmlformats.org/officeDocument/2006/relationships/image" Target="../media/image195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7.png"/><Relationship Id="rId8" Type="http://schemas.openxmlformats.org/officeDocument/2006/relationships/image" Target="../media/image206.png"/><Relationship Id="rId7" Type="http://schemas.openxmlformats.org/officeDocument/2006/relationships/image" Target="../media/image205.png"/><Relationship Id="rId6" Type="http://schemas.openxmlformats.org/officeDocument/2006/relationships/image" Target="../media/image204.png"/><Relationship Id="rId5" Type="http://schemas.openxmlformats.org/officeDocument/2006/relationships/image" Target="../media/image203.png"/><Relationship Id="rId4" Type="http://schemas.openxmlformats.org/officeDocument/2006/relationships/image" Target="../media/image202.png"/><Relationship Id="rId3" Type="http://schemas.openxmlformats.org/officeDocument/2006/relationships/image" Target="../media/image190.png"/><Relationship Id="rId22" Type="http://schemas.openxmlformats.org/officeDocument/2006/relationships/notesSlide" Target="../notesSlides/notesSlide22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201.png"/><Relationship Id="rId2" Type="http://schemas.openxmlformats.org/officeDocument/2006/relationships/image" Target="../media/image189.png"/><Relationship Id="rId19" Type="http://schemas.openxmlformats.org/officeDocument/2006/relationships/image" Target="../media/image200.png"/><Relationship Id="rId18" Type="http://schemas.openxmlformats.org/officeDocument/2006/relationships/image" Target="../media/image199.png"/><Relationship Id="rId17" Type="http://schemas.openxmlformats.org/officeDocument/2006/relationships/image" Target="../media/image70.png"/><Relationship Id="rId16" Type="http://schemas.openxmlformats.org/officeDocument/2006/relationships/image" Target="../media/image213.png"/><Relationship Id="rId15" Type="http://schemas.openxmlformats.org/officeDocument/2006/relationships/image" Target="../media/image212.png"/><Relationship Id="rId14" Type="http://schemas.openxmlformats.org/officeDocument/2006/relationships/image" Target="../media/image211.png"/><Relationship Id="rId13" Type="http://schemas.openxmlformats.org/officeDocument/2006/relationships/image" Target="../media/image210.png"/><Relationship Id="rId12" Type="http://schemas.openxmlformats.org/officeDocument/2006/relationships/image" Target="../media/image209.png"/><Relationship Id="rId11" Type="http://schemas.openxmlformats.org/officeDocument/2006/relationships/image" Target="../media/image90.png"/><Relationship Id="rId10" Type="http://schemas.openxmlformats.org/officeDocument/2006/relationships/image" Target="../media/image208.png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70.png"/><Relationship Id="rId7" Type="http://schemas.openxmlformats.org/officeDocument/2006/relationships/image" Target="../media/image216.png"/><Relationship Id="rId6" Type="http://schemas.openxmlformats.org/officeDocument/2006/relationships/image" Target="../media/image90.png"/><Relationship Id="rId5" Type="http://schemas.openxmlformats.org/officeDocument/2006/relationships/image" Target="../media/image215.png"/><Relationship Id="rId4" Type="http://schemas.openxmlformats.org/officeDocument/2006/relationships/image" Target="../media/image214.png"/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7" Type="http://schemas.openxmlformats.org/officeDocument/2006/relationships/notesSlide" Target="../notesSlides/notesSlide2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201.png"/><Relationship Id="rId14" Type="http://schemas.openxmlformats.org/officeDocument/2006/relationships/image" Target="../media/image107.png"/><Relationship Id="rId13" Type="http://schemas.openxmlformats.org/officeDocument/2006/relationships/image" Target="../media/image106.png"/><Relationship Id="rId12" Type="http://schemas.openxmlformats.org/officeDocument/2006/relationships/image" Target="../media/image219.png"/><Relationship Id="rId11" Type="http://schemas.openxmlformats.org/officeDocument/2006/relationships/image" Target="../media/image218.png"/><Relationship Id="rId10" Type="http://schemas.openxmlformats.org/officeDocument/2006/relationships/image" Target="../media/image217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3.png"/><Relationship Id="rId8" Type="http://schemas.openxmlformats.org/officeDocument/2006/relationships/image" Target="../media/image222.png"/><Relationship Id="rId7" Type="http://schemas.openxmlformats.org/officeDocument/2006/relationships/image" Target="../media/image221.png"/><Relationship Id="rId6" Type="http://schemas.openxmlformats.org/officeDocument/2006/relationships/image" Target="../media/image45.png"/><Relationship Id="rId5" Type="http://schemas.openxmlformats.org/officeDocument/2006/relationships/image" Target="../media/image90.png"/><Relationship Id="rId4" Type="http://schemas.openxmlformats.org/officeDocument/2006/relationships/image" Target="../media/image220.png"/><Relationship Id="rId3" Type="http://schemas.openxmlformats.org/officeDocument/2006/relationships/image" Target="../media/image15.png"/><Relationship Id="rId20" Type="http://schemas.openxmlformats.org/officeDocument/2006/relationships/notesSlide" Target="../notesSlides/notesSlide24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8.png"/><Relationship Id="rId17" Type="http://schemas.openxmlformats.org/officeDocument/2006/relationships/image" Target="../media/image107.png"/><Relationship Id="rId16" Type="http://schemas.openxmlformats.org/officeDocument/2006/relationships/image" Target="../media/image106.png"/><Relationship Id="rId15" Type="http://schemas.openxmlformats.org/officeDocument/2006/relationships/image" Target="../media/image115.png"/><Relationship Id="rId14" Type="http://schemas.openxmlformats.org/officeDocument/2006/relationships/image" Target="../media/image94.png"/><Relationship Id="rId13" Type="http://schemas.openxmlformats.org/officeDocument/2006/relationships/image" Target="../media/image227.png"/><Relationship Id="rId12" Type="http://schemas.openxmlformats.org/officeDocument/2006/relationships/image" Target="../media/image226.png"/><Relationship Id="rId11" Type="http://schemas.openxmlformats.org/officeDocument/2006/relationships/image" Target="../media/image225.png"/><Relationship Id="rId10" Type="http://schemas.openxmlformats.org/officeDocument/2006/relationships/image" Target="../media/image224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33.png"/><Relationship Id="rId7" Type="http://schemas.openxmlformats.org/officeDocument/2006/relationships/image" Target="../media/image232.png"/><Relationship Id="rId6" Type="http://schemas.openxmlformats.org/officeDocument/2006/relationships/image" Target="../media/image231.png"/><Relationship Id="rId5" Type="http://schemas.openxmlformats.org/officeDocument/2006/relationships/image" Target="../media/image230.png"/><Relationship Id="rId4" Type="http://schemas.openxmlformats.org/officeDocument/2006/relationships/image" Target="../media/image229.png"/><Relationship Id="rId3" Type="http://schemas.openxmlformats.org/officeDocument/2006/relationships/image" Target="../media/image228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25.xml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0.png"/><Relationship Id="rId8" Type="http://schemas.openxmlformats.org/officeDocument/2006/relationships/image" Target="../media/image239.png"/><Relationship Id="rId7" Type="http://schemas.openxmlformats.org/officeDocument/2006/relationships/image" Target="../media/image238.png"/><Relationship Id="rId6" Type="http://schemas.openxmlformats.org/officeDocument/2006/relationships/image" Target="../media/image237.png"/><Relationship Id="rId5" Type="http://schemas.openxmlformats.org/officeDocument/2006/relationships/image" Target="../media/image236.png"/><Relationship Id="rId4" Type="http://schemas.openxmlformats.org/officeDocument/2006/relationships/image" Target="../media/image235.png"/><Relationship Id="rId3" Type="http://schemas.openxmlformats.org/officeDocument/2006/relationships/image" Target="../media/image23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26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5.png"/><Relationship Id="rId8" Type="http://schemas.openxmlformats.org/officeDocument/2006/relationships/image" Target="../media/image244.png"/><Relationship Id="rId7" Type="http://schemas.openxmlformats.org/officeDocument/2006/relationships/image" Target="../media/image243.png"/><Relationship Id="rId6" Type="http://schemas.openxmlformats.org/officeDocument/2006/relationships/image" Target="../media/image242.png"/><Relationship Id="rId5" Type="http://schemas.openxmlformats.org/officeDocument/2006/relationships/image" Target="../media/image109.png"/><Relationship Id="rId4" Type="http://schemas.openxmlformats.org/officeDocument/2006/relationships/image" Target="../media/image241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27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107.png"/><Relationship Id="rId15" Type="http://schemas.openxmlformats.org/officeDocument/2006/relationships/image" Target="../media/image106.png"/><Relationship Id="rId14" Type="http://schemas.openxmlformats.org/officeDocument/2006/relationships/image" Target="../media/image250.png"/><Relationship Id="rId13" Type="http://schemas.openxmlformats.org/officeDocument/2006/relationships/image" Target="../media/image249.png"/><Relationship Id="rId12" Type="http://schemas.openxmlformats.org/officeDocument/2006/relationships/image" Target="../media/image248.png"/><Relationship Id="rId11" Type="http://schemas.openxmlformats.org/officeDocument/2006/relationships/image" Target="../media/image247.png"/><Relationship Id="rId10" Type="http://schemas.openxmlformats.org/officeDocument/2006/relationships/image" Target="../media/image246.png"/><Relationship Id="rId1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8.png"/><Relationship Id="rId8" Type="http://schemas.openxmlformats.org/officeDocument/2006/relationships/image" Target="../media/image257.png"/><Relationship Id="rId7" Type="http://schemas.openxmlformats.org/officeDocument/2006/relationships/image" Target="../media/image256.png"/><Relationship Id="rId6" Type="http://schemas.openxmlformats.org/officeDocument/2006/relationships/image" Target="../media/image255.png"/><Relationship Id="rId5" Type="http://schemas.openxmlformats.org/officeDocument/2006/relationships/image" Target="../media/image254.png"/><Relationship Id="rId4" Type="http://schemas.openxmlformats.org/officeDocument/2006/relationships/image" Target="../media/image253.png"/><Relationship Id="rId3" Type="http://schemas.openxmlformats.org/officeDocument/2006/relationships/image" Target="../media/image252.png"/><Relationship Id="rId2" Type="http://schemas.openxmlformats.org/officeDocument/2006/relationships/image" Target="../media/image251.png"/><Relationship Id="rId11" Type="http://schemas.openxmlformats.org/officeDocument/2006/relationships/notesSlide" Target="../notesSlides/notesSlide28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sp>
        <p:nvSpPr>
          <p:cNvPr id="1048586" name="标题 1"/>
          <p:cNvSpPr>
            <a:spLocks noGrp="1"/>
          </p:cNvSpPr>
          <p:nvPr/>
        </p:nvSpPr>
        <p:spPr>
          <a:xfrm>
            <a:off x="5020310" y="222250"/>
            <a:ext cx="6526530" cy="472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2400">
                <a:latin typeface="+mn-ea"/>
                <a:ea typeface="+mn-ea"/>
                <a:cs typeface="+mn-ea"/>
              </a:rPr>
              <a:t>个人简介：</a:t>
            </a:r>
            <a:br>
              <a:rPr lang="zh-CN" altLang="en-US" sz="2400">
                <a:latin typeface="+mn-ea"/>
                <a:ea typeface="+mn-ea"/>
                <a:cs typeface="+mn-ea"/>
              </a:rPr>
            </a:br>
            <a:br>
              <a:rPr lang="zh-CN" altLang="en-US" sz="2400">
                <a:latin typeface="+mn-ea"/>
                <a:ea typeface="+mn-ea"/>
                <a:cs typeface="+mn-ea"/>
              </a:rPr>
            </a:br>
            <a:r>
              <a:rPr lang="zh-CN" altLang="en-US" sz="2400">
                <a:latin typeface="+mn-ea"/>
                <a:ea typeface="+mn-ea"/>
                <a:cs typeface="+mn-ea"/>
              </a:rPr>
              <a:t>毕业于泸州医学院，擅长冠脉及结构性心脏病介入。南方会及广州CTO峰会主席团成员。</a:t>
            </a:r>
            <a:br>
              <a:rPr lang="zh-CN" altLang="en-US" sz="2400">
                <a:latin typeface="+mn-ea"/>
                <a:ea typeface="+mn-ea"/>
                <a:cs typeface="+mn-ea"/>
              </a:rPr>
            </a:br>
            <a:br>
              <a:rPr lang="zh-CN" altLang="en-US" sz="2400">
                <a:latin typeface="+mn-ea"/>
                <a:ea typeface="+mn-ea"/>
                <a:cs typeface="+mn-ea"/>
              </a:rPr>
            </a:br>
            <a:r>
              <a:rPr lang="zh-CN" altLang="en-US" sz="2400">
                <a:latin typeface="+mn-ea"/>
                <a:ea typeface="+mn-ea"/>
                <a:cs typeface="+mn-ea"/>
              </a:rPr>
              <a:t>参加韩国峨山医院TCPAP2017介入培训。2017年获得介入直通车全国决赛亚军。2022年Vitaflow菁英赛全国二等奖。</a:t>
            </a:r>
            <a:endParaRPr lang="zh-CN" altLang="en-US" sz="2400">
              <a:latin typeface="+mn-ea"/>
              <a:ea typeface="+mn-ea"/>
              <a:cs typeface="+mn-ea"/>
            </a:endParaRPr>
          </a:p>
        </p:txBody>
      </p:sp>
      <p:sp>
        <p:nvSpPr>
          <p:cNvPr id="1048587" name="副标题 2"/>
          <p:cNvSpPr>
            <a:spLocks noGrp="1"/>
          </p:cNvSpPr>
          <p:nvPr/>
        </p:nvSpPr>
        <p:spPr>
          <a:xfrm>
            <a:off x="730250" y="4470400"/>
            <a:ext cx="4184015" cy="122047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</a:pPr>
            <a:r>
              <a:rPr lang="zh-CN" altLang="en-US" b="1"/>
              <a:t>成都市第五人民医院</a:t>
            </a:r>
            <a:br>
              <a:rPr lang="zh-CN" altLang="en-US" b="1"/>
            </a:br>
            <a:r>
              <a:rPr lang="zh-CN" altLang="en-US" b="1"/>
              <a:t>刘朝晖</a:t>
            </a:r>
            <a:endParaRPr lang="zh-CN" altLang="en-US" b="1"/>
          </a:p>
        </p:txBody>
      </p:sp>
      <p:pic>
        <p:nvPicPr>
          <p:cNvPr id="2097152" name="图片 3" descr="1361671524912_.pi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250" y="596900"/>
            <a:ext cx="3873500" cy="387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2026.04</a:t>
            </a:r>
            <a:endParaRPr lang="en-US" sz="22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1.0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zh-CN" alt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大模型</a:t>
            </a: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诊疗流程优化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</a:t>
            </a:r>
            <a:r>
              <a:rPr lang="zh-CN" alt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机构金字塔</a:t>
            </a:r>
            <a:endParaRPr lang="zh-CN" altLang="en-US" sz="3150" b="1" dirty="0">
              <a:solidFill>
                <a:srgbClr val="0F172A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4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5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1" name="图片 40" descr="医疗机构金字塔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569845" y="-281305"/>
            <a:ext cx="7051040" cy="7051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国家数据中心建设政策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761981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66793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352516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85843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00180"/>
            <a:ext cx="5524362" cy="1095348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00200"/>
            <a:ext cx="513346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228794"/>
            <a:ext cx="513346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《国家数据基础设施建设指引》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505012"/>
            <a:ext cx="513346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2025年1月发布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086023"/>
            <a:ext cx="5524362" cy="923902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200320"/>
            <a:ext cx="530491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总体愿景</a:t>
            </a:r>
            <a:endParaRPr lang="en-US" sz="900" dirty="0"/>
          </a:p>
        </p:txBody>
      </p:sp>
      <p:sp>
        <p:nvSpPr>
          <p:cNvPr id="14" name="Text 6"/>
          <p:cNvSpPr/>
          <p:nvPr/>
        </p:nvSpPr>
        <p:spPr>
          <a:xfrm>
            <a:off x="609585" y="3428914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120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"横向联通、纵向贯通、协调有力"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的国家级数据基础设施，实现数据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"供得出、流得动、用得好、保安全"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5695808"/>
            <a:ext cx="5524362" cy="78103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81010" y="5895828"/>
            <a:ext cx="120926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投资规模</a:t>
            </a:r>
            <a:endParaRPr lang="en-US" sz="900" dirty="0"/>
          </a:p>
        </p:txBody>
      </p:sp>
      <p:sp>
        <p:nvSpPr>
          <p:cNvPr id="17" name="Text 8"/>
          <p:cNvSpPr/>
          <p:nvPr/>
        </p:nvSpPr>
        <p:spPr>
          <a:xfrm>
            <a:off x="581010" y="6086323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未来五年带动总投资</a:t>
            </a:r>
            <a:endParaRPr lang="en-US" sz="1050" dirty="0"/>
          </a:p>
        </p:txBody>
      </p:sp>
      <p:sp>
        <p:nvSpPr>
          <p:cNvPr id="18" name="Text 9"/>
          <p:cNvSpPr/>
          <p:nvPr/>
        </p:nvSpPr>
        <p:spPr>
          <a:xfrm>
            <a:off x="4867153" y="5895828"/>
            <a:ext cx="856848" cy="38099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万亿元</a:t>
            </a:r>
            <a:endParaRPr lang="en-US" sz="27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343" y="1266793"/>
            <a:ext cx="304792" cy="304792"/>
          </a:xfrm>
          <a:prstGeom prst="rect">
            <a:avLst/>
          </a:prstGeom>
        </p:spPr>
      </p:pic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541" y="1352516"/>
            <a:ext cx="171446" cy="133347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6705432" y="1285843"/>
            <a:ext cx="191409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对医疗行业的具体要求</a:t>
            </a:r>
            <a:endParaRPr lang="en-US" sz="15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343" y="1762081"/>
            <a:ext cx="5524362" cy="809605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1924002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086" y="2038299"/>
            <a:ext cx="133347" cy="15239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981650" y="1924002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数据共享与互认</a:t>
            </a:r>
            <a:endParaRPr lang="en-US" sz="1200" dirty="0"/>
          </a:p>
        </p:txBody>
      </p:sp>
      <p:sp>
        <p:nvSpPr>
          <p:cNvPr id="26" name="Text 12"/>
          <p:cNvSpPr/>
          <p:nvPr/>
        </p:nvSpPr>
        <p:spPr>
          <a:xfrm>
            <a:off x="6981650" y="2190695"/>
            <a:ext cx="46762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推动电子病历数据跨区域、跨机构共享与互认，完善个人健康数据档案制度。</a:t>
            </a:r>
            <a:endParaRPr lang="en-US" sz="105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2724082"/>
            <a:ext cx="5524362" cy="102867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886003"/>
            <a:ext cx="380990" cy="380990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036" y="3000300"/>
            <a:ext cx="171446" cy="152396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981650" y="2886003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健康数据融合</a:t>
            </a:r>
            <a:endParaRPr lang="en-US" sz="1200" dirty="0"/>
          </a:p>
        </p:txBody>
      </p:sp>
      <p:sp>
        <p:nvSpPr>
          <p:cNvPr id="31" name="Text 14"/>
          <p:cNvSpPr/>
          <p:nvPr/>
        </p:nvSpPr>
        <p:spPr>
          <a:xfrm>
            <a:off x="6981650" y="3152696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融合体检、就诊、疾控等多维健康数据，创新基于数据驱动的职业病监测、公共卫生事件预警等服务模式。</a:t>
            </a:r>
            <a:endParaRPr lang="en-US" sz="105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3895628"/>
            <a:ext cx="5524362" cy="102867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057549"/>
            <a:ext cx="380990" cy="38099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62561" y="4171846"/>
            <a:ext cx="152396" cy="152396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6981650" y="4057549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数据与安全保障</a:t>
            </a:r>
            <a:endParaRPr lang="en-US" sz="1200" dirty="0"/>
          </a:p>
        </p:txBody>
      </p:sp>
      <p:sp>
        <p:nvSpPr>
          <p:cNvPr id="36" name="Text 16"/>
          <p:cNvSpPr/>
          <p:nvPr/>
        </p:nvSpPr>
        <p:spPr>
          <a:xfrm>
            <a:off x="6981650" y="4324242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建立卫生健康行业高质量数据集，构建可信数据空间，完善数据隐私保护机制，推进医疗数据安全合规利用。</a:t>
            </a:r>
            <a:endParaRPr lang="en-US" sz="105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343" y="5981550"/>
            <a:ext cx="5524362" cy="49528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739" y="6152996"/>
            <a:ext cx="152396" cy="152396"/>
          </a:xfrm>
          <a:prstGeom prst="rect">
            <a:avLst/>
          </a:prstGeom>
        </p:spPr>
      </p:pic>
      <p:sp>
        <p:nvSpPr>
          <p:cNvPr id="39" name="Text 17"/>
          <p:cNvSpPr/>
          <p:nvPr/>
        </p:nvSpPr>
        <p:spPr>
          <a:xfrm>
            <a:off x="6705432" y="613394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政策驱动医疗数据要素化与价值释放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基层AI医疗应用政策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342991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63" y="1428714"/>
            <a:ext cx="104772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76378"/>
            <a:ext cx="5562461" cy="11334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76398"/>
            <a:ext cx="517156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304992"/>
            <a:ext cx="51715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《关于促进和规范"人工智能+医疗卫生"应用发展的实施意见》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619310"/>
            <a:ext cx="517156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国卫办规划发〔2025〕30号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238419"/>
            <a:ext cx="5562461" cy="1171546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400340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1200120" y="3476538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近期目标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609585" y="3781330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高质量数据集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，形成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临床专病专科垂直大模型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，基层诊疗智能辅助广泛应用。</a:t>
            </a:r>
            <a:endParaRPr lang="en-US" sz="112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4552836"/>
            <a:ext cx="5562461" cy="1171546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609585" y="4714757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800" dirty="0"/>
          </a:p>
        </p:txBody>
      </p:sp>
      <p:sp>
        <p:nvSpPr>
          <p:cNvPr id="18" name="Text 9"/>
          <p:cNvSpPr/>
          <p:nvPr/>
        </p:nvSpPr>
        <p:spPr>
          <a:xfrm>
            <a:off x="1200120" y="4790955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远期目标</a:t>
            </a:r>
            <a:endParaRPr lang="en-US" sz="900" dirty="0"/>
          </a:p>
        </p:txBody>
      </p:sp>
      <p:sp>
        <p:nvSpPr>
          <p:cNvPr id="19" name="Text 10"/>
          <p:cNvSpPr/>
          <p:nvPr/>
        </p:nvSpPr>
        <p:spPr>
          <a:xfrm>
            <a:off x="609585" y="5095748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基层诊疗智能辅助应用基本实现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全覆盖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，二级以上医院普遍开展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医学影像智能辅助诊断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244" y="1342991"/>
            <a:ext cx="304792" cy="304792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3967" y="1428714"/>
            <a:ext cx="133347" cy="133347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6667333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主要任务与要求</a:t>
            </a:r>
            <a:endParaRPr lang="en-US" sz="15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244" y="1876378"/>
            <a:ext cx="5562461" cy="1209645"/>
          </a:xfrm>
          <a:prstGeom prst="rect">
            <a:avLst/>
          </a:prstGeom>
        </p:spPr>
      </p:pic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076398"/>
            <a:ext cx="457189" cy="457189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0185" y="2219270"/>
            <a:ext cx="152396" cy="171446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7057849" y="2076398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</a:t>
            </a:r>
            <a:endParaRPr lang="en-US" sz="1350" dirty="0"/>
          </a:p>
        </p:txBody>
      </p:sp>
      <p:sp>
        <p:nvSpPr>
          <p:cNvPr id="27" name="Text 13"/>
          <p:cNvSpPr/>
          <p:nvPr/>
        </p:nvSpPr>
        <p:spPr>
          <a:xfrm>
            <a:off x="7057849" y="241929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常见病、多发病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的智能辅助诊疗系统，提供辅助诊断、处方审核、随访管理等服务。</a:t>
            </a:r>
            <a:endParaRPr lang="en-US" sz="1120" dirty="0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3238419"/>
            <a:ext cx="5562461" cy="1209645"/>
          </a:xfrm>
          <a:prstGeom prst="rect">
            <a:avLst/>
          </a:prstGeom>
        </p:spPr>
      </p:pic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3438439"/>
            <a:ext cx="457189" cy="457189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1610" y="3581310"/>
            <a:ext cx="200020" cy="171446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7057849" y="3438439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智慧县域医共体</a:t>
            </a:r>
            <a:endParaRPr lang="en-US" sz="1350" dirty="0"/>
          </a:p>
        </p:txBody>
      </p:sp>
      <p:sp>
        <p:nvSpPr>
          <p:cNvPr id="32" name="Text 15"/>
          <p:cNvSpPr/>
          <p:nvPr/>
        </p:nvSpPr>
        <p:spPr>
          <a:xfrm>
            <a:off x="7057849" y="378133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建设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紧密型县域医共体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智能应用，强化医学影像、心电、检验等资源共享中心。</a:t>
            </a:r>
            <a:endParaRPr lang="en-US" sz="1120" dirty="0"/>
          </a:p>
        </p:txBody>
      </p:sp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4590935"/>
            <a:ext cx="5562461" cy="120964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790955"/>
            <a:ext cx="457189" cy="457189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1610" y="4933827"/>
            <a:ext cx="200020" cy="171446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7057849" y="4790955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慢病管理创新</a:t>
            </a:r>
            <a:endParaRPr lang="en-US" sz="1350" dirty="0"/>
          </a:p>
        </p:txBody>
      </p:sp>
      <p:sp>
        <p:nvSpPr>
          <p:cNvPr id="37" name="Text 17"/>
          <p:cNvSpPr/>
          <p:nvPr/>
        </p:nvSpPr>
        <p:spPr>
          <a:xfrm>
            <a:off x="7057849" y="5133847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智能慢性病管理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和个人健康画像应用，推动居民电子健康档案向个人开放。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契合数据中心建设要求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本项目在数据标准、安全规范、互联互通三大核心维度上，全面响应国家数据中心建设政策要求。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76358"/>
            <a:ext cx="380990" cy="38099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12" y="1790655"/>
            <a:ext cx="133347" cy="15239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876278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数据标准</a:t>
            </a:r>
            <a:endParaRPr lang="en-US" sz="150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2247844"/>
            <a:ext cx="3657509" cy="3505112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10" y="2447864"/>
            <a:ext cx="3257469" cy="962001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71506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三层质控体系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771506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国家卫健委强制标准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临床指南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专家共识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三层质控，共</a:t>
            </a: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35项指标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，与建立"高质量数据集"要求一致。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10" y="3562261"/>
            <a:ext cx="3257469" cy="904852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3" y="1676358"/>
            <a:ext cx="380990" cy="38099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390" y="1790655"/>
            <a:ext cx="152396" cy="152396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4762381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安全规范</a:t>
            </a:r>
            <a:endParaRPr lang="en-US" sz="150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3" y="2247844"/>
            <a:ext cx="3657509" cy="3505112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7113" y="2447864"/>
            <a:ext cx="3257469" cy="962001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4657609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4657609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区域AI服务中心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，统一模型、质控与数据，避免数据孤岛，契合"横向联通、纵向贯通"的基础设施要求。</a:t>
            </a:r>
            <a:endParaRPr lang="en-US" sz="10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7113" y="3562261"/>
            <a:ext cx="3257469" cy="1123922"/>
          </a:xfrm>
          <a:prstGeom prst="rect">
            <a:avLst/>
          </a:prstGeom>
        </p:spPr>
      </p:pic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7113" y="3771806"/>
            <a:ext cx="171446" cy="133347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4714757" y="3752756"/>
            <a:ext cx="107591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轻量化安全部署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467113" y="4028974"/>
            <a:ext cx="3266613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轻量化Docker部署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，敏感数据在县域统一出口加密传输，满足"隐私保护计算、可信数据空间"要求。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196" y="1676358"/>
            <a:ext cx="380990" cy="380990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8444" y="1790655"/>
            <a:ext cx="190495" cy="152396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648484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互联互通</a:t>
            </a:r>
            <a:endParaRPr lang="en-US" sz="150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196" y="2247844"/>
            <a:ext cx="3657509" cy="3505112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3216" y="2447864"/>
            <a:ext cx="3257469" cy="742931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8543711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1+N星形网络</a:t>
            </a:r>
            <a:endParaRPr lang="en-US" sz="1200" dirty="0"/>
          </a:p>
        </p:txBody>
      </p:sp>
      <p:sp>
        <p:nvSpPr>
          <p:cNvPr id="34" name="Text 14"/>
          <p:cNvSpPr/>
          <p:nvPr/>
        </p:nvSpPr>
        <p:spPr>
          <a:xfrm>
            <a:off x="8543711" y="2752656"/>
            <a:ext cx="307611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部署"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1个县级牵头医院+N家乡镇卫生院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"的星形网络。</a:t>
            </a:r>
            <a:endParaRPr lang="en-US" sz="10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216" y="3343191"/>
            <a:ext cx="3257469" cy="904852"/>
          </a:xfrm>
          <a:prstGeom prst="rect">
            <a:avLst/>
          </a:prstGeom>
        </p:spPr>
      </p:pic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53216" y="3552736"/>
            <a:ext cx="133347" cy="133347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8562761" y="3533687"/>
            <a:ext cx="923521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东数西算对接</a:t>
            </a:r>
            <a:endParaRPr lang="en-US" sz="1200" dirty="0"/>
          </a:p>
        </p:txBody>
      </p:sp>
      <p:sp>
        <p:nvSpPr>
          <p:cNvPr id="38" name="Text 16"/>
          <p:cNvSpPr/>
          <p:nvPr/>
        </p:nvSpPr>
        <p:spPr>
          <a:xfrm>
            <a:off x="8353216" y="3809905"/>
            <a:ext cx="3266613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对应"东数西算"工程中"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打通国家枢纽节点与非枢纽节点间网络主干道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"的技术路线。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0990" y="5981550"/>
            <a:ext cx="11429714" cy="495288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57429" y="6152996"/>
            <a:ext cx="152396" cy="152396"/>
          </a:xfrm>
          <a:prstGeom prst="rect">
            <a:avLst/>
          </a:prstGeom>
        </p:spPr>
      </p:pic>
      <p:sp>
        <p:nvSpPr>
          <p:cNvPr id="41" name="Text 17"/>
          <p:cNvSpPr/>
          <p:nvPr/>
        </p:nvSpPr>
        <p:spPr>
          <a:xfrm>
            <a:off x="3086023" y="6133947"/>
            <a:ext cx="29427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全面响应《国家数据基础设施建设指引》政策要求</a:t>
            </a:r>
            <a:endParaRPr lang="en-US" sz="105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244" y="6152996"/>
            <a:ext cx="9525" cy="152396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6363" y="6152996"/>
            <a:ext cx="152396" cy="152396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6714957" y="6133947"/>
            <a:ext cx="263797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实现数据"供得出、流得动、用得好、保安全"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满足基层AI应用需求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00120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285843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695408"/>
            <a:ext cx="5619610" cy="1543011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11" y="1914477"/>
            <a:ext cx="133347" cy="152396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752456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时间节点</a:t>
            </a:r>
            <a:endParaRPr lang="en-US" sz="1350" dirty="0"/>
          </a:p>
        </p:txBody>
      </p:sp>
      <p:sp>
        <p:nvSpPr>
          <p:cNvPr id="11" name="Text 3"/>
          <p:cNvSpPr/>
          <p:nvPr/>
        </p:nvSpPr>
        <p:spPr>
          <a:xfrm>
            <a:off x="542911" y="2257369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923902" y="2238319"/>
            <a:ext cx="14378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基层智能辅助广泛应用</a:t>
            </a:r>
            <a:endParaRPr lang="en-US" sz="1120" dirty="0"/>
          </a:p>
        </p:txBody>
      </p:sp>
      <p:sp>
        <p:nvSpPr>
          <p:cNvPr id="13" name="Text 5"/>
          <p:cNvSpPr/>
          <p:nvPr/>
        </p:nvSpPr>
        <p:spPr>
          <a:xfrm>
            <a:off x="542911" y="2571686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050" dirty="0"/>
          </a:p>
        </p:txBody>
      </p:sp>
      <p:sp>
        <p:nvSpPr>
          <p:cNvPr id="14" name="Text 6"/>
          <p:cNvSpPr/>
          <p:nvPr/>
        </p:nvSpPr>
        <p:spPr>
          <a:xfrm>
            <a:off x="923902" y="2552636"/>
            <a:ext cx="10092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基本实现全覆盖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3352716"/>
            <a:ext cx="5619610" cy="1543011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11" y="3571786"/>
            <a:ext cx="152396" cy="152396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771506" y="351463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核心任务</a:t>
            </a:r>
            <a:endParaRPr lang="en-US" sz="1350" dirty="0"/>
          </a:p>
        </p:txBody>
      </p:sp>
      <p:sp>
        <p:nvSpPr>
          <p:cNvPr id="18" name="Text 8"/>
          <p:cNvSpPr/>
          <p:nvPr/>
        </p:nvSpPr>
        <p:spPr>
          <a:xfrm>
            <a:off x="542911" y="3895628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的智能辅助诊疗系统，提供辅助诊疗、处方审核、随访管理等服务。</a:t>
            </a:r>
            <a:endParaRPr lang="en-US" sz="112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5000500"/>
            <a:ext cx="5619610" cy="1543011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11" y="5219570"/>
            <a:ext cx="190495" cy="152396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809605" y="516242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应用场景</a:t>
            </a:r>
            <a:endParaRPr lang="en-US" sz="1350" dirty="0"/>
          </a:p>
        </p:txBody>
      </p:sp>
      <p:sp>
        <p:nvSpPr>
          <p:cNvPr id="22" name="Text 10"/>
          <p:cNvSpPr/>
          <p:nvPr/>
        </p:nvSpPr>
        <p:spPr>
          <a:xfrm>
            <a:off x="542911" y="5543411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智慧县域医共体建设</a:t>
            </a:r>
            <a:endParaRPr lang="en-US" sz="1120" dirty="0"/>
          </a:p>
        </p:txBody>
      </p:sp>
      <p:sp>
        <p:nvSpPr>
          <p:cNvPr id="23" name="Text 11"/>
          <p:cNvSpPr/>
          <p:nvPr/>
        </p:nvSpPr>
        <p:spPr>
          <a:xfrm>
            <a:off x="542911" y="5848204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基层医疗卫生机构智慧化</a:t>
            </a:r>
            <a:endParaRPr lang="en-US" sz="112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1200120"/>
            <a:ext cx="304792" cy="304792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6818" y="1285843"/>
            <a:ext cx="133347" cy="133347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6610185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项目实现</a:t>
            </a:r>
            <a:endParaRPr lang="en-US" sz="15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095" y="1695408"/>
            <a:ext cx="5619610" cy="1562061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590" y="1914477"/>
            <a:ext cx="152396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6610185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实施路径</a:t>
            </a:r>
            <a:endParaRPr lang="en-US" sz="135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314517"/>
            <a:ext cx="57149" cy="57149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6514937" y="2238319"/>
            <a:ext cx="15807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2027年前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完成县域全覆盖</a:t>
            </a:r>
            <a:endParaRPr lang="en-US" sz="112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628834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14937" y="2552636"/>
            <a:ext cx="211411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2030年前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覆盖全国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104万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基层机构</a:t>
            </a:r>
            <a:endParaRPr lang="en-US" sz="1120" dirty="0"/>
          </a:p>
        </p:txBody>
      </p:sp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933627"/>
            <a:ext cx="57149" cy="57149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6514937" y="2857429"/>
            <a:ext cx="188552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数万元/机构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"低成本快速复制</a:t>
            </a:r>
            <a:endParaRPr lang="en-US" sz="1120" dirty="0"/>
          </a:p>
        </p:txBody>
      </p:sp>
      <p:pic>
        <p:nvPicPr>
          <p:cNvPr id="36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91095" y="3371766"/>
            <a:ext cx="5619610" cy="1809705"/>
          </a:xfrm>
          <a:prstGeom prst="rect">
            <a:avLst/>
          </a:prstGeom>
        </p:spPr>
      </p:pic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590" y="3590835"/>
            <a:ext cx="171446" cy="152396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6629234" y="353368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功能覆盖</a:t>
            </a:r>
            <a:endParaRPr lang="en-US" sz="1350" dirty="0"/>
          </a:p>
        </p:txBody>
      </p:sp>
      <p:sp>
        <p:nvSpPr>
          <p:cNvPr id="39" name="Text 18"/>
          <p:cNvSpPr/>
          <p:nvPr/>
        </p:nvSpPr>
        <p:spPr>
          <a:xfrm>
            <a:off x="6381590" y="3933727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全科</a:t>
            </a:r>
            <a:endParaRPr lang="en-US" sz="1050" dirty="0"/>
          </a:p>
        </p:txBody>
      </p:sp>
      <p:sp>
        <p:nvSpPr>
          <p:cNvPr id="40" name="Text 19"/>
          <p:cNvSpPr/>
          <p:nvPr/>
        </p:nvSpPr>
        <p:spPr>
          <a:xfrm>
            <a:off x="6724482" y="3914677"/>
            <a:ext cx="24379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92%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符合率的心内科大模型</a:t>
            </a:r>
            <a:endParaRPr lang="en-US" sz="1120" dirty="0"/>
          </a:p>
        </p:txBody>
      </p:sp>
      <p:sp>
        <p:nvSpPr>
          <p:cNvPr id="41" name="Text 20"/>
          <p:cNvSpPr/>
          <p:nvPr/>
        </p:nvSpPr>
        <p:spPr>
          <a:xfrm>
            <a:off x="6381590" y="421947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处方</a:t>
            </a:r>
            <a:endParaRPr lang="en-US" sz="1050" dirty="0"/>
          </a:p>
        </p:txBody>
      </p:sp>
      <p:sp>
        <p:nvSpPr>
          <p:cNvPr id="42" name="Text 21"/>
          <p:cNvSpPr/>
          <p:nvPr/>
        </p:nvSpPr>
        <p:spPr>
          <a:xfrm>
            <a:off x="6724482" y="4200420"/>
            <a:ext cx="2866573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处方审核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：实时比对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质控指标并弹窗提示</a:t>
            </a:r>
            <a:endParaRPr lang="en-US" sz="1120" dirty="0"/>
          </a:p>
        </p:txBody>
      </p:sp>
      <p:sp>
        <p:nvSpPr>
          <p:cNvPr id="43" name="Text 22"/>
          <p:cNvSpPr/>
          <p:nvPr/>
        </p:nvSpPr>
        <p:spPr>
          <a:xfrm>
            <a:off x="6381590" y="4505212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随访</a:t>
            </a:r>
            <a:endParaRPr lang="en-US" sz="1050" dirty="0"/>
          </a:p>
        </p:txBody>
      </p:sp>
      <p:sp>
        <p:nvSpPr>
          <p:cNvPr id="44" name="Text 23"/>
          <p:cNvSpPr/>
          <p:nvPr/>
        </p:nvSpPr>
        <p:spPr>
          <a:xfrm>
            <a:off x="6724482" y="4486163"/>
            <a:ext cx="30094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随访管理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：自动生成随访计划与个性化干预建议</a:t>
            </a:r>
            <a:endParaRPr lang="en-US" sz="1120" dirty="0"/>
          </a:p>
        </p:txBody>
      </p:sp>
      <p:sp>
        <p:nvSpPr>
          <p:cNvPr id="45" name="Text 24"/>
          <p:cNvSpPr/>
          <p:nvPr/>
        </p:nvSpPr>
        <p:spPr>
          <a:xfrm>
            <a:off x="6381590" y="480048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中医</a:t>
            </a:r>
            <a:endParaRPr lang="en-US" sz="1050" dirty="0"/>
          </a:p>
        </p:txBody>
      </p:sp>
      <p:sp>
        <p:nvSpPr>
          <p:cNvPr id="46" name="Text 25"/>
          <p:cNvSpPr/>
          <p:nvPr/>
        </p:nvSpPr>
        <p:spPr>
          <a:xfrm>
            <a:off x="6724482" y="4781430"/>
            <a:ext cx="25808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中医智能辅诊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：支持辨证分型与处方推荐</a:t>
            </a:r>
            <a:endParaRPr lang="en-US" sz="1120" dirty="0"/>
          </a:p>
        </p:txBody>
      </p:sp>
      <p:pic>
        <p:nvPicPr>
          <p:cNvPr id="47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91095" y="5286243"/>
            <a:ext cx="5619610" cy="1247744"/>
          </a:xfrm>
          <a:prstGeom prst="rect">
            <a:avLst/>
          </a:prstGeom>
        </p:spPr>
      </p:pic>
      <p:pic>
        <p:nvPicPr>
          <p:cNvPr id="48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590" y="5505312"/>
            <a:ext cx="152396" cy="152396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6610185" y="5448164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全面赋能</a:t>
            </a:r>
            <a:endParaRPr lang="en-US" sz="1350" dirty="0"/>
          </a:p>
        </p:txBody>
      </p:sp>
      <p:pic>
        <p:nvPicPr>
          <p:cNvPr id="50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5905352"/>
            <a:ext cx="57149" cy="57149"/>
          </a:xfrm>
          <a:prstGeom prst="rect">
            <a:avLst/>
          </a:prstGeom>
        </p:spPr>
      </p:pic>
      <p:sp>
        <p:nvSpPr>
          <p:cNvPr id="51" name="Text 27"/>
          <p:cNvSpPr/>
          <p:nvPr/>
        </p:nvSpPr>
        <p:spPr>
          <a:xfrm>
            <a:off x="6514937" y="5829154"/>
            <a:ext cx="21712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覆盖政策列举的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23个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细分应用场景</a:t>
            </a:r>
            <a:endParaRPr lang="en-US" sz="112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6210145"/>
            <a:ext cx="57149" cy="57149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6514937" y="6133947"/>
            <a:ext cx="4723901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助力医疗质量、基本公卫、慢病协同管理、家庭医生签约等服务智能化升级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技术架构符合政策标准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项目采用分层式技术架构，从终端到数据中心，完全符合国家政策标准与规范要求。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00160"/>
            <a:ext cx="7467413" cy="1362041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1876378"/>
            <a:ext cx="457189" cy="457189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761981" y="1971626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3"/>
          <p:cNvSpPr/>
          <p:nvPr/>
        </p:nvSpPr>
        <p:spPr>
          <a:xfrm>
            <a:off x="1190595" y="1876378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终端层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190595" y="221927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支持键盘、平板手写、语音识别、智录四种录入方式，适配基层多样化硬件条件。满足政策对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"低成本、易使用"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的要求。</a:t>
            </a:r>
            <a:endParaRPr lang="en-US" sz="112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3076498"/>
            <a:ext cx="133347" cy="17144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3362241"/>
            <a:ext cx="7467413" cy="1362041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638459"/>
            <a:ext cx="457189" cy="45718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761981" y="3733707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6"/>
          <p:cNvSpPr/>
          <p:nvPr/>
        </p:nvSpPr>
        <p:spPr>
          <a:xfrm>
            <a:off x="1190595" y="3638459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区域AI服务中心层</a:t>
            </a:r>
            <a:endParaRPr lang="en-US" sz="1500" dirty="0"/>
          </a:p>
        </p:txBody>
      </p:sp>
      <p:sp>
        <p:nvSpPr>
          <p:cNvPr id="16" name="Text 7"/>
          <p:cNvSpPr/>
          <p:nvPr/>
        </p:nvSpPr>
        <p:spPr>
          <a:xfrm>
            <a:off x="1190595" y="398135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统一运行大模型、质控引擎、DRG引擎，模型与指南更新由中心统一推送，确保全网同步。对应政策提出的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"集约化建设、避免重复投入"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要求。</a:t>
            </a:r>
            <a:endParaRPr lang="en-US" sz="112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4838579"/>
            <a:ext cx="133347" cy="171446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5124322"/>
            <a:ext cx="7467413" cy="1362041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5400540"/>
            <a:ext cx="457189" cy="457189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761981" y="5495788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9"/>
          <p:cNvSpPr/>
          <p:nvPr/>
        </p:nvSpPr>
        <p:spPr>
          <a:xfrm>
            <a:off x="1190595" y="5400540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数据层</a:t>
            </a:r>
            <a:endParaRPr lang="en-US" sz="1500" dirty="0"/>
          </a:p>
        </p:txBody>
      </p:sp>
      <p:sp>
        <p:nvSpPr>
          <p:cNvPr id="22" name="Text 10"/>
          <p:cNvSpPr/>
          <p:nvPr/>
        </p:nvSpPr>
        <p:spPr>
          <a:xfrm>
            <a:off x="1190595" y="5743431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县级医共体统一汇聚电子病历、检验、影像、公卫数据，形成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"高质量数据集"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2" y="304792"/>
            <a:ext cx="11591254" cy="42861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实现政策目标预期效果</a:t>
            </a:r>
            <a:endParaRPr lang="en-US" sz="2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2" y="809605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04792" y="923902"/>
            <a:ext cx="115912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项目实施路径与国家政策时间节点精准对齐，并通过量化指标全面实现政策预期效果。</a:t>
            </a:r>
            <a:endParaRPr lang="en-US" sz="105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2" y="1295368"/>
            <a:ext cx="3809905" cy="526719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66713" y="1457289"/>
            <a:ext cx="349520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项目实施路径与政策节点对接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800180"/>
            <a:ext cx="3486063" cy="372418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13" y="5638659"/>
            <a:ext cx="3486063" cy="752456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66713" y="5762481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2027年</a:t>
            </a:r>
            <a:endParaRPr lang="en-US" sz="900" dirty="0"/>
          </a:p>
        </p:txBody>
      </p:sp>
      <p:sp>
        <p:nvSpPr>
          <p:cNvPr id="11" name="Text 4"/>
          <p:cNvSpPr/>
          <p:nvPr/>
        </p:nvSpPr>
        <p:spPr>
          <a:xfrm>
            <a:off x="466713" y="5952976"/>
            <a:ext cx="49490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5,000</a:t>
            </a:r>
            <a:endParaRPr lang="en-US" sz="1500" dirty="0"/>
          </a:p>
        </p:txBody>
      </p:sp>
      <p:sp>
        <p:nvSpPr>
          <p:cNvPr id="12" name="Text 5"/>
          <p:cNvSpPr/>
          <p:nvPr/>
        </p:nvSpPr>
        <p:spPr>
          <a:xfrm>
            <a:off x="466713" y="6238719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695" y="6010125"/>
            <a:ext cx="123822" cy="13334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3552736" y="5762481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2030年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3552736" y="5952976"/>
            <a:ext cx="418709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80万</a:t>
            </a:r>
            <a:endParaRPr lang="en-US" sz="1500" dirty="0"/>
          </a:p>
        </p:txBody>
      </p:sp>
      <p:sp>
        <p:nvSpPr>
          <p:cNvPr id="16" name="Text 8"/>
          <p:cNvSpPr/>
          <p:nvPr/>
        </p:nvSpPr>
        <p:spPr>
          <a:xfrm>
            <a:off x="3552736" y="6238719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1295368"/>
            <a:ext cx="7581710" cy="666733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1438239"/>
            <a:ext cx="266693" cy="266693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5212" y="1514437"/>
            <a:ext cx="133347" cy="114297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4790955" y="141919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诊断能力均等化</a:t>
            </a:r>
            <a:endParaRPr lang="en-US" sz="1050" dirty="0"/>
          </a:p>
        </p:txBody>
      </p:sp>
      <p:sp>
        <p:nvSpPr>
          <p:cNvPr id="21" name="Text 10"/>
          <p:cNvSpPr/>
          <p:nvPr/>
        </p:nvSpPr>
        <p:spPr>
          <a:xfrm>
            <a:off x="4790955" y="1647784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政策目标要求缩小基层与三甲医院诊疗差距，项目指标显示基层诊断准确率可由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60-75%提升至92%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，达到三甲专家水平。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2057349"/>
            <a:ext cx="7581710" cy="66673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200220"/>
            <a:ext cx="266693" cy="266693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4737" y="2276418"/>
            <a:ext cx="104772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790955" y="218117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数据驱动的行业治理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4790955" y="2409765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政策目标要求建立高质量数据集，项目指标为每县域年均新增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结构化病历≥10万份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影像数据≥50万幅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，实时回传国家数据中心。</a:t>
            </a:r>
            <a:endParaRPr lang="en-US" sz="9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2809805"/>
            <a:ext cx="7581710" cy="84770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952676"/>
            <a:ext cx="266693" cy="266693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5212" y="3028874"/>
            <a:ext cx="133347" cy="114297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4790955" y="2933627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医保资金效率提升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4790955" y="3162221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政策目标要求DRG/DIP改革在基层落地，项目指标可实现基层DRG分组准确率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，医保拒付率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下降50%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，县域医保基金结余率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提升3-5个百分点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3752756"/>
            <a:ext cx="7581710" cy="84770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3895628"/>
            <a:ext cx="266693" cy="266693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688" y="3971826"/>
            <a:ext cx="142871" cy="114297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4790955" y="3876578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基层医生工作负荷减轻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4790955" y="4105172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政策目标要求让基层医生"愿意留在基层"，项目指标可将文书书写时间由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1-2小时/份压缩至10-15分钟/份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，日均节省3-5小时，医生满意度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提升40%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4695708"/>
            <a:ext cx="7581710" cy="847704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4838579"/>
            <a:ext cx="266693" cy="266693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5212" y="4914777"/>
            <a:ext cx="133347" cy="114297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4790955" y="481953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区域复制与产业带动</a:t>
            </a:r>
            <a:endParaRPr lang="en-US" sz="1050" dirty="0"/>
          </a:p>
        </p:txBody>
      </p:sp>
      <p:sp>
        <p:nvSpPr>
          <p:cNvPr id="41" name="Text 18"/>
          <p:cNvSpPr/>
          <p:nvPr/>
        </p:nvSpPr>
        <p:spPr>
          <a:xfrm>
            <a:off x="4790955" y="5048124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政策目标要求打造全球领先的医疗AI科技创新基地，项目指标为形成可复制的"基层AI+紧密型医共体"解决方案，为全国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104万基层机构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提供实战训练场，带动产业链产值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超千亿元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诊断编码不完整直接导致DRG分组不准确，医院无法获得应有的医保支付。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/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/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/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AI增强临床决策，</a:t>
            </a:r>
            <a:r>
              <a:rPr lang="en-US" sz="18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3"/>
            </p:custDataLst>
          </p:nvPr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>
            <p:custDataLst>
              <p:tags r:id="rId14"/>
            </p:custDataLst>
          </p:nvPr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硬件投入仅需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5~10万元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19"/>
            </p:custDataLst>
          </p:nvPr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>
            <p:custDataLst>
              <p:tags r:id="rId20"/>
            </p:custDataLst>
          </p:nvPr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患者敏感数据本地加密处理，遵循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"最小必要化"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原则，确保数据安全与合规。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4"/>
            </p:custDataLst>
          </p:nvPr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>
            <p:custDataLst>
              <p:tags r:id="rId25"/>
            </p:custDataLst>
          </p:nvPr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0"/>
            </p:custDataLst>
          </p:nvPr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>
            <p:custDataLst>
              <p:tags r:id="rId31"/>
            </p:custDataLst>
          </p:nvPr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由医生主导设计，充分贴合临床实际工作流与需求，确保系统好用、爱用。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32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33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实时对比医保支付标准与实际费用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4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5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支持医生通过语音实时录入病历，AI辅助整理格式，</a:t>
            </a:r>
            <a:r>
              <a:rPr lang="en-US" sz="13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大幅提升病历书写效率</a:t>
            </a: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延迟&lt;1秒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识别结果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可直接写入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2~3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8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免除服务器采购与运维人员配置，按</a:t>
            </a:r>
            <a:r>
              <a:rPr lang="zh-CN" alt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付费</a:t>
            </a:r>
            <a:endParaRPr lang="en-US" sz="90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/>
          <p:cNvPicPr>
            <a:picLocks noChangeAspect="1"/>
          </p:cNvPicPr>
          <p:nvPr/>
        </p:nvPicPr>
        <p:blipFill>
          <a:blip r:embed="rId17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63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与国家政策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核心定位完全对标</a:t>
            </a:r>
            <a:endParaRPr lang="en-US" sz="3000" dirty="0"/>
          </a:p>
        </p:txBody>
      </p:sp>
      <p:sp>
        <p:nvSpPr>
          <p:cNvPr id="64" name="Text 1"/>
          <p:cNvSpPr/>
          <p:nvPr/>
        </p:nvSpPr>
        <p:spPr>
          <a:xfrm>
            <a:off x="457189" y="1142971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展示系统与政策要求的高度契合，体现"基层医院用得起、用得好的AI"定位</a:t>
            </a:r>
            <a:endParaRPr lang="en-US" sz="135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1733507"/>
            <a:ext cx="5543411" cy="1733507"/>
          </a:xfrm>
          <a:prstGeom prst="rect">
            <a:avLst/>
          </a:prstGeom>
        </p:spPr>
      </p:pic>
      <p:pic>
        <p:nvPicPr>
          <p:cNvPr id="6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1971626"/>
            <a:ext cx="5067173" cy="390515"/>
          </a:xfrm>
          <a:prstGeom prst="rect">
            <a:avLst/>
          </a:prstGeom>
        </p:spPr>
      </p:pic>
      <p:sp>
        <p:nvSpPr>
          <p:cNvPr id="67" name="Text 2"/>
          <p:cNvSpPr/>
          <p:nvPr/>
        </p:nvSpPr>
        <p:spPr>
          <a:xfrm>
            <a:off x="695308" y="1971626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降低基层应用成本</a:t>
            </a:r>
            <a:endParaRPr lang="en-US" sz="1500" dirty="0"/>
          </a:p>
        </p:txBody>
      </p:sp>
      <p:sp>
        <p:nvSpPr>
          <p:cNvPr id="68" name="Text 3"/>
          <p:cNvSpPr/>
          <p:nvPr/>
        </p:nvSpPr>
        <p:spPr>
          <a:xfrm>
            <a:off x="4457589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2047824"/>
            <a:ext cx="133347" cy="114297"/>
          </a:xfrm>
          <a:prstGeom prst="rect">
            <a:avLst/>
          </a:prstGeom>
        </p:spPr>
      </p:pic>
      <p:pic>
        <p:nvPicPr>
          <p:cNvPr id="7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2047824"/>
            <a:ext cx="133347" cy="114297"/>
          </a:xfrm>
          <a:prstGeom prst="rect">
            <a:avLst/>
          </a:prstGeom>
        </p:spPr>
      </p:pic>
      <p:pic>
        <p:nvPicPr>
          <p:cNvPr id="7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2047824"/>
            <a:ext cx="133347" cy="114297"/>
          </a:xfrm>
          <a:prstGeom prst="rect">
            <a:avLst/>
          </a:prstGeom>
        </p:spPr>
      </p:pic>
      <p:pic>
        <p:nvPicPr>
          <p:cNvPr id="7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2047824"/>
            <a:ext cx="133347" cy="114297"/>
          </a:xfrm>
          <a:prstGeom prst="rect">
            <a:avLst/>
          </a:prstGeom>
        </p:spPr>
      </p:pic>
      <p:pic>
        <p:nvPicPr>
          <p:cNvPr id="7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2047824"/>
            <a:ext cx="133347" cy="114297"/>
          </a:xfrm>
          <a:prstGeom prst="rect">
            <a:avLst/>
          </a:prstGeom>
        </p:spPr>
      </p:pic>
      <p:sp>
        <p:nvSpPr>
          <p:cNvPr id="74" name="Text 4"/>
          <p:cNvSpPr/>
          <p:nvPr/>
        </p:nvSpPr>
        <p:spPr>
          <a:xfrm>
            <a:off x="695308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75" name="Text 5"/>
          <p:cNvSpPr/>
          <p:nvPr/>
        </p:nvSpPr>
        <p:spPr>
          <a:xfrm>
            <a:off x="695308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降低基层AI应用门槛</a:t>
            </a:r>
            <a:endParaRPr lang="en-US" sz="1050" dirty="0"/>
          </a:p>
        </p:txBody>
      </p:sp>
      <p:sp>
        <p:nvSpPr>
          <p:cNvPr id="76" name="Text 6"/>
          <p:cNvSpPr/>
          <p:nvPr/>
        </p:nvSpPr>
        <p:spPr>
          <a:xfrm>
            <a:off x="3305092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77" name="Text 7"/>
          <p:cNvSpPr/>
          <p:nvPr/>
        </p:nvSpPr>
        <p:spPr>
          <a:xfrm>
            <a:off x="3305092" y="2743131"/>
            <a:ext cx="2466533" cy="447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5-10万元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（传统AI系统百万级）</a:t>
            </a:r>
            <a:endParaRPr lang="en-US" sz="1050" dirty="0"/>
          </a:p>
        </p:txBody>
      </p:sp>
      <p:pic>
        <p:nvPicPr>
          <p:cNvPr id="7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95" y="1733507"/>
            <a:ext cx="5543411" cy="1733507"/>
          </a:xfrm>
          <a:prstGeom prst="rect">
            <a:avLst/>
          </a:prstGeom>
        </p:spPr>
      </p:pic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1971626"/>
            <a:ext cx="5067173" cy="390515"/>
          </a:xfrm>
          <a:prstGeom prst="rect">
            <a:avLst/>
          </a:prstGeom>
        </p:spPr>
      </p:pic>
      <p:sp>
        <p:nvSpPr>
          <p:cNvPr id="80" name="Text 8"/>
          <p:cNvSpPr/>
          <p:nvPr/>
        </p:nvSpPr>
        <p:spPr>
          <a:xfrm>
            <a:off x="6429214" y="197162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支持快速部署</a:t>
            </a:r>
            <a:endParaRPr lang="en-US" sz="1500" dirty="0"/>
          </a:p>
        </p:txBody>
      </p:sp>
      <p:sp>
        <p:nvSpPr>
          <p:cNvPr id="81" name="Text 9"/>
          <p:cNvSpPr/>
          <p:nvPr/>
        </p:nvSpPr>
        <p:spPr>
          <a:xfrm>
            <a:off x="10191495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8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2047824"/>
            <a:ext cx="133347" cy="114297"/>
          </a:xfrm>
          <a:prstGeom prst="rect">
            <a:avLst/>
          </a:prstGeom>
        </p:spPr>
      </p:pic>
      <p:pic>
        <p:nvPicPr>
          <p:cNvPr id="8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2047824"/>
            <a:ext cx="133347" cy="114297"/>
          </a:xfrm>
          <a:prstGeom prst="rect">
            <a:avLst/>
          </a:prstGeom>
        </p:spPr>
      </p:pic>
      <p:pic>
        <p:nvPicPr>
          <p:cNvPr id="8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2047824"/>
            <a:ext cx="133347" cy="114297"/>
          </a:xfrm>
          <a:prstGeom prst="rect">
            <a:avLst/>
          </a:prstGeom>
        </p:spPr>
      </p:pic>
      <p:pic>
        <p:nvPicPr>
          <p:cNvPr id="85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2047824"/>
            <a:ext cx="133347" cy="114297"/>
          </a:xfrm>
          <a:prstGeom prst="rect">
            <a:avLst/>
          </a:prstGeom>
        </p:spPr>
      </p:pic>
      <p:pic>
        <p:nvPicPr>
          <p:cNvPr id="8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2047824"/>
            <a:ext cx="133347" cy="114297"/>
          </a:xfrm>
          <a:prstGeom prst="rect">
            <a:avLst/>
          </a:prstGeom>
        </p:spPr>
      </p:pic>
      <p:sp>
        <p:nvSpPr>
          <p:cNvPr id="87" name="Text 10"/>
          <p:cNvSpPr/>
          <p:nvPr/>
        </p:nvSpPr>
        <p:spPr>
          <a:xfrm>
            <a:off x="6429214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88" name="Text 11"/>
          <p:cNvSpPr/>
          <p:nvPr/>
        </p:nvSpPr>
        <p:spPr>
          <a:xfrm>
            <a:off x="6429214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1050" dirty="0"/>
          </a:p>
        </p:txBody>
      </p:sp>
      <p:sp>
        <p:nvSpPr>
          <p:cNvPr id="89" name="Text 12"/>
          <p:cNvSpPr/>
          <p:nvPr/>
        </p:nvSpPr>
        <p:spPr>
          <a:xfrm>
            <a:off x="9038999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90" name="Text 13"/>
          <p:cNvSpPr/>
          <p:nvPr/>
        </p:nvSpPr>
        <p:spPr>
          <a:xfrm>
            <a:off x="9038999" y="2743131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Docker容器化一键部署，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1-2周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上线</a:t>
            </a:r>
            <a:endParaRPr lang="en-US" sz="1050" dirty="0"/>
          </a:p>
        </p:txBody>
      </p:sp>
      <p:pic>
        <p:nvPicPr>
          <p:cNvPr id="91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3647984"/>
            <a:ext cx="5543411" cy="1743031"/>
          </a:xfrm>
          <a:prstGeom prst="rect">
            <a:avLst/>
          </a:prstGeom>
        </p:spPr>
      </p:pic>
      <p:pic>
        <p:nvPicPr>
          <p:cNvPr id="92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3886103"/>
            <a:ext cx="5067173" cy="390515"/>
          </a:xfrm>
          <a:prstGeom prst="rect">
            <a:avLst/>
          </a:prstGeom>
        </p:spPr>
      </p:pic>
      <p:sp>
        <p:nvSpPr>
          <p:cNvPr id="93" name="Text 14"/>
          <p:cNvSpPr/>
          <p:nvPr/>
        </p:nvSpPr>
        <p:spPr>
          <a:xfrm>
            <a:off x="695308" y="3886103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易于维护</a:t>
            </a:r>
            <a:endParaRPr lang="en-US" sz="1500" dirty="0"/>
          </a:p>
        </p:txBody>
      </p:sp>
      <p:sp>
        <p:nvSpPr>
          <p:cNvPr id="94" name="Text 15"/>
          <p:cNvSpPr/>
          <p:nvPr/>
        </p:nvSpPr>
        <p:spPr>
          <a:xfrm>
            <a:off x="4457589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95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3962301"/>
            <a:ext cx="133347" cy="114297"/>
          </a:xfrm>
          <a:prstGeom prst="rect">
            <a:avLst/>
          </a:prstGeom>
        </p:spPr>
      </p:pic>
      <p:pic>
        <p:nvPicPr>
          <p:cNvPr id="96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3962301"/>
            <a:ext cx="133347" cy="114297"/>
          </a:xfrm>
          <a:prstGeom prst="rect">
            <a:avLst/>
          </a:prstGeom>
        </p:spPr>
      </p:pic>
      <p:pic>
        <p:nvPicPr>
          <p:cNvPr id="97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3962301"/>
            <a:ext cx="133347" cy="114297"/>
          </a:xfrm>
          <a:prstGeom prst="rect">
            <a:avLst/>
          </a:prstGeom>
        </p:spPr>
      </p:pic>
      <p:pic>
        <p:nvPicPr>
          <p:cNvPr id="98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3962301"/>
            <a:ext cx="133347" cy="114297"/>
          </a:xfrm>
          <a:prstGeom prst="rect">
            <a:avLst/>
          </a:prstGeom>
        </p:spPr>
      </p:pic>
      <p:pic>
        <p:nvPicPr>
          <p:cNvPr id="99" name="Image 2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3962301"/>
            <a:ext cx="133347" cy="114297"/>
          </a:xfrm>
          <a:prstGeom prst="rect">
            <a:avLst/>
          </a:prstGeom>
        </p:spPr>
      </p:pic>
      <p:sp>
        <p:nvSpPr>
          <p:cNvPr id="100" name="Text 16"/>
          <p:cNvSpPr/>
          <p:nvPr/>
        </p:nvSpPr>
        <p:spPr>
          <a:xfrm>
            <a:off x="695308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01" name="Text 17"/>
          <p:cNvSpPr/>
          <p:nvPr/>
        </p:nvSpPr>
        <p:spPr>
          <a:xfrm>
            <a:off x="695308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降低运维难度</a:t>
            </a:r>
            <a:endParaRPr lang="en-US" sz="1050" dirty="0"/>
          </a:p>
        </p:txBody>
      </p:sp>
      <p:sp>
        <p:nvSpPr>
          <p:cNvPr id="102" name="Text 18"/>
          <p:cNvSpPr/>
          <p:nvPr/>
        </p:nvSpPr>
        <p:spPr>
          <a:xfrm>
            <a:off x="3305092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03" name="Text 19"/>
          <p:cNvSpPr/>
          <p:nvPr/>
        </p:nvSpPr>
        <p:spPr>
          <a:xfrm>
            <a:off x="3305092" y="4657609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1名IT人员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即可维护</a:t>
            </a:r>
            <a:endParaRPr lang="en-US" sz="1050" dirty="0"/>
          </a:p>
        </p:txBody>
      </p:sp>
      <p:pic>
        <p:nvPicPr>
          <p:cNvPr id="104" name="Image 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095" y="3647984"/>
            <a:ext cx="5543411" cy="1743031"/>
          </a:xfrm>
          <a:prstGeom prst="rect">
            <a:avLst/>
          </a:prstGeom>
        </p:spPr>
      </p:pic>
      <p:pic>
        <p:nvPicPr>
          <p:cNvPr id="105" name="Image 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3886103"/>
            <a:ext cx="5067173" cy="390515"/>
          </a:xfrm>
          <a:prstGeom prst="rect">
            <a:avLst/>
          </a:prstGeom>
        </p:spPr>
      </p:pic>
      <p:sp>
        <p:nvSpPr>
          <p:cNvPr id="106" name="Text 20"/>
          <p:cNvSpPr/>
          <p:nvPr/>
        </p:nvSpPr>
        <p:spPr>
          <a:xfrm>
            <a:off x="6429214" y="3886103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支持中小医疗机构</a:t>
            </a:r>
            <a:endParaRPr lang="en-US" sz="1500" dirty="0"/>
          </a:p>
        </p:txBody>
      </p:sp>
      <p:sp>
        <p:nvSpPr>
          <p:cNvPr id="107" name="Text 21"/>
          <p:cNvSpPr/>
          <p:nvPr/>
        </p:nvSpPr>
        <p:spPr>
          <a:xfrm>
            <a:off x="10191495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108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3962301"/>
            <a:ext cx="133347" cy="114297"/>
          </a:xfrm>
          <a:prstGeom prst="rect">
            <a:avLst/>
          </a:prstGeom>
        </p:spPr>
      </p:pic>
      <p:pic>
        <p:nvPicPr>
          <p:cNvPr id="109" name="Image 2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3962301"/>
            <a:ext cx="133347" cy="114297"/>
          </a:xfrm>
          <a:prstGeom prst="rect">
            <a:avLst/>
          </a:prstGeom>
        </p:spPr>
      </p:pic>
      <p:pic>
        <p:nvPicPr>
          <p:cNvPr id="110" name="Image 2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3962301"/>
            <a:ext cx="133347" cy="114297"/>
          </a:xfrm>
          <a:prstGeom prst="rect">
            <a:avLst/>
          </a:prstGeom>
        </p:spPr>
      </p:pic>
      <p:pic>
        <p:nvPicPr>
          <p:cNvPr id="111" name="Image 2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3962301"/>
            <a:ext cx="133347" cy="114297"/>
          </a:xfrm>
          <a:prstGeom prst="rect">
            <a:avLst/>
          </a:prstGeom>
        </p:spPr>
      </p:pic>
      <p:pic>
        <p:nvPicPr>
          <p:cNvPr id="112" name="Image 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3962301"/>
            <a:ext cx="133347" cy="114297"/>
          </a:xfrm>
          <a:prstGeom prst="rect">
            <a:avLst/>
          </a:prstGeom>
        </p:spPr>
      </p:pic>
      <p:sp>
        <p:nvSpPr>
          <p:cNvPr id="113" name="Text 22"/>
          <p:cNvSpPr/>
          <p:nvPr/>
        </p:nvSpPr>
        <p:spPr>
          <a:xfrm>
            <a:off x="6429214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14" name="Text 23"/>
          <p:cNvSpPr/>
          <p:nvPr/>
        </p:nvSpPr>
        <p:spPr>
          <a:xfrm>
            <a:off x="6429214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服务基层医院</a:t>
            </a:r>
            <a:endParaRPr lang="en-US" sz="1050" dirty="0"/>
          </a:p>
        </p:txBody>
      </p:sp>
      <p:sp>
        <p:nvSpPr>
          <p:cNvPr id="115" name="Text 24"/>
          <p:cNvSpPr/>
          <p:nvPr/>
        </p:nvSpPr>
        <p:spPr>
          <a:xfrm>
            <a:off x="9038999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16" name="Text 25"/>
          <p:cNvSpPr/>
          <p:nvPr/>
        </p:nvSpPr>
        <p:spPr>
          <a:xfrm>
            <a:off x="9038999" y="4657609"/>
            <a:ext cx="2466533" cy="45718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专为基层医院设计，对标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紧密型县域医共体</a:t>
            </a:r>
            <a:endParaRPr lang="en-US" sz="1050" dirty="0"/>
          </a:p>
        </p:txBody>
      </p:sp>
      <p:pic>
        <p:nvPicPr>
          <p:cNvPr id="117" name="Image 2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89" y="5619610"/>
            <a:ext cx="11277318" cy="790555"/>
          </a:xfrm>
          <a:prstGeom prst="rect">
            <a:avLst/>
          </a:prstGeom>
        </p:spPr>
      </p:pic>
      <p:pic>
        <p:nvPicPr>
          <p:cNvPr id="118" name="Image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783" y="5848204"/>
            <a:ext cx="123822" cy="133347"/>
          </a:xfrm>
          <a:prstGeom prst="rect">
            <a:avLst/>
          </a:prstGeom>
        </p:spPr>
      </p:pic>
      <p:sp>
        <p:nvSpPr>
          <p:cNvPr id="119" name="Text 26"/>
          <p:cNvSpPr/>
          <p:nvPr/>
        </p:nvSpPr>
        <p:spPr>
          <a:xfrm>
            <a:off x="923902" y="5810105"/>
            <a:ext cx="734321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政策依据</a:t>
            </a:r>
            <a:endParaRPr lang="en-US" sz="900" dirty="0"/>
          </a:p>
        </p:txBody>
      </p:sp>
      <p:sp>
        <p:nvSpPr>
          <p:cNvPr id="120" name="Text 27"/>
          <p:cNvSpPr/>
          <p:nvPr/>
        </p:nvSpPr>
        <p:spPr>
          <a:xfrm>
            <a:off x="923902" y="6000600"/>
            <a:ext cx="73432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国家卫健委要求"鼓励由省级统筹集约化建设AI服务平台"，降低基层成本；系统的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单院/区域中心双模式部署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完全满足此要求。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51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功能体系全面对应</a:t>
            </a:r>
            <a:endParaRPr lang="en-US" sz="3000" dirty="0"/>
          </a:p>
        </p:txBody>
      </p:sp>
      <p:sp>
        <p:nvSpPr>
          <p:cNvPr id="52" name="Text 1"/>
          <p:cNvSpPr/>
          <p:nvPr/>
        </p:nvSpPr>
        <p:spPr>
          <a:xfrm>
            <a:off x="457189" y="1142971"/>
            <a:ext cx="11286462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展示系统功能与政策五大应用方向的完整匹配关系</a:t>
            </a:r>
            <a:endParaRPr lang="en-US" sz="1350" dirty="0"/>
          </a:p>
        </p:txBody>
      </p:sp>
      <p:pic>
        <p:nvPicPr>
          <p:cNvPr id="5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143071"/>
            <a:ext cx="3638459" cy="1800180"/>
          </a:xfrm>
          <a:prstGeom prst="rect">
            <a:avLst/>
          </a:prstGeom>
        </p:spPr>
      </p:pic>
      <p:pic>
        <p:nvPicPr>
          <p:cNvPr id="5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09" y="2343091"/>
            <a:ext cx="3238419" cy="352416"/>
          </a:xfrm>
          <a:prstGeom prst="rect">
            <a:avLst/>
          </a:prstGeom>
        </p:spPr>
      </p:pic>
      <p:sp>
        <p:nvSpPr>
          <p:cNvPr id="55" name="Text 2"/>
          <p:cNvSpPr/>
          <p:nvPr/>
        </p:nvSpPr>
        <p:spPr>
          <a:xfrm>
            <a:off x="657209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医共体内部智能化赋能</a:t>
            </a:r>
            <a:endParaRPr lang="en-US" sz="1350" dirty="0"/>
          </a:p>
        </p:txBody>
      </p:sp>
      <p:pic>
        <p:nvPicPr>
          <p:cNvPr id="5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746" y="2343091"/>
            <a:ext cx="723882" cy="228594"/>
          </a:xfrm>
          <a:prstGeom prst="rect">
            <a:avLst/>
          </a:prstGeom>
        </p:spPr>
      </p:pic>
      <p:sp>
        <p:nvSpPr>
          <p:cNvPr id="57" name="Text 3"/>
          <p:cNvSpPr/>
          <p:nvPr/>
        </p:nvSpPr>
        <p:spPr>
          <a:xfrm>
            <a:off x="3247944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58" name="Text 4"/>
          <p:cNvSpPr/>
          <p:nvPr/>
        </p:nvSpPr>
        <p:spPr>
          <a:xfrm>
            <a:off x="657209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59" name="Text 5"/>
          <p:cNvSpPr/>
          <p:nvPr/>
        </p:nvSpPr>
        <p:spPr>
          <a:xfrm>
            <a:off x="657209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提升医共体整体诊疗水平</a:t>
            </a:r>
            <a:endParaRPr lang="en-US" sz="1050" dirty="0"/>
          </a:p>
        </p:txBody>
      </p:sp>
      <p:sp>
        <p:nvSpPr>
          <p:cNvPr id="60" name="Text 6"/>
          <p:cNvSpPr/>
          <p:nvPr/>
        </p:nvSpPr>
        <p:spPr>
          <a:xfrm>
            <a:off x="657209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61" name="Text 7"/>
          <p:cNvSpPr/>
          <p:nvPr/>
        </p:nvSpPr>
        <p:spPr>
          <a:xfrm>
            <a:off x="657209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DRG智能分析系统、MCC/CC并发症智能筛查</a:t>
            </a:r>
            <a:endParaRPr lang="en-US" sz="1050" dirty="0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2143071"/>
            <a:ext cx="3638459" cy="1800180"/>
          </a:xfrm>
          <a:prstGeom prst="rect">
            <a:avLst/>
          </a:prstGeom>
        </p:spPr>
      </p:pic>
      <p:pic>
        <p:nvPicPr>
          <p:cNvPr id="6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2343091"/>
            <a:ext cx="3238419" cy="352416"/>
          </a:xfrm>
          <a:prstGeom prst="rect">
            <a:avLst/>
          </a:prstGeom>
        </p:spPr>
      </p:pic>
      <p:sp>
        <p:nvSpPr>
          <p:cNvPr id="64" name="Text 8"/>
          <p:cNvSpPr/>
          <p:nvPr/>
        </p:nvSpPr>
        <p:spPr>
          <a:xfrm>
            <a:off x="4486163" y="2343091"/>
            <a:ext cx="138071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基层医生"AI助手"</a:t>
            </a:r>
            <a:endParaRPr lang="en-US" sz="1350" dirty="0"/>
          </a:p>
        </p:txBody>
      </p:sp>
      <p:pic>
        <p:nvPicPr>
          <p:cNvPr id="6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1175" y="2343091"/>
            <a:ext cx="723882" cy="228594"/>
          </a:xfrm>
          <a:prstGeom prst="rect">
            <a:avLst/>
          </a:prstGeom>
        </p:spPr>
      </p:pic>
      <p:sp>
        <p:nvSpPr>
          <p:cNvPr id="66" name="Text 9"/>
          <p:cNvSpPr/>
          <p:nvPr/>
        </p:nvSpPr>
        <p:spPr>
          <a:xfrm>
            <a:off x="706737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67" name="Text 10"/>
          <p:cNvSpPr/>
          <p:nvPr/>
        </p:nvSpPr>
        <p:spPr>
          <a:xfrm>
            <a:off x="4486163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68" name="Text 11"/>
          <p:cNvSpPr/>
          <p:nvPr/>
        </p:nvSpPr>
        <p:spPr>
          <a:xfrm>
            <a:off x="4486163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为基层医生提供智能辅助</a:t>
            </a:r>
            <a:endParaRPr lang="en-US" sz="1050" dirty="0"/>
          </a:p>
        </p:txBody>
      </p:sp>
      <p:sp>
        <p:nvSpPr>
          <p:cNvPr id="69" name="Text 12"/>
          <p:cNvSpPr/>
          <p:nvPr/>
        </p:nvSpPr>
        <p:spPr>
          <a:xfrm>
            <a:off x="4486163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0" name="Text 13"/>
          <p:cNvSpPr/>
          <p:nvPr/>
        </p:nvSpPr>
        <p:spPr>
          <a:xfrm>
            <a:off x="4486163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AI诊疗辅助系统、Prompt智能组装</a:t>
            </a:r>
            <a:endParaRPr lang="en-US" sz="1050" dirty="0"/>
          </a:p>
        </p:txBody>
      </p:sp>
      <p:pic>
        <p:nvPicPr>
          <p:cNvPr id="7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2143071"/>
            <a:ext cx="3638459" cy="1800180"/>
          </a:xfrm>
          <a:prstGeom prst="rect">
            <a:avLst/>
          </a:prstGeom>
        </p:spPr>
      </p:pic>
      <p:pic>
        <p:nvPicPr>
          <p:cNvPr id="7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2343091"/>
            <a:ext cx="3238419" cy="352416"/>
          </a:xfrm>
          <a:prstGeom prst="rect">
            <a:avLst/>
          </a:prstGeom>
        </p:spPr>
      </p:pic>
      <p:sp>
        <p:nvSpPr>
          <p:cNvPr id="73" name="Text 14"/>
          <p:cNvSpPr/>
          <p:nvPr/>
        </p:nvSpPr>
        <p:spPr>
          <a:xfrm>
            <a:off x="8305592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慢性病与重点人群管理</a:t>
            </a:r>
            <a:endParaRPr lang="en-US" sz="1350" dirty="0"/>
          </a:p>
        </p:txBody>
      </p:sp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0605" y="2343091"/>
            <a:ext cx="723882" cy="228594"/>
          </a:xfrm>
          <a:prstGeom prst="rect">
            <a:avLst/>
          </a:prstGeom>
        </p:spPr>
      </p:pic>
      <p:sp>
        <p:nvSpPr>
          <p:cNvPr id="75" name="Text 15"/>
          <p:cNvSpPr/>
          <p:nvPr/>
        </p:nvSpPr>
        <p:spPr>
          <a:xfrm>
            <a:off x="1088680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40A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已基础实现</a:t>
            </a:r>
            <a:endParaRPr lang="en-US" sz="900" dirty="0"/>
          </a:p>
        </p:txBody>
      </p:sp>
      <p:sp>
        <p:nvSpPr>
          <p:cNvPr id="76" name="Text 16"/>
          <p:cNvSpPr/>
          <p:nvPr/>
        </p:nvSpPr>
        <p:spPr>
          <a:xfrm>
            <a:off x="8305592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77" name="Text 17"/>
          <p:cNvSpPr/>
          <p:nvPr/>
        </p:nvSpPr>
        <p:spPr>
          <a:xfrm>
            <a:off x="8305592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加强慢病管理和重点人群健康服务</a:t>
            </a:r>
            <a:endParaRPr lang="en-US" sz="1050" dirty="0"/>
          </a:p>
        </p:txBody>
      </p:sp>
      <p:sp>
        <p:nvSpPr>
          <p:cNvPr id="78" name="Text 18"/>
          <p:cNvSpPr/>
          <p:nvPr/>
        </p:nvSpPr>
        <p:spPr>
          <a:xfrm>
            <a:off x="8305592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9" name="Text 19"/>
          <p:cNvSpPr/>
          <p:nvPr/>
        </p:nvSpPr>
        <p:spPr>
          <a:xfrm>
            <a:off x="8305592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患者数据管理、待办事项生成（医生提醒）</a:t>
            </a:r>
            <a:endParaRPr lang="en-US" sz="1050" dirty="0"/>
          </a:p>
        </p:txBody>
      </p:sp>
      <p:pic>
        <p:nvPicPr>
          <p:cNvPr id="80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4124222"/>
            <a:ext cx="3638459" cy="1800180"/>
          </a:xfrm>
          <a:prstGeom prst="rect">
            <a:avLst/>
          </a:prstGeom>
        </p:spPr>
      </p:pic>
      <p:pic>
        <p:nvPicPr>
          <p:cNvPr id="81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4324242"/>
            <a:ext cx="3238419" cy="352416"/>
          </a:xfrm>
          <a:prstGeom prst="rect">
            <a:avLst/>
          </a:prstGeom>
        </p:spPr>
      </p:pic>
      <p:sp>
        <p:nvSpPr>
          <p:cNvPr id="82" name="Text 20"/>
          <p:cNvSpPr/>
          <p:nvPr/>
        </p:nvSpPr>
        <p:spPr>
          <a:xfrm>
            <a:off x="4486163" y="4333767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医学影像分析</a:t>
            </a:r>
            <a:endParaRPr lang="en-US" sz="1350" dirty="0"/>
          </a:p>
        </p:txBody>
      </p:sp>
      <p:pic>
        <p:nvPicPr>
          <p:cNvPr id="83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19770" y="4324242"/>
            <a:ext cx="495288" cy="228594"/>
          </a:xfrm>
          <a:prstGeom prst="rect">
            <a:avLst/>
          </a:prstGeom>
        </p:spPr>
      </p:pic>
      <p:sp>
        <p:nvSpPr>
          <p:cNvPr id="84" name="Text 21"/>
          <p:cNvSpPr/>
          <p:nvPr/>
        </p:nvSpPr>
        <p:spPr>
          <a:xfrm>
            <a:off x="7295968" y="4362341"/>
            <a:ext cx="35203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规划中</a:t>
            </a:r>
            <a:endParaRPr lang="en-US" sz="900" dirty="0"/>
          </a:p>
        </p:txBody>
      </p:sp>
      <p:sp>
        <p:nvSpPr>
          <p:cNvPr id="85" name="Text 22"/>
          <p:cNvSpPr/>
          <p:nvPr/>
        </p:nvSpPr>
        <p:spPr>
          <a:xfrm>
            <a:off x="4486163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86" name="Text 23"/>
          <p:cNvSpPr/>
          <p:nvPr/>
        </p:nvSpPr>
        <p:spPr>
          <a:xfrm>
            <a:off x="4486163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提升影像诊断效率</a:t>
            </a:r>
            <a:endParaRPr lang="en-US" sz="1050" dirty="0"/>
          </a:p>
        </p:txBody>
      </p:sp>
      <p:sp>
        <p:nvSpPr>
          <p:cNvPr id="87" name="Text 24"/>
          <p:cNvSpPr/>
          <p:nvPr/>
        </p:nvSpPr>
        <p:spPr>
          <a:xfrm>
            <a:off x="4486163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88" name="Text 25"/>
          <p:cNvSpPr/>
          <p:nvPr/>
        </p:nvSpPr>
        <p:spPr>
          <a:xfrm>
            <a:off x="4486163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支持与医院PACS系统集成</a:t>
            </a:r>
            <a:endParaRPr lang="en-US" sz="1050" dirty="0"/>
          </a:p>
        </p:txBody>
      </p:sp>
      <p:pic>
        <p:nvPicPr>
          <p:cNvPr id="89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4124222"/>
            <a:ext cx="3638459" cy="1800180"/>
          </a:xfrm>
          <a:prstGeom prst="rect">
            <a:avLst/>
          </a:prstGeom>
        </p:spPr>
      </p:pic>
      <p:pic>
        <p:nvPicPr>
          <p:cNvPr id="90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4324242"/>
            <a:ext cx="3238419" cy="352416"/>
          </a:xfrm>
          <a:prstGeom prst="rect">
            <a:avLst/>
          </a:prstGeom>
        </p:spPr>
      </p:pic>
      <p:sp>
        <p:nvSpPr>
          <p:cNvPr id="91" name="Text 26"/>
          <p:cNvSpPr/>
          <p:nvPr/>
        </p:nvSpPr>
        <p:spPr>
          <a:xfrm>
            <a:off x="8305592" y="4333767"/>
            <a:ext cx="155215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数据安全与隐私保护</a:t>
            </a:r>
            <a:endParaRPr lang="en-US" sz="1350" dirty="0"/>
          </a:p>
        </p:txBody>
      </p:sp>
      <p:pic>
        <p:nvPicPr>
          <p:cNvPr id="92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0605" y="4324242"/>
            <a:ext cx="723882" cy="228594"/>
          </a:xfrm>
          <a:prstGeom prst="rect">
            <a:avLst/>
          </a:prstGeom>
        </p:spPr>
      </p:pic>
      <p:sp>
        <p:nvSpPr>
          <p:cNvPr id="93" name="Text 27"/>
          <p:cNvSpPr/>
          <p:nvPr/>
        </p:nvSpPr>
        <p:spPr>
          <a:xfrm>
            <a:off x="10886803" y="4362341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94" name="Text 28"/>
          <p:cNvSpPr/>
          <p:nvPr/>
        </p:nvSpPr>
        <p:spPr>
          <a:xfrm>
            <a:off x="8305592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95" name="Text 29"/>
          <p:cNvSpPr/>
          <p:nvPr/>
        </p:nvSpPr>
        <p:spPr>
          <a:xfrm>
            <a:off x="8305592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保障医疗数据安全</a:t>
            </a:r>
            <a:endParaRPr lang="en-US" sz="1050" dirty="0"/>
          </a:p>
        </p:txBody>
      </p:sp>
      <p:sp>
        <p:nvSpPr>
          <p:cNvPr id="96" name="Text 30"/>
          <p:cNvSpPr/>
          <p:nvPr/>
        </p:nvSpPr>
        <p:spPr>
          <a:xfrm>
            <a:off x="8305592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97" name="Text 31"/>
          <p:cNvSpPr/>
          <p:nvPr/>
        </p:nvSpPr>
        <p:spPr>
          <a:xfrm>
            <a:off x="8305592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多层安全防护体系、本地化部署</a:t>
            </a:r>
            <a:endParaRPr lang="en-US" sz="1050" dirty="0"/>
          </a:p>
        </p:txBody>
      </p:sp>
      <p:pic>
        <p:nvPicPr>
          <p:cNvPr id="9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997" y="4124271"/>
            <a:ext cx="3638459" cy="1800180"/>
          </a:xfrm>
          <a:prstGeom prst="rect">
            <a:avLst/>
          </a:prstGeom>
        </p:spPr>
      </p:pic>
      <p:pic>
        <p:nvPicPr>
          <p:cNvPr id="9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017" y="4324291"/>
            <a:ext cx="3238419" cy="352416"/>
          </a:xfrm>
          <a:prstGeom prst="rect">
            <a:avLst/>
          </a:prstGeom>
        </p:spPr>
      </p:pic>
      <p:sp>
        <p:nvSpPr>
          <p:cNvPr id="100" name="Text 14"/>
          <p:cNvSpPr/>
          <p:nvPr/>
        </p:nvSpPr>
        <p:spPr>
          <a:xfrm>
            <a:off x="657017" y="43242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350" b="1" dirty="0"/>
              <a:t>中医药特色应用</a:t>
            </a:r>
            <a:endParaRPr lang="zh-CN" altLang="en-US" sz="1350" b="1" dirty="0"/>
          </a:p>
        </p:txBody>
      </p:sp>
      <p:pic>
        <p:nvPicPr>
          <p:cNvPr id="10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030" y="4324291"/>
            <a:ext cx="723882" cy="228594"/>
          </a:xfrm>
          <a:prstGeom prst="rect">
            <a:avLst/>
          </a:prstGeom>
        </p:spPr>
      </p:pic>
      <p:sp>
        <p:nvSpPr>
          <p:cNvPr id="102" name="Text 15"/>
          <p:cNvSpPr/>
          <p:nvPr/>
        </p:nvSpPr>
        <p:spPr>
          <a:xfrm>
            <a:off x="3238228" y="43623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00" b="1" dirty="0"/>
              <a:t>可定制开发</a:t>
            </a:r>
            <a:endParaRPr lang="zh-CN" altLang="en-US" sz="900" b="1" dirty="0"/>
          </a:p>
        </p:txBody>
      </p:sp>
      <p:sp>
        <p:nvSpPr>
          <p:cNvPr id="103" name="Text 16"/>
          <p:cNvSpPr/>
          <p:nvPr/>
        </p:nvSpPr>
        <p:spPr>
          <a:xfrm>
            <a:off x="657017" y="47910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104" name="Text 17"/>
          <p:cNvSpPr/>
          <p:nvPr/>
        </p:nvSpPr>
        <p:spPr>
          <a:xfrm>
            <a:off x="657017" y="49815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开发中医药特色应用</a:t>
            </a:r>
            <a:endParaRPr lang="zh-CN" altLang="en-US" sz="105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657017" y="53053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106" name="Text 19"/>
          <p:cNvSpPr/>
          <p:nvPr/>
        </p:nvSpPr>
        <p:spPr>
          <a:xfrm>
            <a:off x="657017" y="54958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altLang="zh-CN" sz="1050" dirty="0"/>
              <a:t>Prompt</a:t>
            </a:r>
            <a:r>
              <a:rPr lang="zh-CN" altLang="en-US" sz="1050" dirty="0"/>
              <a:t>模板支持定制中医诊疗逻辑</a:t>
            </a:r>
            <a:endParaRPr lang="zh-CN" alt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联系我们</a:t>
            </a: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</a:t>
            </a:r>
            <a:endParaRPr lang="zh-CN" altLang="en-US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刘朝晖</a:t>
            </a:r>
            <a:r>
              <a:rPr lang="en-US" altLang="zh-CN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13458003688</a:t>
            </a:r>
            <a:endParaRPr lang="en-US" altLang="zh-CN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bb05f5b11a7e6e735f5fa2100ea4dd3f034f5ea"/>
  <p:tag name="KSO_WM_NEWLAYOUT_GROUP_ID" val="layout_14"/>
  <p:tag name="KSO_WM_NEWLAYOUT_ID" val="slide_fbd1737be693ef9a"/>
</p:tagLst>
</file>

<file path=ppt/tags/tag2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253d15d2bdd186cda96aeb1348512f2ef5ab1b"/>
  <p:tag name="KSO_WM_NEWLAYOUT_GROUP_ID" val="layout_30"/>
  <p:tag name="KSO_WM_NEWLAYOUT_ID" val="slide_12c4e45e347f26ce"/>
</p:tagLst>
</file>

<file path=ppt/tags/tag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5272ad59617974b9e6928979ea66529bb55e064"/>
  <p:tag name="KSO_WM_NEWLAYOUT_GROUP_ID" val="layout_10003"/>
  <p:tag name="KSO_WM_NEWLAYOUT_ID" val="slide_10cd397e0139f3d8"/>
</p:tagLst>
</file>

<file path=ppt/tags/tag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d08f9b3c0281866ce384d7177d77c4474fb26"/>
  <p:tag name="KSO_WM_NEWLAYOUT_GROUP_ID" val="layout_31"/>
  <p:tag name="KSO_WM_NEWLAYOUT_ID" val="slide_ea14bcc1890a96c2"/>
</p:tagLst>
</file>

<file path=ppt/tags/tag2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b49b74bd07ed73b7531db9ecf1e4aaaacd07512"/>
  <p:tag name="KSO_WM_NEWLAYOUT_GROUP_ID" val="layout_10007"/>
  <p:tag name="KSO_WM_NEWLAYOUT_ID" val="slide_5d2fe44769cb3f7d"/>
</p:tagLst>
</file>

<file path=ppt/tags/tag3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4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a0485855ab51a78fd5d08f2d2bbee655ada459a"/>
  <p:tag name="KSO_WM_NEWLAYOUT_GROUP_ID" val="layout_38"/>
  <p:tag name="KSO_WM_NEWLAYOUT_ID" val="slide_602d535931c36a5c"/>
</p:tagLst>
</file>

<file path=ppt/tags/tag4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5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5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aa83663b92fe78fe713a4fff29006f6fb4262"/>
  <p:tag name="KSO_WM_NEWLAYOUT_GROUP_ID" val="layout_10011"/>
  <p:tag name="KSO_WM_NEWLAYOUT_ID" val="slide_718c7f70e2753aac"/>
</p:tagLst>
</file>

<file path=ppt/tags/tag6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6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6703</Words>
  <Application>WPS 演示</Application>
  <PresentationFormat>On-screen Show (16:9)</PresentationFormat>
  <Paragraphs>1057</Paragraphs>
  <Slides>28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1" baseType="lpstr">
      <vt:lpstr>Arial</vt:lpstr>
      <vt:lpstr>宋体</vt:lpstr>
      <vt:lpstr>Wingdings</vt:lpstr>
      <vt:lpstr>等线</vt:lpstr>
      <vt:lpstr>等线</vt:lpstr>
      <vt:lpstr>Calibri</vt:lpstr>
      <vt:lpstr>微软雅黑</vt:lpstr>
      <vt:lpstr>Arial Unicode MS</vt:lpstr>
      <vt:lpstr>Consolas</vt:lpstr>
      <vt:lpstr>Consolas</vt:lpstr>
      <vt:lpstr>Consolas</vt:lpstr>
      <vt:lpstr>宋体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14</cp:revision>
  <dcterms:created xsi:type="dcterms:W3CDTF">2026-04-15T14:38:00Z</dcterms:created>
  <dcterms:modified xsi:type="dcterms:W3CDTF">2026-04-30T02:36:04Z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  <property fmtid="{D5CDD505-2E9C-101B-9397-08002B2CF9AE}" pid="3" name="KSOProductBuildVer">
    <vt:lpwstr>2052-12.1.0.25225</vt:lpwstr>
  </property>
  <property fmtid="{D5CDD505-2E9C-101B-9397-08002B2CF9AE}" pid="4" name="ICV">
    <vt:lpwstr>EE060652398D49D5B83BB6E56D6F7305_13</vt:lpwstr>
  </property>
</Properties>
</file>