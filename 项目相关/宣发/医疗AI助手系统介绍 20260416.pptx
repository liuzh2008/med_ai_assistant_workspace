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7.png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19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7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19.png"/><Relationship Id="rId4" Type="http://schemas.openxmlformats.org/officeDocument/2006/relationships/image" Target="../media/image4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47.png"/><Relationship Id="rId6" Type="http://schemas.openxmlformats.org/officeDocument/2006/relationships/image" Target="../media/image56.png"/><Relationship Id="rId5" Type="http://schemas.openxmlformats.org/officeDocument/2006/relationships/image" Target="../media/image39.png"/><Relationship Id="rId4" Type="http://schemas.openxmlformats.org/officeDocument/2006/relationships/image" Target="../media/image5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7.pn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5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19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68.png"/><Relationship Id="rId13" Type="http://schemas.openxmlformats.org/officeDocument/2006/relationships/image" Target="../media/image67.png"/><Relationship Id="rId12" Type="http://schemas.openxmlformats.org/officeDocument/2006/relationships/image" Target="../media/image66.png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50.png"/><Relationship Id="rId4" Type="http://schemas.openxmlformats.org/officeDocument/2006/relationships/image" Target="../media/image69.png"/><Relationship Id="rId3" Type="http://schemas.openxmlformats.org/officeDocument/2006/relationships/image" Target="../media/image12.png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85.png"/><Relationship Id="rId21" Type="http://schemas.openxmlformats.org/officeDocument/2006/relationships/image" Target="../media/image17.png"/><Relationship Id="rId20" Type="http://schemas.openxmlformats.org/officeDocument/2006/relationships/image" Target="../media/image84.png"/><Relationship Id="rId2" Type="http://schemas.openxmlformats.org/officeDocument/2006/relationships/image" Target="../media/image11.png"/><Relationship Id="rId19" Type="http://schemas.openxmlformats.org/officeDocument/2006/relationships/image" Target="../media/image83.png"/><Relationship Id="rId18" Type="http://schemas.openxmlformats.org/officeDocument/2006/relationships/image" Target="../media/image82.png"/><Relationship Id="rId17" Type="http://schemas.openxmlformats.org/officeDocument/2006/relationships/image" Target="../media/image81.png"/><Relationship Id="rId16" Type="http://schemas.openxmlformats.org/officeDocument/2006/relationships/image" Target="../media/image80.png"/><Relationship Id="rId15" Type="http://schemas.openxmlformats.org/officeDocument/2006/relationships/image" Target="../media/image79.png"/><Relationship Id="rId14" Type="http://schemas.openxmlformats.org/officeDocument/2006/relationships/image" Target="../media/image78.png"/><Relationship Id="rId13" Type="http://schemas.openxmlformats.org/officeDocument/2006/relationships/image" Target="../media/image77.png"/><Relationship Id="rId12" Type="http://schemas.openxmlformats.org/officeDocument/2006/relationships/image" Target="../media/image76.png"/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19.png"/><Relationship Id="rId4" Type="http://schemas.openxmlformats.org/officeDocument/2006/relationships/image" Target="../media/image8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7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84.png"/><Relationship Id="rId10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19.png"/><Relationship Id="rId4" Type="http://schemas.openxmlformats.org/officeDocument/2006/relationships/image" Target="../media/image94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11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7.png"/><Relationship Id="rId20" Type="http://schemas.openxmlformats.org/officeDocument/2006/relationships/image" Target="../media/image93.png"/><Relationship Id="rId2" Type="http://schemas.openxmlformats.org/officeDocument/2006/relationships/image" Target="../media/image11.png"/><Relationship Id="rId19" Type="http://schemas.openxmlformats.org/officeDocument/2006/relationships/image" Target="../media/image92.png"/><Relationship Id="rId18" Type="http://schemas.openxmlformats.org/officeDocument/2006/relationships/image" Target="../media/image104.png"/><Relationship Id="rId17" Type="http://schemas.openxmlformats.org/officeDocument/2006/relationships/image" Target="../media/image103.png"/><Relationship Id="rId16" Type="http://schemas.openxmlformats.org/officeDocument/2006/relationships/image" Target="../media/image47.png"/><Relationship Id="rId15" Type="http://schemas.openxmlformats.org/officeDocument/2006/relationships/image" Target="../media/image64.png"/><Relationship Id="rId14" Type="http://schemas.openxmlformats.org/officeDocument/2006/relationships/image" Target="../media/image28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image" Target="../media/image109.png"/><Relationship Id="rId7" Type="http://schemas.openxmlformats.org/officeDocument/2006/relationships/image" Target="../media/image108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7.png"/><Relationship Id="rId20" Type="http://schemas.openxmlformats.org/officeDocument/2006/relationships/image" Target="../media/image121.png"/><Relationship Id="rId2" Type="http://schemas.openxmlformats.org/officeDocument/2006/relationships/image" Target="../media/image11.png"/><Relationship Id="rId19" Type="http://schemas.openxmlformats.org/officeDocument/2006/relationships/image" Target="../media/image120.png"/><Relationship Id="rId18" Type="http://schemas.openxmlformats.org/officeDocument/2006/relationships/image" Target="../media/image119.png"/><Relationship Id="rId17" Type="http://schemas.openxmlformats.org/officeDocument/2006/relationships/image" Target="../media/image118.png"/><Relationship Id="rId16" Type="http://schemas.openxmlformats.org/officeDocument/2006/relationships/image" Target="../media/image117.png"/><Relationship Id="rId15" Type="http://schemas.openxmlformats.org/officeDocument/2006/relationships/image" Target="../media/image116.png"/><Relationship Id="rId14" Type="http://schemas.openxmlformats.org/officeDocument/2006/relationships/image" Target="../media/image115.png"/><Relationship Id="rId13" Type="http://schemas.openxmlformats.org/officeDocument/2006/relationships/image" Target="../media/image114.png"/><Relationship Id="rId12" Type="http://schemas.openxmlformats.org/officeDocument/2006/relationships/image" Target="../media/image113.png"/><Relationship Id="rId11" Type="http://schemas.openxmlformats.org/officeDocument/2006/relationships/image" Target="../media/image112.png"/><Relationship Id="rId10" Type="http://schemas.openxmlformats.org/officeDocument/2006/relationships/image" Target="../media/image111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43.png"/><Relationship Id="rId6" Type="http://schemas.openxmlformats.org/officeDocument/2006/relationships/image" Target="../media/image125.png"/><Relationship Id="rId5" Type="http://schemas.openxmlformats.org/officeDocument/2006/relationships/image" Target="../media/image19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34.png"/><Relationship Id="rId15" Type="http://schemas.openxmlformats.org/officeDocument/2006/relationships/image" Target="../media/image133.png"/><Relationship Id="rId14" Type="http://schemas.openxmlformats.org/officeDocument/2006/relationships/image" Target="../media/image132.png"/><Relationship Id="rId13" Type="http://schemas.openxmlformats.org/officeDocument/2006/relationships/image" Target="../media/image131.png"/><Relationship Id="rId12" Type="http://schemas.openxmlformats.org/officeDocument/2006/relationships/image" Target="../media/image130.png"/><Relationship Id="rId11" Type="http://schemas.openxmlformats.org/officeDocument/2006/relationships/image" Target="../media/image129.png"/><Relationship Id="rId10" Type="http://schemas.openxmlformats.org/officeDocument/2006/relationships/image" Target="../media/image12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png"/><Relationship Id="rId8" Type="http://schemas.openxmlformats.org/officeDocument/2006/relationships/image" Target="../media/image139.png"/><Relationship Id="rId7" Type="http://schemas.openxmlformats.org/officeDocument/2006/relationships/image" Target="../media/image138.png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3" Type="http://schemas.openxmlformats.org/officeDocument/2006/relationships/image" Target="../media/image123.png"/><Relationship Id="rId22" Type="http://schemas.openxmlformats.org/officeDocument/2006/relationships/notesSlide" Target="../notesSlides/notesSlide14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34.png"/><Relationship Id="rId2" Type="http://schemas.openxmlformats.org/officeDocument/2006/relationships/image" Target="../media/image122.png"/><Relationship Id="rId19" Type="http://schemas.openxmlformats.org/officeDocument/2006/relationships/image" Target="../media/image133.png"/><Relationship Id="rId18" Type="http://schemas.openxmlformats.org/officeDocument/2006/relationships/image" Target="../media/image132.png"/><Relationship Id="rId17" Type="http://schemas.openxmlformats.org/officeDocument/2006/relationships/image" Target="../media/image47.png"/><Relationship Id="rId16" Type="http://schemas.openxmlformats.org/officeDocument/2006/relationships/image" Target="../media/image146.png"/><Relationship Id="rId15" Type="http://schemas.openxmlformats.org/officeDocument/2006/relationships/image" Target="../media/image145.png"/><Relationship Id="rId14" Type="http://schemas.openxmlformats.org/officeDocument/2006/relationships/image" Target="../media/image144.png"/><Relationship Id="rId13" Type="http://schemas.openxmlformats.org/officeDocument/2006/relationships/image" Target="../media/image143.png"/><Relationship Id="rId12" Type="http://schemas.openxmlformats.org/officeDocument/2006/relationships/image" Target="../media/image142.png"/><Relationship Id="rId11" Type="http://schemas.openxmlformats.org/officeDocument/2006/relationships/image" Target="../media/image19.png"/><Relationship Id="rId10" Type="http://schemas.openxmlformats.org/officeDocument/2006/relationships/image" Target="../media/image141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47.png"/><Relationship Id="rId7" Type="http://schemas.openxmlformats.org/officeDocument/2006/relationships/image" Target="../media/image149.png"/><Relationship Id="rId6" Type="http://schemas.openxmlformats.org/officeDocument/2006/relationships/image" Target="../media/image1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34.png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152.png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png"/><Relationship Id="rId7" Type="http://schemas.openxmlformats.org/officeDocument/2006/relationships/image" Target="../media/image154.png"/><Relationship Id="rId6" Type="http://schemas.openxmlformats.org/officeDocument/2006/relationships/image" Target="../media/image44.png"/><Relationship Id="rId5" Type="http://schemas.openxmlformats.org/officeDocument/2006/relationships/image" Target="../media/image19.png"/><Relationship Id="rId4" Type="http://schemas.openxmlformats.org/officeDocument/2006/relationships/image" Target="../media/image153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6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7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15" Type="http://schemas.openxmlformats.org/officeDocument/2006/relationships/image" Target="../media/image46.png"/><Relationship Id="rId14" Type="http://schemas.openxmlformats.org/officeDocument/2006/relationships/image" Target="../media/image23.png"/><Relationship Id="rId13" Type="http://schemas.openxmlformats.org/officeDocument/2006/relationships/image" Target="../media/image160.png"/><Relationship Id="rId12" Type="http://schemas.openxmlformats.org/officeDocument/2006/relationships/image" Target="../media/image159.png"/><Relationship Id="rId11" Type="http://schemas.openxmlformats.org/officeDocument/2006/relationships/image" Target="../media/image158.png"/><Relationship Id="rId10" Type="http://schemas.openxmlformats.org/officeDocument/2006/relationships/image" Target="../media/image157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39.png"/><Relationship Id="rId4" Type="http://schemas.openxmlformats.org/officeDocument/2006/relationships/image" Target="../media/image16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170.png"/><Relationship Id="rId13" Type="http://schemas.openxmlformats.org/officeDocument/2006/relationships/image" Target="../media/image169.png"/><Relationship Id="rId12" Type="http://schemas.openxmlformats.org/officeDocument/2006/relationships/image" Target="../media/image168.png"/><Relationship Id="rId11" Type="http://schemas.openxmlformats.org/officeDocument/2006/relationships/image" Target="../media/image167.png"/><Relationship Id="rId10" Type="http://schemas.openxmlformats.org/officeDocument/2006/relationships/image" Target="../media/image166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933"/>
            <a:ext cx="57149" cy="15239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9772406" y="628634"/>
            <a:ext cx="1809705" cy="180970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10220069" y="1076298"/>
            <a:ext cx="1676358" cy="167635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086723" y="5676758"/>
            <a:ext cx="1514056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System Version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086723" y="5905352"/>
            <a:ext cx="1514056" cy="3428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CBD5E1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2026.04</a:t>
            </a:r>
            <a:endParaRPr lang="en-US" sz="225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1257269"/>
            <a:ext cx="609585" cy="190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676358" y="1171546"/>
            <a:ext cx="181884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Medical AI System</a:t>
            </a:r>
            <a:endParaRPr lang="en-US" sz="1050" dirty="0"/>
          </a:p>
        </p:txBody>
      </p:sp>
      <p:sp>
        <p:nvSpPr>
          <p:cNvPr id="10" name="Text 3"/>
          <p:cNvSpPr/>
          <p:nvPr/>
        </p:nvSpPr>
        <p:spPr>
          <a:xfrm>
            <a:off x="914377" y="1676358"/>
            <a:ext cx="2218889" cy="8477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医疗AI</a:t>
            </a:r>
            <a:endParaRPr lang="en-US" sz="6000" dirty="0"/>
          </a:p>
        </p:txBody>
      </p:sp>
      <p:sp>
        <p:nvSpPr>
          <p:cNvPr id="11" name="Text 4"/>
          <p:cNvSpPr/>
          <p:nvPr/>
        </p:nvSpPr>
        <p:spPr>
          <a:xfrm>
            <a:off x="914377" y="2400240"/>
            <a:ext cx="2980870" cy="8477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助手系统</a:t>
            </a:r>
            <a:endParaRPr lang="en-US" sz="6000" dirty="0"/>
          </a:p>
        </p:txBody>
      </p:sp>
      <p:sp>
        <p:nvSpPr>
          <p:cNvPr id="12" name="Text 5"/>
          <p:cNvSpPr/>
          <p:nvPr/>
        </p:nvSpPr>
        <p:spPr>
          <a:xfrm>
            <a:off x="914377" y="3552736"/>
            <a:ext cx="3666653" cy="2571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基于深度学习的智能诊疗辅助平台，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14377" y="3924202"/>
            <a:ext cx="3895247" cy="2571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构建精准、高效、可信的医疗智能中枢</a:t>
            </a:r>
            <a:endParaRPr lang="en-US" sz="1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4848104"/>
            <a:ext cx="7315017" cy="847704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377" y="5238619"/>
            <a:ext cx="457189" cy="457189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773" y="5371966"/>
            <a:ext cx="171446" cy="19049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523962" y="5267193"/>
            <a:ext cx="92352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核心能力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1523962" y="5438639"/>
            <a:ext cx="92352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临床决策支持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528" y="5238619"/>
            <a:ext cx="457189" cy="457189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874" y="5371966"/>
            <a:ext cx="190495" cy="19049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05112" y="5267193"/>
            <a:ext cx="7711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安全架构</a:t>
            </a:r>
            <a:endParaRPr lang="en-US" sz="900" dirty="0"/>
          </a:p>
        </p:txBody>
      </p:sp>
      <p:sp>
        <p:nvSpPr>
          <p:cNvPr id="22" name="Text 10"/>
          <p:cNvSpPr/>
          <p:nvPr/>
        </p:nvSpPr>
        <p:spPr>
          <a:xfrm>
            <a:off x="3505112" y="5438639"/>
            <a:ext cx="77112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私有化部署</a:t>
            </a:r>
            <a:endParaRPr lang="en-US" sz="12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282" y="5238619"/>
            <a:ext cx="457189" cy="457189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629" y="5371966"/>
            <a:ext cx="190495" cy="190495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5333867" y="5267193"/>
            <a:ext cx="92352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效率提升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5333867" y="5438639"/>
            <a:ext cx="92352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诊疗流程优化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95308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609585"/>
            <a:ext cx="96162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Contents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1028674"/>
            <a:ext cx="10372085" cy="600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目录</a:t>
            </a:r>
            <a:endParaRPr lang="en-US" sz="31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085923"/>
            <a:ext cx="3305092" cy="197162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28694" y="2485963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3"/>
          <p:cNvSpPr/>
          <p:nvPr/>
        </p:nvSpPr>
        <p:spPr>
          <a:xfrm>
            <a:off x="1228694" y="3095548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痛点分析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1228694" y="3447964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当前医疗场景中的关键挑战与瓶颈识别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064" y="2085923"/>
            <a:ext cx="3305092" cy="19716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62381" y="2485963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6"/>
          <p:cNvSpPr/>
          <p:nvPr/>
        </p:nvSpPr>
        <p:spPr>
          <a:xfrm>
            <a:off x="4762381" y="3095548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解决方案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762381" y="3447964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AI驱动的系统性问题解决路径设计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750" y="2085923"/>
            <a:ext cx="3305092" cy="19716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96068" y="2485963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9"/>
          <p:cNvSpPr/>
          <p:nvPr/>
        </p:nvSpPr>
        <p:spPr>
          <a:xfrm>
            <a:off x="8296068" y="3095548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296068" y="3447964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分层式系统架构与核心技术栈解析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4286143"/>
            <a:ext cx="3305092" cy="197162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228694" y="4676658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2"/>
          <p:cNvSpPr/>
          <p:nvPr/>
        </p:nvSpPr>
        <p:spPr>
          <a:xfrm>
            <a:off x="1228694" y="5286243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1228694" y="5638659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智能辅助诊疗与临床决策支持模块</a:t>
            </a:r>
            <a:endParaRPr lang="en-US" sz="10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064" y="4286143"/>
            <a:ext cx="3305092" cy="197162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762381" y="4676658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05</a:t>
            </a:r>
            <a:endParaRPr lang="en-US" sz="3600" dirty="0"/>
          </a:p>
        </p:txBody>
      </p:sp>
      <p:sp>
        <p:nvSpPr>
          <p:cNvPr id="25" name="Text 15"/>
          <p:cNvSpPr/>
          <p:nvPr/>
        </p:nvSpPr>
        <p:spPr>
          <a:xfrm>
            <a:off x="4762381" y="5286243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价值证明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4762381" y="5638659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量化效益分析与临床验证数据展示</a:t>
            </a:r>
            <a:endParaRPr lang="en-US" sz="10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750" y="4286143"/>
            <a:ext cx="3305092" cy="197162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296068" y="4676658"/>
            <a:ext cx="2685602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06</a:t>
            </a:r>
            <a:endParaRPr lang="en-US" sz="3600" dirty="0"/>
          </a:p>
        </p:txBody>
      </p:sp>
      <p:sp>
        <p:nvSpPr>
          <p:cNvPr id="29" name="Text 18"/>
          <p:cNvSpPr/>
          <p:nvPr/>
        </p:nvSpPr>
        <p:spPr>
          <a:xfrm>
            <a:off x="8296068" y="5286243"/>
            <a:ext cx="2685602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合作模式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8296068" y="5638659"/>
            <a:ext cx="2685602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灵活部署方案与长期合作生态构建</a:t>
            </a:r>
            <a:endParaRPr lang="en-US" sz="10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>
            <a:alphaModFix amt="6000"/>
          </a:blip>
          <a:stretch>
            <a:fillRect/>
          </a:stretch>
        </p:blipFill>
        <p:spPr>
          <a:xfrm>
            <a:off x="10105772" y="504812"/>
            <a:ext cx="1447764" cy="1447764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7">
            <a:alphaModFix amt="6000"/>
          </a:blip>
          <a:stretch>
            <a:fillRect/>
          </a:stretch>
        </p:blipFill>
        <p:spPr>
          <a:xfrm>
            <a:off x="10381990" y="781030"/>
            <a:ext cx="1342991" cy="1342991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377" y="6238719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95308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609585"/>
            <a:ext cx="21045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Current Challenges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952476"/>
            <a:ext cx="10372085" cy="600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医疗信息化现状</a:t>
            </a:r>
            <a:endParaRPr lang="en-US" sz="3150" dirty="0"/>
          </a:p>
        </p:txBody>
      </p:sp>
      <p:sp>
        <p:nvSpPr>
          <p:cNvPr id="7" name="Text 2"/>
          <p:cNvSpPr/>
          <p:nvPr/>
        </p:nvSpPr>
        <p:spPr>
          <a:xfrm>
            <a:off x="914377" y="1666833"/>
            <a:ext cx="6409784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当前医疗信息化面临六大核心痛点，制约着医疗服务质量与运营效率的提升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333567"/>
            <a:ext cx="3333667" cy="1866853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2571686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44" y="2676458"/>
            <a:ext cx="200020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685883" y="2571686"/>
            <a:ext cx="120926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诊断编码不完整</a:t>
            </a:r>
            <a:endParaRPr lang="en-US" sz="1350" dirty="0"/>
          </a:p>
        </p:txBody>
      </p:sp>
      <p:sp>
        <p:nvSpPr>
          <p:cNvPr id="12" name="Text 4"/>
          <p:cNvSpPr/>
          <p:nvPr/>
        </p:nvSpPr>
        <p:spPr>
          <a:xfrm>
            <a:off x="1152496" y="3066973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医生凭经验编码，并发症/合并症易遗漏，影响DRG分组准确性</a:t>
            </a:r>
            <a:endParaRPr lang="en-US" sz="10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539" y="2333567"/>
            <a:ext cx="3333667" cy="1866853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658" y="2571686"/>
            <a:ext cx="380990" cy="38099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906" y="2676458"/>
            <a:ext cx="200020" cy="17144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210045" y="2571686"/>
            <a:ext cx="107591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DRG管理粗放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4676658" y="3066973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缺乏实时分组与盈亏分析工具，无法及时调整诊疗策略</a:t>
            </a:r>
            <a:endParaRPr lang="en-US" sz="10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176" y="2333567"/>
            <a:ext cx="3333667" cy="1866853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295" y="2571686"/>
            <a:ext cx="380990" cy="38099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117" y="2676458"/>
            <a:ext cx="133347" cy="17144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8724682" y="2571686"/>
            <a:ext cx="1037818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质控工作量大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8191295" y="3066973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质控指标靠人工逐案筛查，效率低下且覆盖范围有限</a:t>
            </a:r>
            <a:endParaRPr lang="en-US" sz="105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4390915"/>
            <a:ext cx="3333667" cy="1866853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4629034"/>
            <a:ext cx="380990" cy="380990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7744" y="4733807"/>
            <a:ext cx="200020" cy="171446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1685883" y="4629034"/>
            <a:ext cx="120926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病历书写效率低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1152496" y="5124322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依赖键盘逐字录入，格式不规范，消耗医生大量宝贵时间</a:t>
            </a:r>
            <a:endParaRPr lang="en-US" sz="105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539" y="4390915"/>
            <a:ext cx="3333667" cy="1866853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658" y="4629034"/>
            <a:ext cx="380990" cy="380990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381" y="4733807"/>
            <a:ext cx="219070" cy="171446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5210045" y="4629034"/>
            <a:ext cx="1037818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信息孤岛严重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4676658" y="5124322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HIS/LIS/PACS各自独立，数据不互通，难以形成完整患者画像</a:t>
            </a:r>
            <a:endParaRPr lang="en-US" sz="105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176" y="4390915"/>
            <a:ext cx="3333667" cy="1866853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295" y="4629034"/>
            <a:ext cx="380990" cy="380990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7018" y="4733807"/>
            <a:ext cx="219070" cy="171446"/>
          </a:xfrm>
          <a:prstGeom prst="rect">
            <a:avLst/>
          </a:prstGeom>
        </p:spPr>
      </p:pic>
      <p:sp>
        <p:nvSpPr>
          <p:cNvPr id="36" name="Text 13"/>
          <p:cNvSpPr/>
          <p:nvPr/>
        </p:nvSpPr>
        <p:spPr>
          <a:xfrm>
            <a:off x="8724682" y="4629034"/>
            <a:ext cx="69492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AI门槛高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8191295" y="5124322"/>
            <a:ext cx="2866573" cy="895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传统AI系统动辄百万投入，基层医院无力承担，技术普惠困难</a:t>
            </a:r>
            <a:endParaRPr lang="en-US" sz="105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>
            <a:off x="10105772" y="504812"/>
            <a:ext cx="1447764" cy="1447764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4">
            <a:alphaModFix amt="6000"/>
          </a:blip>
          <a:stretch>
            <a:fillRect/>
          </a:stretch>
        </p:blipFill>
        <p:spPr>
          <a:xfrm>
            <a:off x="10381990" y="781030"/>
            <a:ext cx="1342991" cy="1342991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377" y="6238719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Severe Consequences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痛点带来的后果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485863"/>
            <a:ext cx="732416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医疗信息化的核心痛点正直接导致医院运营与诊疗质量的严重下滑：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038299"/>
            <a:ext cx="3352716" cy="133346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2238319"/>
            <a:ext cx="342891" cy="342891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20" y="2333567"/>
            <a:ext cx="171446" cy="15239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571586" y="2238319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医保收益流失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1114397" y="2657409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诊断编码不完整直接导致DRG分组不准确，医院无法获得应有的医保支付。</a:t>
            </a:r>
            <a:endParaRPr lang="en-US" sz="10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90" y="2038299"/>
            <a:ext cx="3352716" cy="1333467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510" y="2238319"/>
            <a:ext cx="342891" cy="342891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232" y="2333567"/>
            <a:ext cx="171446" cy="15239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076698" y="2238319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收入持续下降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4619510" y="2657409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缺乏DRG精细化管理工具，在医保付费改革下，医院收入面临持续下滑风险。</a:t>
            </a:r>
            <a:endParaRPr lang="en-US" sz="10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02" y="2038299"/>
            <a:ext cx="3352716" cy="1333467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622" y="2238319"/>
            <a:ext cx="342891" cy="342891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820" y="2333567"/>
            <a:ext cx="190495" cy="15239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8581810" y="2238319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人力消耗巨大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8124622" y="2657409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质控工作依赖人工逐案筛查，漏检率高，且耗费大量人力成本。</a:t>
            </a:r>
            <a:endParaRPr lang="en-US" sz="105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3524162"/>
            <a:ext cx="3352716" cy="1333467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3724182"/>
            <a:ext cx="342891" cy="342891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4" y="3819430"/>
            <a:ext cx="114297" cy="152396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1571586" y="3724182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诊疗效率低下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1114397" y="4143271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病历书写效率低，占用医生大量临床时间，直接影响诊疗服务效率。</a:t>
            </a:r>
            <a:endParaRPr lang="en-US" sz="105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90" y="3524162"/>
            <a:ext cx="3352716" cy="1333467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510" y="3724182"/>
            <a:ext cx="342891" cy="342891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757" y="3819430"/>
            <a:ext cx="152396" cy="152396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5076698" y="3724182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决策依据不全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4619510" y="4143271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信息孤岛导致医生缺乏患者全景视图，临床决策缺乏完整数据支持。</a:t>
            </a:r>
            <a:endParaRPr lang="en-US" sz="105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02" y="3524162"/>
            <a:ext cx="3352716" cy="1333467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622" y="3724182"/>
            <a:ext cx="342891" cy="342891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0820" y="3819430"/>
            <a:ext cx="190495" cy="152396"/>
          </a:xfrm>
          <a:prstGeom prst="rect">
            <a:avLst/>
          </a:prstGeom>
        </p:spPr>
      </p:pic>
      <p:sp>
        <p:nvSpPr>
          <p:cNvPr id="36" name="Text 13"/>
          <p:cNvSpPr/>
          <p:nvPr/>
        </p:nvSpPr>
        <p:spPr>
          <a:xfrm>
            <a:off x="8581810" y="3724182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数字鸿沟加剧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8124622" y="4143271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高昂的AI投入门槛使基层医院被排除在技术红利之外，加剧医疗资源不均。</a:t>
            </a:r>
            <a:endParaRPr lang="en-US" sz="105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90" y="5000500"/>
            <a:ext cx="3352716" cy="1333467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510" y="5200520"/>
            <a:ext cx="342891" cy="342891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4757" y="5295768"/>
            <a:ext cx="152396" cy="152396"/>
          </a:xfrm>
          <a:prstGeom prst="rect">
            <a:avLst/>
          </a:prstGeom>
        </p:spPr>
      </p:pic>
      <p:sp>
        <p:nvSpPr>
          <p:cNvPr id="41" name="Text 15"/>
          <p:cNvSpPr/>
          <p:nvPr/>
        </p:nvSpPr>
        <p:spPr>
          <a:xfrm>
            <a:off x="5076698" y="5200520"/>
            <a:ext cx="92352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合规风险高企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4619510" y="5619610"/>
            <a:ext cx="2961820" cy="514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患者隐私数据安全顾虑，使医院对应用AI系统持谨慎态度，面临合规挑战。</a:t>
            </a:r>
            <a:endParaRPr lang="en-US" sz="1050" dirty="0"/>
          </a:p>
        </p:txBody>
      </p:sp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14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45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11411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Solution Framework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我们的解决思路</a:t>
            </a:r>
            <a:endParaRPr lang="en-US" sz="30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1638259"/>
            <a:ext cx="10362941" cy="161921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269" y="1952576"/>
            <a:ext cx="457189" cy="457189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190" y="2085923"/>
            <a:ext cx="142871" cy="19049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904952" y="1952576"/>
            <a:ext cx="6257388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核心理念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1904952" y="2295468"/>
            <a:ext cx="6257388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AI增强临床决策，</a:t>
            </a:r>
            <a:r>
              <a:rPr lang="en-US" sz="1800" b="1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而非替代医生判断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1904952" y="2695508"/>
            <a:ext cx="6257388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我们围绕此理念，构建了四大核心解决思路，直击基层医院痛点，确保技术真正服务于临床。</a:t>
            </a:r>
            <a:endParaRPr lang="en-US" sz="1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377" y="3562261"/>
            <a:ext cx="2447864" cy="2762181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3800380"/>
            <a:ext cx="380990" cy="38099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269" y="3905152"/>
            <a:ext cx="171446" cy="17144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152496" y="4333767"/>
            <a:ext cx="198077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低成本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1152496" y="4714757"/>
            <a:ext cx="1980770" cy="13715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硬件投入仅需</a:t>
            </a:r>
            <a:r>
              <a:rPr lang="en-US" sz="105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5~10万元</a:t>
            </a: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，通过Docker容器化实现一键部署，大幅降低AI应用门槛。</a:t>
            </a:r>
            <a:endParaRPr lang="en-US" sz="10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736" y="3562261"/>
            <a:ext cx="2447864" cy="2762181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855" y="3800380"/>
            <a:ext cx="380990" cy="38099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5628" y="3905152"/>
            <a:ext cx="171446" cy="17144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3790855" y="4333767"/>
            <a:ext cx="198077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强安全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3790855" y="4714757"/>
            <a:ext cx="1980770" cy="13715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患者敏感数据本地加密处理，遵循</a:t>
            </a:r>
            <a:r>
              <a:rPr lang="en-US" sz="105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"最小必要化"</a:t>
            </a: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原则上传云端，确保数据安全与合规。</a:t>
            </a:r>
            <a:endParaRPr lang="en-US" sz="105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095" y="3562261"/>
            <a:ext cx="2447864" cy="2762181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214" y="3800380"/>
            <a:ext cx="380990" cy="380990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3987" y="3905152"/>
            <a:ext cx="171446" cy="171446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6429214" y="4333767"/>
            <a:ext cx="198077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全流程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429214" y="4714757"/>
            <a:ext cx="1980770" cy="13715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覆盖住院部从入院到出院的完整诊疗流程，实现AI辅助在关键环节的无缝嵌入。</a:t>
            </a:r>
            <a:endParaRPr lang="en-US" sz="105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4" y="3562261"/>
            <a:ext cx="2447864" cy="2762181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573" y="3800380"/>
            <a:ext cx="380990" cy="380990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395" y="3905152"/>
            <a:ext cx="152396" cy="171446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9067573" y="4333767"/>
            <a:ext cx="198077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临床导向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9067573" y="4714757"/>
            <a:ext cx="1980770" cy="13715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由心内科医生主导设计，充分贴合临床实际工作流与需求，确保系统好用、爱用。</a:t>
            </a:r>
            <a:endParaRPr lang="en-US" sz="105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2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95308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609585"/>
            <a:ext cx="215221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952476"/>
            <a:ext cx="10372085" cy="600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双服务器分离架构</a:t>
            </a:r>
            <a:endParaRPr lang="en-US" sz="3150" dirty="0"/>
          </a:p>
        </p:txBody>
      </p:sp>
      <p:sp>
        <p:nvSpPr>
          <p:cNvPr id="7" name="Text 2"/>
          <p:cNvSpPr/>
          <p:nvPr/>
        </p:nvSpPr>
        <p:spPr>
          <a:xfrm>
            <a:off x="914377" y="1666833"/>
            <a:ext cx="7324161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通过主服务器与执行服务器的职责分离，实现业务系统与AI计算的高可用解耦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257369"/>
            <a:ext cx="5067173" cy="152396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2495488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269" y="2600260"/>
            <a:ext cx="171446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647784" y="2552636"/>
            <a:ext cx="77112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主服务器</a:t>
            </a:r>
            <a:endParaRPr lang="en-US" sz="15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105072"/>
            <a:ext cx="57149" cy="57149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285843" y="3028874"/>
            <a:ext cx="300944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负责业务逻辑处理、REST API接口、患者数据管理</a:t>
            </a:r>
            <a:endParaRPr lang="en-US" sz="105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390815"/>
            <a:ext cx="57149" cy="5714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85843" y="3314617"/>
            <a:ext cx="207601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任务调度及与医院HIS/LIS系统对接</a:t>
            </a:r>
            <a:endParaRPr lang="en-US" sz="105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5" y="2257369"/>
            <a:ext cx="5067173" cy="1523962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264" y="2495488"/>
            <a:ext cx="380990" cy="38099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36" y="2600260"/>
            <a:ext cx="171446" cy="17144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6943551" y="2552636"/>
            <a:ext cx="96162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执行服务器</a:t>
            </a:r>
            <a:endParaRPr lang="en-US" sz="15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264" y="3105072"/>
            <a:ext cx="57149" cy="57149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581610" y="3028874"/>
            <a:ext cx="2837998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独立负责AI大模型调用引擎、Prompt组装与管理</a:t>
            </a:r>
            <a:endParaRPr lang="en-US" sz="105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264" y="3390815"/>
            <a:ext cx="57149" cy="57149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581610" y="3314617"/>
            <a:ext cx="240938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长耗时任务的异步处理及重试与熔断机制</a:t>
            </a:r>
            <a:endParaRPr lang="en-US" sz="105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377" y="4000400"/>
            <a:ext cx="2476438" cy="1495388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397" y="4200420"/>
            <a:ext cx="304792" cy="304792"/>
          </a:xfrm>
          <a:prstGeom prst="rect">
            <a:avLst/>
          </a:prstGeom>
        </p:spPr>
      </p:pic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120" y="4286143"/>
            <a:ext cx="133347" cy="133347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1114397" y="4619510"/>
            <a:ext cx="2085542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性能隔离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114397" y="4924302"/>
            <a:ext cx="2085542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AI计算与日常操作分离，避免高负载任务阻塞系统</a:t>
            </a:r>
            <a:endParaRPr lang="en-US" sz="90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211" y="4000400"/>
            <a:ext cx="2476438" cy="1495388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3231" y="4200420"/>
            <a:ext cx="304792" cy="304792"/>
          </a:xfrm>
          <a:prstGeom prst="rect">
            <a:avLst/>
          </a:prstGeom>
        </p:spPr>
      </p:pic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8954" y="4286143"/>
            <a:ext cx="133347" cy="133347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3743231" y="4619510"/>
            <a:ext cx="2085542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故障隔离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3743231" y="4924302"/>
            <a:ext cx="2085542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执行服务异常不影响主业务，保障核心连续性</a:t>
            </a:r>
            <a:endParaRPr lang="en-US" sz="900" dirty="0"/>
          </a:p>
        </p:txBody>
      </p:sp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046" y="4000400"/>
            <a:ext cx="2476438" cy="1495388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066" y="4200420"/>
            <a:ext cx="304792" cy="304792"/>
          </a:xfrm>
          <a:prstGeom prst="rect">
            <a:avLst/>
          </a:prstGeom>
        </p:spPr>
      </p:pic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7313" y="4286143"/>
            <a:ext cx="123822" cy="133347"/>
          </a:xfrm>
          <a:prstGeom prst="rect">
            <a:avLst/>
          </a:prstGeom>
        </p:spPr>
      </p:pic>
      <p:sp>
        <p:nvSpPr>
          <p:cNvPr id="37" name="Text 13"/>
          <p:cNvSpPr/>
          <p:nvPr/>
        </p:nvSpPr>
        <p:spPr>
          <a:xfrm>
            <a:off x="6372066" y="4619510"/>
            <a:ext cx="2085542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独立扩展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6372066" y="4924302"/>
            <a:ext cx="208554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根据负载各自水平扩展，资源利用更高效</a:t>
            </a:r>
            <a:endParaRPr lang="en-US" sz="900" dirty="0"/>
          </a:p>
        </p:txBody>
      </p:sp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0880" y="4000400"/>
            <a:ext cx="2476438" cy="1495388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900" y="4200420"/>
            <a:ext cx="304792" cy="304792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7098" y="4286143"/>
            <a:ext cx="171446" cy="133347"/>
          </a:xfrm>
          <a:prstGeom prst="rect">
            <a:avLst/>
          </a:prstGeom>
        </p:spPr>
      </p:pic>
      <p:sp>
        <p:nvSpPr>
          <p:cNvPr id="42" name="Text 15"/>
          <p:cNvSpPr/>
          <p:nvPr/>
        </p:nvSpPr>
        <p:spPr>
          <a:xfrm>
            <a:off x="9000900" y="4619510"/>
            <a:ext cx="2085542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灵活部署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9000900" y="4924302"/>
            <a:ext cx="2085542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支持单院独立与区域集中部署，满足不同规模</a:t>
            </a:r>
            <a:endParaRPr lang="en-US" sz="900" dirty="0"/>
          </a:p>
        </p:txBody>
      </p:sp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15">
            <a:alphaModFix amt="6000"/>
          </a:blip>
          <a:stretch>
            <a:fillRect/>
          </a:stretch>
        </p:blipFill>
        <p:spPr>
          <a:xfrm>
            <a:off x="10105772" y="504812"/>
            <a:ext cx="1447764" cy="1447764"/>
          </a:xfrm>
          <a:prstGeom prst="rect">
            <a:avLst/>
          </a:prstGeom>
        </p:spPr>
      </p:pic>
      <p:pic>
        <p:nvPicPr>
          <p:cNvPr id="45" name="Image 26" descr="preencoded.png"/>
          <p:cNvPicPr>
            <a:picLocks noChangeAspect="1"/>
          </p:cNvPicPr>
          <p:nvPr/>
        </p:nvPicPr>
        <p:blipFill>
          <a:blip r:embed="rId16">
            <a:alphaModFix amt="6000"/>
          </a:blip>
          <a:stretch>
            <a:fillRect/>
          </a:stretch>
        </p:blipFill>
        <p:spPr>
          <a:xfrm>
            <a:off x="10381990" y="781030"/>
            <a:ext cx="1342991" cy="1342991"/>
          </a:xfrm>
          <a:prstGeom prst="rect">
            <a:avLst/>
          </a:prstGeom>
        </p:spPr>
      </p:pic>
      <p:pic>
        <p:nvPicPr>
          <p:cNvPr id="46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377" y="6238719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33318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Security Architecture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多层安全防护体系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485863"/>
            <a:ext cx="732416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从网络、应用、数据、接口四个层面构建全方位安全防护，确保患者隐私安全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1962101"/>
            <a:ext cx="5086223" cy="2085923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2200220"/>
            <a:ext cx="457189" cy="457189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793" y="2333567"/>
            <a:ext cx="238119" cy="19049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762081" y="2228794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Layer 01</a:t>
            </a:r>
            <a:endParaRPr lang="en-US" sz="900" dirty="0"/>
          </a:p>
        </p:txBody>
      </p:sp>
      <p:sp>
        <p:nvSpPr>
          <p:cNvPr id="12" name="Text 4"/>
          <p:cNvSpPr/>
          <p:nvPr/>
        </p:nvSpPr>
        <p:spPr>
          <a:xfrm>
            <a:off x="1762081" y="2419290"/>
            <a:ext cx="69492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网络安全</a:t>
            </a:r>
            <a:endParaRPr lang="en-US" sz="13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2886003"/>
            <a:ext cx="57149" cy="57149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85843" y="2809805"/>
            <a:ext cx="1266413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HTTPS/TLS加密传输</a:t>
            </a:r>
            <a:endParaRPr lang="en-US" sz="105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181270"/>
            <a:ext cx="57149" cy="57149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85843" y="3105072"/>
            <a:ext cx="67587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防火墙配置</a:t>
            </a:r>
            <a:endParaRPr lang="en-US" sz="105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476538"/>
            <a:ext cx="57149" cy="57149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285843" y="3400340"/>
            <a:ext cx="542531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访问控制</a:t>
            </a:r>
            <a:endParaRPr lang="en-US" sz="105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95" y="1962101"/>
            <a:ext cx="5086223" cy="2085923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14" y="2200220"/>
            <a:ext cx="457189" cy="457189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610" y="2333567"/>
            <a:ext cx="171446" cy="190495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7038799" y="2228794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Layer 02</a:t>
            </a:r>
            <a:endParaRPr lang="en-US" sz="900" dirty="0"/>
          </a:p>
        </p:txBody>
      </p:sp>
      <p:sp>
        <p:nvSpPr>
          <p:cNvPr id="23" name="Text 9"/>
          <p:cNvSpPr/>
          <p:nvPr/>
        </p:nvSpPr>
        <p:spPr>
          <a:xfrm>
            <a:off x="7038799" y="2419290"/>
            <a:ext cx="69492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应用安全</a:t>
            </a:r>
            <a:endParaRPr lang="en-US" sz="135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2886003"/>
            <a:ext cx="57149" cy="57149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6562561" y="2809805"/>
            <a:ext cx="118069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Spring Security框架</a:t>
            </a:r>
            <a:endParaRPr lang="en-US" sz="105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3181270"/>
            <a:ext cx="57149" cy="57149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6562561" y="3105072"/>
            <a:ext cx="818749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JWT令牌认证</a:t>
            </a:r>
            <a:endParaRPr lang="en-US" sz="105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3476538"/>
            <a:ext cx="57149" cy="57149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562561" y="3400340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会话超时控制</a:t>
            </a:r>
            <a:endParaRPr lang="en-US" sz="105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4238519"/>
            <a:ext cx="5086223" cy="2085923"/>
          </a:xfrm>
          <a:prstGeom prst="rect">
            <a:avLst/>
          </a:prstGeom>
        </p:spPr>
      </p:pic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4476638"/>
            <a:ext cx="457189" cy="457189"/>
          </a:xfrm>
          <a:prstGeom prst="rect">
            <a:avLst/>
          </a:prstGeom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892" y="4609985"/>
            <a:ext cx="171446" cy="190495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1762081" y="4505212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Layer 03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1762081" y="4695708"/>
            <a:ext cx="69492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数据安全</a:t>
            </a:r>
            <a:endParaRPr lang="en-US" sz="135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5162421"/>
            <a:ext cx="57149" cy="57149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1285843" y="5086223"/>
            <a:ext cx="1142591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AES-256-CBC加密</a:t>
            </a:r>
            <a:endParaRPr lang="en-US" sz="1050" dirty="0"/>
          </a:p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5457689"/>
            <a:ext cx="57149" cy="57149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1285843" y="5381490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敏感数据脱敏</a:t>
            </a:r>
            <a:endParaRPr lang="en-US" sz="105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5752956"/>
            <a:ext cx="57149" cy="57149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1285843" y="5676758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完整审计日志</a:t>
            </a:r>
            <a:endParaRPr lang="en-US" sz="1050" dirty="0"/>
          </a:p>
        </p:txBody>
      </p:sp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95" y="4238519"/>
            <a:ext cx="5086223" cy="2085923"/>
          </a:xfrm>
          <a:prstGeom prst="rect">
            <a:avLst/>
          </a:prstGeom>
        </p:spPr>
      </p:pic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14" y="4476638"/>
            <a:ext cx="457189" cy="457189"/>
          </a:xfrm>
          <a:prstGeom prst="rect">
            <a:avLst/>
          </a:prstGeom>
        </p:spPr>
      </p:pic>
      <p:pic>
        <p:nvPicPr>
          <p:cNvPr id="43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135" y="4609985"/>
            <a:ext cx="142871" cy="190495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7038799" y="4505212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Layer 04</a:t>
            </a:r>
            <a:endParaRPr lang="en-US" sz="900" dirty="0"/>
          </a:p>
        </p:txBody>
      </p:sp>
      <p:sp>
        <p:nvSpPr>
          <p:cNvPr id="45" name="Text 19"/>
          <p:cNvSpPr/>
          <p:nvPr/>
        </p:nvSpPr>
        <p:spPr>
          <a:xfrm>
            <a:off x="7038799" y="4695708"/>
            <a:ext cx="69492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接口安全</a:t>
            </a:r>
            <a:endParaRPr lang="en-US" sz="1350" dirty="0"/>
          </a:p>
        </p:txBody>
      </p:sp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5162421"/>
            <a:ext cx="57149" cy="57149"/>
          </a:xfrm>
          <a:prstGeom prst="rect">
            <a:avLst/>
          </a:prstGeom>
        </p:spPr>
      </p:pic>
      <p:sp>
        <p:nvSpPr>
          <p:cNvPr id="47" name="Text 20"/>
          <p:cNvSpPr/>
          <p:nvPr/>
        </p:nvSpPr>
        <p:spPr>
          <a:xfrm>
            <a:off x="6562561" y="5086223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严格参数校验</a:t>
            </a:r>
            <a:endParaRPr lang="en-US" sz="1050" dirty="0"/>
          </a:p>
        </p:txBody>
      </p:sp>
      <p:pic>
        <p:nvPicPr>
          <p:cNvPr id="48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5457689"/>
            <a:ext cx="57149" cy="57149"/>
          </a:xfrm>
          <a:prstGeom prst="rect">
            <a:avLst/>
          </a:prstGeom>
        </p:spPr>
      </p:pic>
      <p:sp>
        <p:nvSpPr>
          <p:cNvPr id="49" name="Text 21"/>
          <p:cNvSpPr/>
          <p:nvPr/>
        </p:nvSpPr>
        <p:spPr>
          <a:xfrm>
            <a:off x="6562561" y="5381490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标准化错误码</a:t>
            </a:r>
            <a:endParaRPr lang="en-US" sz="1050" dirty="0"/>
          </a:p>
        </p:txBody>
      </p:sp>
      <p:pic>
        <p:nvPicPr>
          <p:cNvPr id="50" name="Image 2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214" y="5752956"/>
            <a:ext cx="57149" cy="57149"/>
          </a:xfrm>
          <a:prstGeom prst="rect">
            <a:avLst/>
          </a:prstGeom>
        </p:spPr>
      </p:pic>
      <p:sp>
        <p:nvSpPr>
          <p:cNvPr id="51" name="Text 22"/>
          <p:cNvSpPr/>
          <p:nvPr/>
        </p:nvSpPr>
        <p:spPr>
          <a:xfrm>
            <a:off x="6562561" y="5676758"/>
            <a:ext cx="8092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智能限流控制</a:t>
            </a:r>
            <a:endParaRPr lang="en-US" sz="1050" dirty="0"/>
          </a:p>
        </p:txBody>
      </p:sp>
      <p:pic>
        <p:nvPicPr>
          <p:cNvPr id="52" name="Image 27" descr="preencoded.png"/>
          <p:cNvPicPr>
            <a:picLocks noChangeAspect="1"/>
          </p:cNvPicPr>
          <p:nvPr/>
        </p:nvPicPr>
        <p:blipFill>
          <a:blip r:embed="rId11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53" name="Image 28" descr="preencoded.png"/>
          <p:cNvPicPr>
            <a:picLocks noChangeAspect="1"/>
          </p:cNvPicPr>
          <p:nvPr/>
        </p:nvPicPr>
        <p:blipFill>
          <a:blip r:embed="rId12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54" name="Image 2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1426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 Diagnostic System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AI诊疗辅助系统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523962"/>
            <a:ext cx="7324161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智能组装患者数据为Prompt，调用大语言模型提供诊断建议和治疗方案参考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114497"/>
            <a:ext cx="304792" cy="30479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33467" y="2162121"/>
            <a:ext cx="77112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核心功能</a:t>
            </a:r>
            <a:endParaRPr lang="en-US" sz="15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2609785"/>
            <a:ext cx="3143171" cy="189542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397" y="2809805"/>
            <a:ext cx="380990" cy="38099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44" y="2924102"/>
            <a:ext cx="114297" cy="15239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114397" y="3305092"/>
            <a:ext cx="275227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Prompt智能组装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1114397" y="3609885"/>
            <a:ext cx="2752275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内置多种模板（诊断分析、治疗建议、风险评估），支持自定义</a:t>
            </a:r>
            <a:endParaRPr lang="en-US" sz="105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945" y="2609785"/>
            <a:ext cx="3143171" cy="1895428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965" y="2809805"/>
            <a:ext cx="380990" cy="38099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262" y="2924102"/>
            <a:ext cx="152396" cy="152396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409965" y="3305092"/>
            <a:ext cx="275227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409965" y="3609885"/>
            <a:ext cx="275227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DeepSeek Chat、阿里百炼等，灵活切换</a:t>
            </a:r>
            <a:endParaRPr lang="en-US" sz="105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377" y="4648084"/>
            <a:ext cx="3143171" cy="1676358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397" y="4848104"/>
            <a:ext cx="380990" cy="38099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7744" y="4962401"/>
            <a:ext cx="114297" cy="152396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114397" y="5343391"/>
            <a:ext cx="275227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流式响应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1114397" y="5648184"/>
            <a:ext cx="275227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实时返回生成结果，无需长时间等待</a:t>
            </a:r>
            <a:endParaRPr lang="en-US" sz="105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9945" y="4648084"/>
            <a:ext cx="3143171" cy="1676358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965" y="4848104"/>
            <a:ext cx="380990" cy="380990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4262" y="4962401"/>
            <a:ext cx="152396" cy="152396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4409965" y="5343391"/>
            <a:ext cx="275227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结果管理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4409965" y="5648184"/>
            <a:ext cx="275227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存储历史分析结果，医生可编辑反馈</a:t>
            </a:r>
            <a:endParaRPr lang="en-US" sz="105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909" y="2114497"/>
            <a:ext cx="304792" cy="304792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8076998" y="2162121"/>
            <a:ext cx="77112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工作流程</a:t>
            </a:r>
            <a:endParaRPr lang="en-US" sz="15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7909" y="2609785"/>
            <a:ext cx="3619410" cy="3724182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8899" y="3076498"/>
            <a:ext cx="19050" cy="2790755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353216" y="2847904"/>
            <a:ext cx="2695127" cy="40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患者数据</a:t>
            </a:r>
            <a:endParaRPr lang="en-US" sz="1200" dirty="0"/>
          </a:p>
        </p:txBody>
      </p:sp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028" y="2895528"/>
            <a:ext cx="304792" cy="304792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7896028" y="2895528"/>
            <a:ext cx="313936" cy="304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8353216" y="3400340"/>
            <a:ext cx="2695127" cy="40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智能组装Prompt</a:t>
            </a:r>
            <a:endParaRPr lang="en-US" sz="120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028" y="3447964"/>
            <a:ext cx="304792" cy="304792"/>
          </a:xfrm>
          <a:prstGeom prst="rect">
            <a:avLst/>
          </a:prstGeom>
        </p:spPr>
      </p:pic>
      <p:sp>
        <p:nvSpPr>
          <p:cNvPr id="39" name="Text 16"/>
          <p:cNvSpPr/>
          <p:nvPr/>
        </p:nvSpPr>
        <p:spPr>
          <a:xfrm>
            <a:off x="7896028" y="3447964"/>
            <a:ext cx="313936" cy="304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8353216" y="3952776"/>
            <a:ext cx="2695127" cy="40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调用大模型</a:t>
            </a:r>
            <a:endParaRPr lang="en-US" sz="1200" dirty="0"/>
          </a:p>
        </p:txBody>
      </p:sp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028" y="4000400"/>
            <a:ext cx="304792" cy="304792"/>
          </a:xfrm>
          <a:prstGeom prst="rect">
            <a:avLst/>
          </a:prstGeom>
        </p:spPr>
      </p:pic>
      <p:sp>
        <p:nvSpPr>
          <p:cNvPr id="42" name="Text 18"/>
          <p:cNvSpPr/>
          <p:nvPr/>
        </p:nvSpPr>
        <p:spPr>
          <a:xfrm>
            <a:off x="7896028" y="4000400"/>
            <a:ext cx="313936" cy="304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Text 19"/>
          <p:cNvSpPr/>
          <p:nvPr/>
        </p:nvSpPr>
        <p:spPr>
          <a:xfrm>
            <a:off x="8353216" y="4505212"/>
            <a:ext cx="2695127" cy="40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生成诊断建议</a:t>
            </a:r>
            <a:endParaRPr lang="en-US" sz="1200" dirty="0"/>
          </a:p>
        </p:txBody>
      </p:sp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028" y="4552836"/>
            <a:ext cx="304792" cy="304792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7896028" y="4552836"/>
            <a:ext cx="313936" cy="304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8353216" y="5057649"/>
            <a:ext cx="2695127" cy="40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5E5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医生参考决策</a:t>
            </a:r>
            <a:endParaRPr lang="en-US" sz="1200" dirty="0"/>
          </a:p>
        </p:txBody>
      </p:sp>
      <p:pic>
        <p:nvPicPr>
          <p:cNvPr id="47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028" y="5105272"/>
            <a:ext cx="304792" cy="304792"/>
          </a:xfrm>
          <a:prstGeom prst="rect">
            <a:avLst/>
          </a:prstGeom>
        </p:spPr>
      </p:pic>
      <p:sp>
        <p:nvSpPr>
          <p:cNvPr id="48" name="Text 22"/>
          <p:cNvSpPr/>
          <p:nvPr/>
        </p:nvSpPr>
        <p:spPr>
          <a:xfrm>
            <a:off x="7896028" y="5105272"/>
            <a:ext cx="313936" cy="304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5</a:t>
            </a:r>
            <a:endParaRPr lang="en-US" sz="1050" dirty="0"/>
          </a:p>
        </p:txBody>
      </p:sp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15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50" name="Image 25" descr="preencoded.png"/>
          <p:cNvPicPr>
            <a:picLocks noChangeAspect="1"/>
          </p:cNvPicPr>
          <p:nvPr/>
        </p:nvPicPr>
        <p:blipFill>
          <a:blip r:embed="rId16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51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95308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609585"/>
            <a:ext cx="18093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Core Capabilities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952476"/>
            <a:ext cx="10372085" cy="600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DRG智能分析系统</a:t>
            </a:r>
            <a:endParaRPr lang="en-US" sz="3150" dirty="0"/>
          </a:p>
        </p:txBody>
      </p:sp>
      <p:sp>
        <p:nvSpPr>
          <p:cNvPr id="7" name="Text 2"/>
          <p:cNvSpPr/>
          <p:nvPr/>
        </p:nvSpPr>
        <p:spPr>
          <a:xfrm>
            <a:off x="914377" y="1666833"/>
            <a:ext cx="7324161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自动匹配DRG分组，实时计算医保盈亏，辅助医保精细化管理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914377" y="2257369"/>
            <a:ext cx="610499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核心能力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676458"/>
            <a:ext cx="6095848" cy="95247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2895528"/>
            <a:ext cx="304792" cy="30479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170" y="2981250"/>
            <a:ext cx="104772" cy="133347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533487" y="2876478"/>
            <a:ext cx="5285862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DRG自动匹配</a:t>
            </a:r>
            <a:endParaRPr lang="en-US" sz="1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3487" y="3181270"/>
            <a:ext cx="828654" cy="24764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609685" y="3219370"/>
            <a:ext cx="685402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ICD精确匹配</a:t>
            </a:r>
            <a:endParaRPr lang="en-US" sz="900" dirty="0"/>
          </a:p>
        </p:txBody>
      </p:sp>
      <p:sp>
        <p:nvSpPr>
          <p:cNvPr id="15" name="Text 6"/>
          <p:cNvSpPr/>
          <p:nvPr/>
        </p:nvSpPr>
        <p:spPr>
          <a:xfrm>
            <a:off x="2438339" y="3209845"/>
            <a:ext cx="1424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→</a:t>
            </a:r>
            <a:endParaRPr lang="en-US" sz="10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7884" y="3181270"/>
            <a:ext cx="857229" cy="24764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2724082" y="3219370"/>
            <a:ext cx="713976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名称双向包含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3581310" y="3209845"/>
            <a:ext cx="1424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→</a:t>
            </a:r>
            <a:endParaRPr lang="en-US" sz="10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0855" y="3181270"/>
            <a:ext cx="1428714" cy="247644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3867053" y="3219370"/>
            <a:ext cx="1285462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相似度智能匹配（≥0.7）</a:t>
            </a:r>
            <a:endParaRPr lang="en-US" sz="9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377" y="3743231"/>
            <a:ext cx="6095848" cy="885803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3962301"/>
            <a:ext cx="304792" cy="304792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645" y="4048024"/>
            <a:ext cx="123822" cy="133347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533487" y="3943251"/>
            <a:ext cx="234271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双向严格分流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1533487" y="4209945"/>
            <a:ext cx="2342711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有手术/无手术患者分别匹配对应DRG组</a:t>
            </a:r>
            <a:endParaRPr lang="en-US" sz="105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377" y="4733807"/>
            <a:ext cx="6095848" cy="885803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4952876"/>
            <a:ext cx="304792" cy="304792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170" y="5038599"/>
            <a:ext cx="104772" cy="133347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1533487" y="4933827"/>
            <a:ext cx="200934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盈亏实时计算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1533487" y="5200520"/>
            <a:ext cx="200934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实时对比医保支付标准与实际费用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7315017" y="2257369"/>
            <a:ext cx="397144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价值体现</a:t>
            </a:r>
            <a:endParaRPr lang="en-US" sz="1500" dirty="0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017" y="2638359"/>
            <a:ext cx="3962301" cy="3076498"/>
          </a:xfrm>
          <a:prstGeom prst="rect">
            <a:avLst/>
          </a:prstGeom>
        </p:spPr>
      </p:pic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>
            <a:off x="10515337" y="1876378"/>
            <a:ext cx="1523962" cy="1523962"/>
          </a:xfrm>
          <a:prstGeom prst="rect">
            <a:avLst/>
          </a:prstGeom>
        </p:spPr>
      </p:pic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5">
            <a:alphaModFix amt="40000"/>
          </a:blip>
          <a:stretch>
            <a:fillRect/>
          </a:stretch>
        </p:blipFill>
        <p:spPr>
          <a:xfrm>
            <a:off x="6857829" y="5248144"/>
            <a:ext cx="914377" cy="914377"/>
          </a:xfrm>
          <a:prstGeom prst="rect">
            <a:avLst/>
          </a:prstGeom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9809" y="3305092"/>
            <a:ext cx="457189" cy="457189"/>
          </a:xfrm>
          <a:prstGeom prst="rect">
            <a:avLst/>
          </a:prstGeom>
        </p:spPr>
      </p:pic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53156" y="3438439"/>
            <a:ext cx="190495" cy="190495"/>
          </a:xfrm>
          <a:prstGeom prst="rect">
            <a:avLst/>
          </a:prstGeom>
        </p:spPr>
      </p:pic>
      <p:sp>
        <p:nvSpPr>
          <p:cNvPr id="42" name="Text 17"/>
          <p:cNvSpPr/>
          <p:nvPr/>
        </p:nvSpPr>
        <p:spPr>
          <a:xfrm>
            <a:off x="8191295" y="3381290"/>
            <a:ext cx="923521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核心收益</a:t>
            </a:r>
            <a:endParaRPr lang="en-US" sz="1800" dirty="0"/>
          </a:p>
        </p:txBody>
      </p:sp>
      <p:pic>
        <p:nvPicPr>
          <p:cNvPr id="43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9809" y="4048024"/>
            <a:ext cx="123822" cy="133347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7857929" y="3990875"/>
            <a:ext cx="1418809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DF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提升DRG分组准确性</a:t>
            </a:r>
            <a:endParaRPr lang="en-US" sz="1200" dirty="0"/>
          </a:p>
        </p:txBody>
      </p:sp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9809" y="4448064"/>
            <a:ext cx="123822" cy="133347"/>
          </a:xfrm>
          <a:prstGeom prst="rect">
            <a:avLst/>
          </a:prstGeom>
        </p:spPr>
      </p:pic>
      <p:sp>
        <p:nvSpPr>
          <p:cNvPr id="46" name="Text 19"/>
          <p:cNvSpPr/>
          <p:nvPr/>
        </p:nvSpPr>
        <p:spPr>
          <a:xfrm>
            <a:off x="7857929" y="4390915"/>
            <a:ext cx="92352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DF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优化医保收益</a:t>
            </a:r>
            <a:endParaRPr lang="en-US" sz="1200" dirty="0"/>
          </a:p>
        </p:txBody>
      </p:sp>
      <p:pic>
        <p:nvPicPr>
          <p:cNvPr id="4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9809" y="4848104"/>
            <a:ext cx="123822" cy="133347"/>
          </a:xfrm>
          <a:prstGeom prst="rect">
            <a:avLst/>
          </a:prstGeom>
        </p:spPr>
      </p:pic>
      <p:sp>
        <p:nvSpPr>
          <p:cNvPr id="48" name="Text 20"/>
          <p:cNvSpPr/>
          <p:nvPr/>
        </p:nvSpPr>
        <p:spPr>
          <a:xfrm>
            <a:off x="7857929" y="4790955"/>
            <a:ext cx="1380710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DF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支持医院精细化管理</a:t>
            </a:r>
            <a:endParaRPr lang="en-US" sz="1200" dirty="0"/>
          </a:p>
        </p:txBody>
      </p:sp>
      <p:pic>
        <p:nvPicPr>
          <p:cNvPr id="49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15017" y="5857729"/>
            <a:ext cx="3962301" cy="761981"/>
          </a:xfrm>
          <a:prstGeom prst="rect">
            <a:avLst/>
          </a:prstGeom>
        </p:spPr>
      </p:pic>
      <p:pic>
        <p:nvPicPr>
          <p:cNvPr id="50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6938" y="6038699"/>
            <a:ext cx="104772" cy="133347"/>
          </a:xfrm>
          <a:prstGeom prst="rect">
            <a:avLst/>
          </a:prstGeom>
        </p:spPr>
      </p:pic>
      <p:sp>
        <p:nvSpPr>
          <p:cNvPr id="51" name="Text 21"/>
          <p:cNvSpPr/>
          <p:nvPr/>
        </p:nvSpPr>
        <p:spPr>
          <a:xfrm>
            <a:off x="7696008" y="6019650"/>
            <a:ext cx="3438058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通过智能算法降低人工编码错误率，实现医保控费与医疗质量的双重提升</a:t>
            </a:r>
            <a:endParaRPr lang="en-US" sz="1050" dirty="0"/>
          </a:p>
        </p:txBody>
      </p:sp>
      <p:pic>
        <p:nvPicPr>
          <p:cNvPr id="52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377" y="6238719"/>
            <a:ext cx="10362941" cy="9525"/>
          </a:xfrm>
          <a:prstGeom prst="rect">
            <a:avLst/>
          </a:prstGeom>
        </p:spPr>
      </p:pic>
      <p:pic>
        <p:nvPicPr>
          <p:cNvPr id="53" name="Image 29" descr="preencoded.png"/>
          <p:cNvPicPr>
            <a:picLocks noChangeAspect="1"/>
          </p:cNvPicPr>
          <p:nvPr/>
        </p:nvPicPr>
        <p:blipFill>
          <a:blip r:embed="rId22">
            <a:alphaModFix amt="4000"/>
          </a:blip>
          <a:stretch>
            <a:fillRect/>
          </a:stretch>
        </p:blipFill>
        <p:spPr>
          <a:xfrm>
            <a:off x="10286743" y="685783"/>
            <a:ext cx="1085823" cy="10858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27603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Intelligent Screening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并发症智能筛查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485863"/>
            <a:ext cx="8543331" cy="495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基于12,000+条MCC字典，自动筛查患者可能的严重并发症/合并症（MCC）和一般并发症/合并症（CC），提升诊断编码完整率。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209745"/>
            <a:ext cx="5086223" cy="149538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2571686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269" y="2676458"/>
            <a:ext cx="171446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685883" y="2571686"/>
            <a:ext cx="408574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智能匹配算法</a:t>
            </a:r>
            <a:endParaRPr lang="en-US" sz="1350" dirty="0"/>
          </a:p>
        </p:txBody>
      </p:sp>
      <p:sp>
        <p:nvSpPr>
          <p:cNvPr id="12" name="Text 4"/>
          <p:cNvSpPr/>
          <p:nvPr/>
        </p:nvSpPr>
        <p:spPr>
          <a:xfrm>
            <a:off x="1685883" y="2914577"/>
            <a:ext cx="4085742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编码精确匹配结合名称相似度匹配（Levenshtein算法），双重保障确保筛查准确性，有效识别潜在并发症。</a:t>
            </a:r>
            <a:endParaRPr lang="en-US" sz="10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95" y="2209745"/>
            <a:ext cx="5086223" cy="1495388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14" y="2571686"/>
            <a:ext cx="380990" cy="38099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987" y="2676458"/>
            <a:ext cx="171446" cy="17144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6962601" y="2571686"/>
            <a:ext cx="408574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自动排除规则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6962601" y="2914577"/>
            <a:ext cx="4085742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内置医学逻辑排除规则引擎，自动检查并过滤误匹配项，避免假阳性结果，确保临床参考价值。</a:t>
            </a:r>
            <a:endParaRPr lang="en-US" sz="10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3895628"/>
            <a:ext cx="5086223" cy="1495388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4257569"/>
            <a:ext cx="380990" cy="38099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269" y="4362341"/>
            <a:ext cx="171446" cy="17144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685883" y="4257569"/>
            <a:ext cx="408574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分组优先级排序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1685883" y="4600460"/>
            <a:ext cx="4085742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按来源诊断智能分组展示，MCC（严重并发症）优先于CC（一般并发症）呈现，符合临床诊断逻辑。</a:t>
            </a:r>
            <a:endParaRPr lang="en-US" sz="105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377" y="5619610"/>
            <a:ext cx="10362941" cy="704832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397" y="5819630"/>
            <a:ext cx="304792" cy="304792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170" y="5905352"/>
            <a:ext cx="104772" cy="133347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1571586" y="5905352"/>
            <a:ext cx="49490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5E5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演示要点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2171646" y="5876778"/>
            <a:ext cx="301896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查看患者MCC/CC筛查结果 → 展示候选并发症列表</a:t>
            </a:r>
            <a:endParaRPr lang="en-US" sz="105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2">
            <a:alphaModFix amt="6000"/>
          </a:blip>
          <a:stretch>
            <a:fillRect/>
          </a:stretch>
        </p:blipFill>
        <p:spPr>
          <a:xfrm>
            <a:off x="10439139" y="457189"/>
            <a:ext cx="1085823" cy="1085823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>
            <a:off x="10629634" y="647684"/>
            <a:ext cx="1009625" cy="1009625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185694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Voice Recognition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语音识别病历辅助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600160"/>
            <a:ext cx="8543331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支持医生通过语音实时录入病历，AI辅助整理格式，</a:t>
            </a:r>
            <a:r>
              <a:rPr lang="en-US" sz="135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大幅提升病历书写效率</a:t>
            </a: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。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114497"/>
            <a:ext cx="6133947" cy="421947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694" y="2428814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041" y="2533587"/>
            <a:ext cx="133347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723982" y="2485963"/>
            <a:ext cx="1123541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两种识别模式</a:t>
            </a:r>
            <a:endParaRPr lang="en-US" sz="15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694" y="3038399"/>
            <a:ext cx="5505312" cy="428614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694" y="3038399"/>
            <a:ext cx="1209645" cy="428614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381090" y="3152696"/>
            <a:ext cx="913996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模式</a:t>
            </a:r>
            <a:endParaRPr lang="en-US" sz="105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339" y="3038399"/>
            <a:ext cx="1543011" cy="428614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2590735" y="3152696"/>
            <a:ext cx="1247363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方式</a:t>
            </a:r>
            <a:endParaRPr lang="en-US" sz="105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1350" y="3038399"/>
            <a:ext cx="2752656" cy="428614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133747" y="3152696"/>
            <a:ext cx="2457008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场景</a:t>
            </a:r>
            <a:endParaRPr lang="en-US" sz="105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694" y="3457489"/>
            <a:ext cx="5505312" cy="504812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228694" y="3457489"/>
            <a:ext cx="1218789" cy="5048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实时语音识别</a:t>
            </a:r>
            <a:endParaRPr lang="en-US" sz="105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8339" y="3457489"/>
            <a:ext cx="1543011" cy="504812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2590735" y="3609885"/>
            <a:ext cx="1247363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WebSocket长连接</a:t>
            </a:r>
            <a:endParaRPr lang="en-US" sz="900" dirty="0"/>
          </a:p>
        </p:txBody>
      </p:sp>
      <p:sp>
        <p:nvSpPr>
          <p:cNvPr id="23" name="Text 9"/>
          <p:cNvSpPr/>
          <p:nvPr/>
        </p:nvSpPr>
        <p:spPr>
          <a:xfrm>
            <a:off x="3981350" y="3457489"/>
            <a:ext cx="2761800" cy="5048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医生查房时现场语音输入</a:t>
            </a:r>
            <a:endParaRPr lang="en-US" sz="1050" dirty="0"/>
          </a:p>
        </p:txBody>
      </p:sp>
      <p:sp>
        <p:nvSpPr>
          <p:cNvPr id="24" name="Text 10"/>
          <p:cNvSpPr/>
          <p:nvPr/>
        </p:nvSpPr>
        <p:spPr>
          <a:xfrm>
            <a:off x="1228694" y="3962301"/>
            <a:ext cx="1218789" cy="5048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录音文件识别</a:t>
            </a:r>
            <a:endParaRPr lang="en-US" sz="105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8339" y="3962301"/>
            <a:ext cx="1543011" cy="504812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2590735" y="4114697"/>
            <a:ext cx="1247363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HTTP文件上传</a:t>
            </a:r>
            <a:endParaRPr lang="en-US" sz="900" dirty="0"/>
          </a:p>
        </p:txBody>
      </p:sp>
      <p:sp>
        <p:nvSpPr>
          <p:cNvPr id="27" name="Text 12"/>
          <p:cNvSpPr/>
          <p:nvPr/>
        </p:nvSpPr>
        <p:spPr>
          <a:xfrm>
            <a:off x="3981350" y="3962301"/>
            <a:ext cx="2761800" cy="5048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录音后批量识别</a:t>
            </a:r>
            <a:endParaRPr lang="en-US" sz="105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6918" y="2114497"/>
            <a:ext cx="4009925" cy="3143171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15037" y="2352616"/>
            <a:ext cx="342891" cy="342891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9334" y="2447864"/>
            <a:ext cx="114297" cy="152396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7972226" y="2390715"/>
            <a:ext cx="68540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技术优势</a:t>
            </a:r>
            <a:endParaRPr lang="en-US" sz="1350" dirty="0"/>
          </a:p>
        </p:txBody>
      </p:sp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5037" y="2962201"/>
            <a:ext cx="57149" cy="57149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7686483" y="2886003"/>
            <a:ext cx="189504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延迟&lt;1秒</a:t>
            </a: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，支持中英文混合识别</a:t>
            </a:r>
            <a:endParaRPr lang="en-US" sz="1050" dirty="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5037" y="3324142"/>
            <a:ext cx="57149" cy="57149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7686483" y="3247944"/>
            <a:ext cx="1475957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识别结果</a:t>
            </a: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可直接写入</a:t>
            </a: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</a:t>
            </a:r>
            <a:endParaRPr lang="en-US" sz="105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76918" y="5448164"/>
            <a:ext cx="4009925" cy="885803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5512" y="5676758"/>
            <a:ext cx="133347" cy="133347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7715057" y="5648184"/>
            <a:ext cx="57110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演示要点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7505512" y="5914877"/>
            <a:ext cx="359045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点击录音按钮 → 语音输入 → 查看实时转写结果</a:t>
            </a:r>
            <a:endParaRPr lang="en-US" sz="1050" dirty="0"/>
          </a:p>
        </p:txBody>
      </p:sp>
      <p:pic>
        <p:nvPicPr>
          <p:cNvPr id="40" name="Image 20" descr="preencoded.png"/>
          <p:cNvPicPr>
            <a:picLocks noChangeAspect="1"/>
          </p:cNvPicPr>
          <p:nvPr/>
        </p:nvPicPr>
        <p:blipFill>
          <a:blip r:embed="rId19">
            <a:alphaModFix amt="6000"/>
          </a:blip>
          <a:stretch>
            <a:fillRect/>
          </a:stretch>
        </p:blipFill>
        <p:spPr>
          <a:xfrm>
            <a:off x="10439139" y="457189"/>
            <a:ext cx="1085823" cy="1085823"/>
          </a:xfrm>
          <a:prstGeom prst="rect">
            <a:avLst/>
          </a:prstGeom>
        </p:spPr>
      </p:pic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20">
            <a:alphaModFix amt="6000"/>
          </a:blip>
          <a:stretch>
            <a:fillRect/>
          </a:stretch>
        </p:blipFill>
        <p:spPr>
          <a:xfrm>
            <a:off x="10629634" y="647684"/>
            <a:ext cx="1009625" cy="1009625"/>
          </a:xfrm>
          <a:prstGeom prst="rect">
            <a:avLst/>
          </a:prstGeom>
        </p:spPr>
      </p:pic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99019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600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现场演示环节</a:t>
            </a:r>
            <a:endParaRPr lang="en-US" sz="3150" dirty="0"/>
          </a:p>
        </p:txBody>
      </p:sp>
      <p:sp>
        <p:nvSpPr>
          <p:cNvPr id="7" name="Text 2"/>
          <p:cNvSpPr/>
          <p:nvPr/>
        </p:nvSpPr>
        <p:spPr>
          <a:xfrm>
            <a:off x="914377" y="1514437"/>
            <a:ext cx="7324161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即将进行系统功能演示，展示AI诊断分析、DRG分析、语音识别等核心功能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914377" y="2104972"/>
            <a:ext cx="593354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演示流程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447864"/>
            <a:ext cx="5924402" cy="742931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98" y="2609785"/>
            <a:ext cx="304792" cy="30479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00120" y="2666933"/>
            <a:ext cx="8534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1533487" y="2609785"/>
            <a:ext cx="618729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患者列表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270" y="2666933"/>
            <a:ext cx="76198" cy="11429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371666" y="2609785"/>
            <a:ext cx="618729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选择患者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449" y="2666933"/>
            <a:ext cx="76198" cy="11429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200320" y="2609785"/>
            <a:ext cx="92352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查看患者画像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533487" y="2876478"/>
            <a:ext cx="46953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综合信息展示 · 多维度数据融合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66" y="2609785"/>
            <a:ext cx="304792" cy="304792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789" y="2685983"/>
            <a:ext cx="133347" cy="152396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3305092"/>
            <a:ext cx="5924402" cy="742931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98" y="3467013"/>
            <a:ext cx="304792" cy="304792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200120" y="3524162"/>
            <a:ext cx="8534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10"/>
          <p:cNvSpPr/>
          <p:nvPr/>
        </p:nvSpPr>
        <p:spPr>
          <a:xfrm>
            <a:off x="1533487" y="3467013"/>
            <a:ext cx="77112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AI诊断分析</a:t>
            </a:r>
            <a:endParaRPr lang="en-US" sz="12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666" y="3524162"/>
            <a:ext cx="76198" cy="114297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2524062" y="3467013"/>
            <a:ext cx="80922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查看Prompt</a:t>
            </a:r>
            <a:endParaRPr lang="en-US" sz="12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340" y="3524162"/>
            <a:ext cx="76198" cy="114297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3543211" y="3467013"/>
            <a:ext cx="77112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AI分析结果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1533487" y="3733707"/>
            <a:ext cx="46953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智能推理过程透明化 · 辅助诊断建议</a:t>
            </a:r>
            <a:endParaRPr lang="en-US" sz="9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66" y="3467013"/>
            <a:ext cx="304792" cy="304792"/>
          </a:xfrm>
          <a:prstGeom prst="rect">
            <a:avLst/>
          </a:prstGeom>
        </p:spPr>
      </p:pic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264" y="3543211"/>
            <a:ext cx="152396" cy="152396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4162321"/>
            <a:ext cx="5924402" cy="742931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98" y="4324242"/>
            <a:ext cx="304792" cy="304792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1200120" y="4381390"/>
            <a:ext cx="8534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1533487" y="4324242"/>
            <a:ext cx="656828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DRG分析</a:t>
            </a:r>
            <a:endParaRPr lang="en-US" sz="120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369" y="4381390"/>
            <a:ext cx="76198" cy="114297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2409765" y="4324242"/>
            <a:ext cx="92352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查看匹配结果</a:t>
            </a:r>
            <a:endParaRPr lang="en-US" sz="1200" dirty="0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340" y="4381390"/>
            <a:ext cx="76198" cy="114297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3543211" y="4324242"/>
            <a:ext cx="618729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盈亏计算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1533487" y="4590935"/>
            <a:ext cx="46953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实时分组预测 · 费用结构分析</a:t>
            </a:r>
            <a:endParaRPr lang="en-US" sz="900" dirty="0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66" y="4324242"/>
            <a:ext cx="304792" cy="304792"/>
          </a:xfrm>
          <a:prstGeom prst="rect">
            <a:avLst/>
          </a:prstGeom>
        </p:spPr>
      </p:pic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739" y="4400440"/>
            <a:ext cx="171446" cy="152396"/>
          </a:xfrm>
          <a:prstGeom prst="rect">
            <a:avLst/>
          </a:prstGeom>
        </p:spPr>
      </p:pic>
      <p:pic>
        <p:nvPicPr>
          <p:cNvPr id="42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377" y="5019550"/>
            <a:ext cx="1904952" cy="742931"/>
          </a:xfrm>
          <a:prstGeom prst="rect">
            <a:avLst/>
          </a:prstGeom>
        </p:spPr>
      </p:pic>
      <p:pic>
        <p:nvPicPr>
          <p:cNvPr id="43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8199" y="5143371"/>
            <a:ext cx="228594" cy="228594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1123922" y="5181470"/>
            <a:ext cx="7581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1342991" y="5162421"/>
            <a:ext cx="8092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MCC/CC筛查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1038199" y="5448164"/>
            <a:ext cx="166645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并发症与合并症智能识别</a:t>
            </a:r>
            <a:endParaRPr lang="en-US" sz="900" dirty="0"/>
          </a:p>
        </p:txBody>
      </p:sp>
      <p:pic>
        <p:nvPicPr>
          <p:cNvPr id="47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3627" y="5019550"/>
            <a:ext cx="1904952" cy="742931"/>
          </a:xfrm>
          <a:prstGeom prst="rect">
            <a:avLst/>
          </a:prstGeom>
        </p:spPr>
      </p:pic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7449" y="5143371"/>
            <a:ext cx="228594" cy="228594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3133647" y="5181470"/>
            <a:ext cx="7581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3362241" y="5162421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语音识别</a:t>
            </a:r>
            <a:endParaRPr lang="en-US" sz="1050" dirty="0"/>
          </a:p>
        </p:txBody>
      </p:sp>
      <p:sp>
        <p:nvSpPr>
          <p:cNvPr id="51" name="Text 24"/>
          <p:cNvSpPr/>
          <p:nvPr/>
        </p:nvSpPr>
        <p:spPr>
          <a:xfrm>
            <a:off x="3057449" y="5448164"/>
            <a:ext cx="166645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实时语音转写 · 病历自动生成</a:t>
            </a:r>
            <a:endParaRPr lang="en-US" sz="900" dirty="0"/>
          </a:p>
        </p:txBody>
      </p:sp>
      <p:pic>
        <p:nvPicPr>
          <p:cNvPr id="52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3351" y="5019550"/>
            <a:ext cx="1904952" cy="742931"/>
          </a:xfrm>
          <a:prstGeom prst="rect">
            <a:avLst/>
          </a:prstGeom>
        </p:spPr>
      </p:pic>
      <p:pic>
        <p:nvPicPr>
          <p:cNvPr id="53" name="Image 2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7173" y="5143371"/>
            <a:ext cx="228594" cy="228594"/>
          </a:xfrm>
          <a:prstGeom prst="rect">
            <a:avLst/>
          </a:prstGeom>
        </p:spPr>
      </p:pic>
      <p:sp>
        <p:nvSpPr>
          <p:cNvPr id="54" name="Text 25"/>
          <p:cNvSpPr/>
          <p:nvPr/>
        </p:nvSpPr>
        <p:spPr>
          <a:xfrm>
            <a:off x="5143371" y="5181470"/>
            <a:ext cx="7581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Text 26"/>
          <p:cNvSpPr/>
          <p:nvPr/>
        </p:nvSpPr>
        <p:spPr>
          <a:xfrm>
            <a:off x="5371966" y="5162421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待办事项</a:t>
            </a:r>
            <a:endParaRPr lang="en-US" sz="1050" dirty="0"/>
          </a:p>
        </p:txBody>
      </p:sp>
      <p:sp>
        <p:nvSpPr>
          <p:cNvPr id="56" name="Text 27"/>
          <p:cNvSpPr/>
          <p:nvPr/>
        </p:nvSpPr>
        <p:spPr>
          <a:xfrm>
            <a:off x="5067173" y="5448164"/>
            <a:ext cx="166645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智能任务列表 · 优先级排序</a:t>
            </a:r>
            <a:endParaRPr lang="en-US" sz="900" dirty="0"/>
          </a:p>
        </p:txBody>
      </p:sp>
      <p:pic>
        <p:nvPicPr>
          <p:cNvPr id="57" name="Image 2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571" y="2104972"/>
            <a:ext cx="4143271" cy="4228994"/>
          </a:xfrm>
          <a:prstGeom prst="rect">
            <a:avLst/>
          </a:prstGeom>
        </p:spPr>
      </p:pic>
      <p:pic>
        <p:nvPicPr>
          <p:cNvPr id="58" name="Image 2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1690" y="2362141"/>
            <a:ext cx="380990" cy="380990"/>
          </a:xfrm>
          <a:prstGeom prst="rect">
            <a:avLst/>
          </a:prstGeom>
        </p:spPr>
      </p:pic>
      <p:pic>
        <p:nvPicPr>
          <p:cNvPr id="59" name="Image 2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7413" y="2466913"/>
            <a:ext cx="219070" cy="171446"/>
          </a:xfrm>
          <a:prstGeom prst="rect">
            <a:avLst/>
          </a:prstGeom>
        </p:spPr>
      </p:pic>
      <p:sp>
        <p:nvSpPr>
          <p:cNvPr id="60" name="Text 28"/>
          <p:cNvSpPr/>
          <p:nvPr/>
        </p:nvSpPr>
        <p:spPr>
          <a:xfrm>
            <a:off x="7876978" y="2343091"/>
            <a:ext cx="694927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互动问答</a:t>
            </a:r>
            <a:endParaRPr lang="en-US" sz="1350" dirty="0"/>
          </a:p>
        </p:txBody>
      </p:sp>
      <p:sp>
        <p:nvSpPr>
          <p:cNvPr id="61" name="Text 29"/>
          <p:cNvSpPr/>
          <p:nvPr/>
        </p:nvSpPr>
        <p:spPr>
          <a:xfrm>
            <a:off x="7876978" y="2609785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Q&amp;A Session</a:t>
            </a:r>
            <a:endParaRPr lang="en-US" sz="900" dirty="0"/>
          </a:p>
        </p:txBody>
      </p:sp>
      <p:pic>
        <p:nvPicPr>
          <p:cNvPr id="62" name="Image 3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1690" y="3066973"/>
            <a:ext cx="3667033" cy="1142971"/>
          </a:xfrm>
          <a:prstGeom prst="rect">
            <a:avLst/>
          </a:prstGeom>
        </p:spPr>
      </p:pic>
      <p:pic>
        <p:nvPicPr>
          <p:cNvPr id="63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81710" y="3305092"/>
            <a:ext cx="152396" cy="152396"/>
          </a:xfrm>
          <a:prstGeom prst="rect">
            <a:avLst/>
          </a:prstGeom>
        </p:spPr>
      </p:pic>
      <p:sp>
        <p:nvSpPr>
          <p:cNvPr id="64" name="Text 30"/>
          <p:cNvSpPr/>
          <p:nvPr/>
        </p:nvSpPr>
        <p:spPr>
          <a:xfrm>
            <a:off x="7848404" y="3266993"/>
            <a:ext cx="300944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准备好您的问题</a:t>
            </a:r>
            <a:endParaRPr lang="en-US" sz="1200" dirty="0"/>
          </a:p>
        </p:txBody>
      </p:sp>
      <p:sp>
        <p:nvSpPr>
          <p:cNvPr id="65" name="Text 31"/>
          <p:cNvSpPr/>
          <p:nvPr/>
        </p:nvSpPr>
        <p:spPr>
          <a:xfrm>
            <a:off x="7848404" y="3571786"/>
            <a:ext cx="3009444" cy="4381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演示过程中欢迎随时提出疑问，我们将针对系统架构、算法逻辑及临床应用进行详细解答</a:t>
            </a:r>
            <a:endParaRPr lang="en-US" sz="1050" dirty="0"/>
          </a:p>
        </p:txBody>
      </p:sp>
      <p:pic>
        <p:nvPicPr>
          <p:cNvPr id="66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1690" y="4390915"/>
            <a:ext cx="152396" cy="133347"/>
          </a:xfrm>
          <a:prstGeom prst="rect">
            <a:avLst/>
          </a:prstGeom>
        </p:spPr>
      </p:pic>
      <p:sp>
        <p:nvSpPr>
          <p:cNvPr id="67" name="Text 32"/>
          <p:cNvSpPr/>
          <p:nvPr/>
        </p:nvSpPr>
        <p:spPr>
          <a:xfrm>
            <a:off x="7648384" y="4362341"/>
            <a:ext cx="8092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技术实现细节</a:t>
            </a:r>
            <a:endParaRPr lang="en-US" sz="1050" dirty="0"/>
          </a:p>
        </p:txBody>
      </p:sp>
      <p:pic>
        <p:nvPicPr>
          <p:cNvPr id="68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1690" y="4695708"/>
            <a:ext cx="152396" cy="133347"/>
          </a:xfrm>
          <a:prstGeom prst="rect">
            <a:avLst/>
          </a:prstGeom>
        </p:spPr>
      </p:pic>
      <p:sp>
        <p:nvSpPr>
          <p:cNvPr id="69" name="Text 33"/>
          <p:cNvSpPr/>
          <p:nvPr/>
        </p:nvSpPr>
        <p:spPr>
          <a:xfrm>
            <a:off x="7648384" y="4667133"/>
            <a:ext cx="8092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临床应用场景</a:t>
            </a:r>
            <a:endParaRPr lang="en-US" sz="1050" dirty="0"/>
          </a:p>
        </p:txBody>
      </p:sp>
      <p:pic>
        <p:nvPicPr>
          <p:cNvPr id="70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1690" y="5000500"/>
            <a:ext cx="152396" cy="133347"/>
          </a:xfrm>
          <a:prstGeom prst="rect">
            <a:avLst/>
          </a:prstGeom>
        </p:spPr>
      </p:pic>
      <p:sp>
        <p:nvSpPr>
          <p:cNvPr id="71" name="Text 34"/>
          <p:cNvSpPr/>
          <p:nvPr/>
        </p:nvSpPr>
        <p:spPr>
          <a:xfrm>
            <a:off x="7648384" y="4971926"/>
            <a:ext cx="8092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数据安全策略</a:t>
            </a:r>
            <a:endParaRPr lang="en-US" sz="1050" dirty="0"/>
          </a:p>
        </p:txBody>
      </p:sp>
      <p:pic>
        <p:nvPicPr>
          <p:cNvPr id="72" name="Image 3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1690" y="5305292"/>
            <a:ext cx="152396" cy="133347"/>
          </a:xfrm>
          <a:prstGeom prst="rect">
            <a:avLst/>
          </a:prstGeom>
        </p:spPr>
      </p:pic>
      <p:sp>
        <p:nvSpPr>
          <p:cNvPr id="73" name="Text 35"/>
          <p:cNvSpPr/>
          <p:nvPr/>
        </p:nvSpPr>
        <p:spPr>
          <a:xfrm>
            <a:off x="7648384" y="5276718"/>
            <a:ext cx="8092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部署实施方案</a:t>
            </a:r>
            <a:endParaRPr lang="en-US" sz="1050" dirty="0"/>
          </a:p>
        </p:txBody>
      </p:sp>
      <p:pic>
        <p:nvPicPr>
          <p:cNvPr id="74" name="Image 3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1690" y="5772006"/>
            <a:ext cx="3667033" cy="314317"/>
          </a:xfrm>
          <a:prstGeom prst="rect">
            <a:avLst/>
          </a:prstGeom>
        </p:spPr>
      </p:pic>
      <p:pic>
        <p:nvPicPr>
          <p:cNvPr id="75" name="Image 3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5117" y="5952976"/>
            <a:ext cx="114297" cy="114297"/>
          </a:xfrm>
          <a:prstGeom prst="rect">
            <a:avLst/>
          </a:prstGeom>
        </p:spPr>
      </p:pic>
      <p:sp>
        <p:nvSpPr>
          <p:cNvPr id="76" name="Text 36"/>
          <p:cNvSpPr/>
          <p:nvPr/>
        </p:nvSpPr>
        <p:spPr>
          <a:xfrm>
            <a:off x="8467513" y="5943451"/>
            <a:ext cx="1656928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演示后预留15分钟专项答疑时间</a:t>
            </a:r>
            <a:endParaRPr lang="en-US" sz="900" dirty="0"/>
          </a:p>
        </p:txBody>
      </p:sp>
      <p:pic>
        <p:nvPicPr>
          <p:cNvPr id="77" name="Image 3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528"/>
            <a:ext cx="57149" cy="106677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447664"/>
            <a:ext cx="380990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57269" y="380990"/>
            <a:ext cx="1885522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61981" y="609585"/>
            <a:ext cx="10676877" cy="5143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量化效能提升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761981" y="1162021"/>
            <a:ext cx="10676877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系统应用后，各项关键指标均实现显著改善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1600160"/>
            <a:ext cx="4314717" cy="1085823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2" y="1762081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49" y="1866853"/>
            <a:ext cx="133347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419190" y="1762081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诊断编码完整率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1419190" y="1990675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AI辅助识别遗漏的MCC/CC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1419190" y="2219270"/>
            <a:ext cx="856848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30~50%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2304992" y="2333567"/>
            <a:ext cx="23773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提升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800280"/>
            <a:ext cx="4314717" cy="108582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2" y="2962201"/>
            <a:ext cx="380990" cy="38099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74" y="3066973"/>
            <a:ext cx="171446" cy="171446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419190" y="2962201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医保收益优化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419190" y="3190795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DRG精准分组+盈亏分析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1419190" y="3409865"/>
            <a:ext cx="856848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10~20%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2304992" y="3524162"/>
            <a:ext cx="23773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优化</a:t>
            </a:r>
            <a:endParaRPr lang="en-US" sz="9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3990875"/>
            <a:ext cx="4314717" cy="1085823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2" y="4152796"/>
            <a:ext cx="380990" cy="38099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74" y="4257569"/>
            <a:ext cx="171446" cy="171446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419190" y="4152796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病历书写效率</a:t>
            </a:r>
            <a:endParaRPr lang="en-US" sz="1050" dirty="0"/>
          </a:p>
        </p:txBody>
      </p:sp>
      <p:sp>
        <p:nvSpPr>
          <p:cNvPr id="26" name="Text 12"/>
          <p:cNvSpPr/>
          <p:nvPr/>
        </p:nvSpPr>
        <p:spPr>
          <a:xfrm>
            <a:off x="1419190" y="4381390"/>
            <a:ext cx="35047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语音识别+AI整理</a:t>
            </a:r>
            <a:endParaRPr lang="en-US" sz="900" dirty="0"/>
          </a:p>
        </p:txBody>
      </p:sp>
      <p:sp>
        <p:nvSpPr>
          <p:cNvPr id="27" name="Text 13"/>
          <p:cNvSpPr/>
          <p:nvPr/>
        </p:nvSpPr>
        <p:spPr>
          <a:xfrm>
            <a:off x="1419190" y="4609985"/>
            <a:ext cx="609204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~50%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2057349" y="4724282"/>
            <a:ext cx="46633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时间减少</a:t>
            </a:r>
            <a:endParaRPr lang="en-US" sz="9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190995"/>
            <a:ext cx="4314717" cy="933427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03" y="5333867"/>
            <a:ext cx="114297" cy="114297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1076298" y="5314817"/>
            <a:ext cx="685402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系统性能表现</a:t>
            </a:r>
            <a:endParaRPr lang="en-US" sz="90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03" y="5543411"/>
            <a:ext cx="1304892" cy="457189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971526" y="5610085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并发处理</a:t>
            </a:r>
            <a:endParaRPr lang="en-US" sz="750" dirty="0"/>
          </a:p>
        </p:txBody>
      </p:sp>
      <p:sp>
        <p:nvSpPr>
          <p:cNvPr id="34" name="Text 17"/>
          <p:cNvSpPr/>
          <p:nvPr/>
        </p:nvSpPr>
        <p:spPr>
          <a:xfrm>
            <a:off x="971526" y="5781530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100+</a:t>
            </a:r>
            <a:endParaRPr lang="en-US" sz="9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6893" y="5543411"/>
            <a:ext cx="1304892" cy="457189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2352616" y="5610085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MCC筛查</a:t>
            </a:r>
            <a:endParaRPr lang="en-US" sz="750" dirty="0"/>
          </a:p>
        </p:txBody>
      </p:sp>
      <p:sp>
        <p:nvSpPr>
          <p:cNvPr id="37" name="Text 19"/>
          <p:cNvSpPr/>
          <p:nvPr/>
        </p:nvSpPr>
        <p:spPr>
          <a:xfrm>
            <a:off x="2352616" y="5781530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&lt;100ms</a:t>
            </a:r>
            <a:endParaRPr lang="en-US" sz="9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7984" y="5543411"/>
            <a:ext cx="1304892" cy="457189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3733707" y="5610085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质控效率</a:t>
            </a:r>
            <a:endParaRPr lang="en-US" sz="750" dirty="0"/>
          </a:p>
        </p:txBody>
      </p:sp>
      <p:sp>
        <p:nvSpPr>
          <p:cNvPr id="40" name="Text 21"/>
          <p:cNvSpPr/>
          <p:nvPr/>
        </p:nvSpPr>
        <p:spPr>
          <a:xfrm>
            <a:off x="3733707" y="5781530"/>
            <a:ext cx="11425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显著提升</a:t>
            </a:r>
            <a:endParaRPr lang="en-US" sz="900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5292" y="1600160"/>
            <a:ext cx="6133947" cy="4876678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5505312" y="1800180"/>
            <a:ext cx="5743051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系统效能提升对比</a:t>
            </a:r>
            <a:endParaRPr lang="en-US" sz="1200" dirty="0"/>
          </a:p>
        </p:txBody>
      </p:sp>
      <p:sp>
        <p:nvSpPr>
          <p:cNvPr id="43" name="Text 23"/>
          <p:cNvSpPr/>
          <p:nvPr/>
        </p:nvSpPr>
        <p:spPr>
          <a:xfrm>
            <a:off x="5505312" y="2066873"/>
            <a:ext cx="574305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各项关键指标改善幅度范围（%）</a:t>
            </a:r>
            <a:endParaRPr lang="en-US" sz="9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5312" y="2333567"/>
            <a:ext cx="5724382" cy="3943251"/>
          </a:xfrm>
          <a:prstGeom prst="rect">
            <a:avLst/>
          </a:prstGeom>
        </p:spPr>
      </p:pic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14">
            <a:alphaModFix amt="6000"/>
          </a:blip>
          <a:stretch>
            <a:fillRect/>
          </a:stretch>
        </p:blipFill>
        <p:spPr>
          <a:xfrm>
            <a:off x="10753456" y="314317"/>
            <a:ext cx="904852" cy="904852"/>
          </a:xfrm>
          <a:prstGeom prst="rect">
            <a:avLst/>
          </a:prstGeom>
        </p:spPr>
      </p:pic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5">
            <a:alphaModFix amt="6000"/>
          </a:blip>
          <a:stretch>
            <a:fillRect/>
          </a:stretch>
        </p:blipFill>
        <p:spPr>
          <a:xfrm>
            <a:off x="10905852" y="466713"/>
            <a:ext cx="838179" cy="838179"/>
          </a:xfrm>
          <a:prstGeom prst="rect">
            <a:avLst/>
          </a:prstGeom>
        </p:spPr>
      </p:pic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981" y="6467313"/>
            <a:ext cx="10667733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528"/>
            <a:ext cx="57149" cy="106677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447664"/>
            <a:ext cx="380990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57269" y="380990"/>
            <a:ext cx="199981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Deployment Advantage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61981" y="609585"/>
            <a:ext cx="10676877" cy="5143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低成本部署优势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761981" y="1162021"/>
            <a:ext cx="10676877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轻量级架构设计，大幅降低医院信息化投入门槛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1638259"/>
            <a:ext cx="6133947" cy="2343091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00" y="2505012"/>
            <a:ext cx="609585" cy="609585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595" y="2695508"/>
            <a:ext cx="228594" cy="228594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838279" y="2276418"/>
            <a:ext cx="4828674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硬件投入成本</a:t>
            </a:r>
            <a:endParaRPr lang="en-US" sz="1350" dirty="0"/>
          </a:p>
        </p:txBody>
      </p:sp>
      <p:sp>
        <p:nvSpPr>
          <p:cNvPr id="12" name="Text 4"/>
          <p:cNvSpPr/>
          <p:nvPr/>
        </p:nvSpPr>
        <p:spPr>
          <a:xfrm>
            <a:off x="1838279" y="2581210"/>
            <a:ext cx="482867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对比传统AI系统数百万级投入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1838279" y="2886003"/>
            <a:ext cx="999719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5~10</a:t>
            </a:r>
            <a:endParaRPr lang="en-US" sz="3600" dirty="0"/>
          </a:p>
        </p:txBody>
      </p:sp>
      <p:sp>
        <p:nvSpPr>
          <p:cNvPr id="14" name="Text 6"/>
          <p:cNvSpPr/>
          <p:nvPr/>
        </p:nvSpPr>
        <p:spPr>
          <a:xfrm>
            <a:off x="2905052" y="3038399"/>
            <a:ext cx="466333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万元</a:t>
            </a:r>
            <a:endParaRPr lang="en-US" sz="18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736" y="3105072"/>
            <a:ext cx="962001" cy="24764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628934" y="3143171"/>
            <a:ext cx="818749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成本降低 95%+</a:t>
            </a:r>
            <a:endParaRPr lang="en-US" sz="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133747"/>
            <a:ext cx="6133947" cy="2343091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00" y="5000500"/>
            <a:ext cx="609585" cy="60958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595" y="5190995"/>
            <a:ext cx="228594" cy="22859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838279" y="4771906"/>
            <a:ext cx="4828674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部署上线周期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1838279" y="5076698"/>
            <a:ext cx="482867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从传统数月缩短至以周为单位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1838279" y="5381490"/>
            <a:ext cx="75207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2~3</a:t>
            </a:r>
            <a:endParaRPr lang="en-US" sz="3600" dirty="0"/>
          </a:p>
        </p:txBody>
      </p:sp>
      <p:sp>
        <p:nvSpPr>
          <p:cNvPr id="23" name="Text 11"/>
          <p:cNvSpPr/>
          <p:nvPr/>
        </p:nvSpPr>
        <p:spPr>
          <a:xfrm>
            <a:off x="2657409" y="5533887"/>
            <a:ext cx="237738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周</a:t>
            </a:r>
            <a:endParaRPr lang="en-US" sz="18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6498" y="5600560"/>
            <a:ext cx="857229" cy="24764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3152696" y="5638659"/>
            <a:ext cx="713976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快速上线运行</a:t>
            </a:r>
            <a:endParaRPr lang="en-US" sz="90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4522" y="1638259"/>
            <a:ext cx="4314717" cy="990575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4542" y="1904952"/>
            <a:ext cx="380990" cy="380990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9790" y="2019250"/>
            <a:ext cx="190495" cy="152396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819829" y="1838279"/>
            <a:ext cx="12283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运维成本</a:t>
            </a:r>
            <a:endParaRPr lang="en-US" sz="1050" dirty="0"/>
          </a:p>
        </p:txBody>
      </p:sp>
      <p:sp>
        <p:nvSpPr>
          <p:cNvPr id="30" name="Text 14"/>
          <p:cNvSpPr/>
          <p:nvPr/>
        </p:nvSpPr>
        <p:spPr>
          <a:xfrm>
            <a:off x="7819829" y="2047824"/>
            <a:ext cx="142491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15"/>
          <p:cNvSpPr/>
          <p:nvPr/>
        </p:nvSpPr>
        <p:spPr>
          <a:xfrm>
            <a:off x="7981750" y="2133547"/>
            <a:ext cx="106639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名IT人员即可维护</a:t>
            </a:r>
            <a:endParaRPr lang="en-US" sz="105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24522" y="2781230"/>
            <a:ext cx="4314717" cy="876278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4542" y="2990775"/>
            <a:ext cx="380990" cy="380990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1215" y="3086023"/>
            <a:ext cx="238119" cy="190495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7819829" y="2981250"/>
            <a:ext cx="15045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部署方式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7819829" y="3190795"/>
            <a:ext cx="15045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Docker容器化，一键部署</a:t>
            </a:r>
            <a:endParaRPr lang="en-US" sz="1050" dirty="0"/>
          </a:p>
        </p:txBody>
      </p:sp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24522" y="3809905"/>
            <a:ext cx="4314717" cy="2666933"/>
          </a:xfrm>
          <a:prstGeom prst="rect">
            <a:avLst/>
          </a:prstGeom>
        </p:spPr>
      </p:pic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24542" y="4038499"/>
            <a:ext cx="171446" cy="133347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7562661" y="4009925"/>
            <a:ext cx="53300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技术优势</a:t>
            </a:r>
            <a:endParaRPr lang="en-US" sz="1050" dirty="0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4542" y="4390915"/>
            <a:ext cx="57149" cy="57149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7457889" y="4314717"/>
            <a:ext cx="215221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Docker Compose 一键编排全套服务</a:t>
            </a:r>
            <a:endParaRPr lang="en-US" sz="1050" dirty="0"/>
          </a:p>
        </p:txBody>
      </p:sp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4542" y="4705232"/>
            <a:ext cx="57149" cy="57149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7457889" y="4629034"/>
            <a:ext cx="199029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支持 Windows / Linux 双平台部署</a:t>
            </a:r>
            <a:endParaRPr lang="en-US" sz="1050" dirty="0"/>
          </a:p>
        </p:txBody>
      </p:sp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4542" y="5019550"/>
            <a:ext cx="57149" cy="57149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7457889" y="4943351"/>
            <a:ext cx="2142691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环境变量统一管理，配置与代码分离</a:t>
            </a:r>
            <a:endParaRPr lang="en-US" sz="1050" dirty="0"/>
          </a:p>
        </p:txBody>
      </p:sp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4542" y="5333867"/>
            <a:ext cx="57149" cy="57149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7457889" y="5257669"/>
            <a:ext cx="202839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健康检查 + 自动重启策略保障稳定</a:t>
            </a:r>
            <a:endParaRPr lang="en-US" sz="1050" dirty="0"/>
          </a:p>
        </p:txBody>
      </p:sp>
      <p:pic>
        <p:nvPicPr>
          <p:cNvPr id="48" name="Image 23" descr="preencoded.png"/>
          <p:cNvPicPr>
            <a:picLocks noChangeAspect="1"/>
          </p:cNvPicPr>
          <p:nvPr/>
        </p:nvPicPr>
        <p:blipFill>
          <a:blip r:embed="rId18">
            <a:alphaModFix amt="6000"/>
          </a:blip>
          <a:stretch>
            <a:fillRect/>
          </a:stretch>
        </p:blipFill>
        <p:spPr>
          <a:xfrm>
            <a:off x="10753456" y="314317"/>
            <a:ext cx="904852" cy="904852"/>
          </a:xfrm>
          <a:prstGeom prst="rect">
            <a:avLst/>
          </a:prstGeom>
        </p:spPr>
      </p:pic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19">
            <a:alphaModFix amt="6000"/>
          </a:blip>
          <a:stretch>
            <a:fillRect/>
          </a:stretch>
        </p:blipFill>
        <p:spPr>
          <a:xfrm>
            <a:off x="10905852" y="466713"/>
            <a:ext cx="838179" cy="838179"/>
          </a:xfrm>
          <a:prstGeom prst="rect">
            <a:avLst/>
          </a:prstGeom>
        </p:spPr>
      </p:pic>
      <p:pic>
        <p:nvPicPr>
          <p:cNvPr id="50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1981" y="6467313"/>
            <a:ext cx="10667733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528"/>
            <a:ext cx="57149" cy="106677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23862"/>
            <a:ext cx="380990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57269" y="457189"/>
            <a:ext cx="176170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Deployment Options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61981" y="685783"/>
            <a:ext cx="10676877" cy="5143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灵活部署模式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761981" y="1238219"/>
            <a:ext cx="732416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根据医院规模与组织架构，提供两种可落地的部署方案，兼顾数据安全与成本效益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1714457"/>
            <a:ext cx="5219570" cy="340034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00" y="1952576"/>
            <a:ext cx="4743331" cy="561961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00" y="1981150"/>
            <a:ext cx="380990" cy="38099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23" y="2085923"/>
            <a:ext cx="219070" cy="171446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495388" y="1952576"/>
            <a:ext cx="1294987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单院模式</a:t>
            </a:r>
            <a:endParaRPr lang="en-US" sz="1500" dirty="0"/>
          </a:p>
        </p:txBody>
      </p:sp>
      <p:sp>
        <p:nvSpPr>
          <p:cNvPr id="13" name="Text 4"/>
          <p:cNvSpPr/>
          <p:nvPr/>
        </p:nvSpPr>
        <p:spPr>
          <a:xfrm>
            <a:off x="1495388" y="2238319"/>
            <a:ext cx="129498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Independent Deployment</a:t>
            </a:r>
            <a:endParaRPr lang="en-US" sz="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00" y="2762181"/>
            <a:ext cx="57149" cy="5714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133447" y="2705032"/>
            <a:ext cx="252368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医院内网独立部署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1133447" y="2914577"/>
            <a:ext cx="252368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系统完全部署在医院内部服务器，与公网物理隔离</a:t>
            </a:r>
            <a:endParaRPr lang="en-US" sz="9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00" y="3276518"/>
            <a:ext cx="57149" cy="57149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133447" y="3219370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数据不出院，安全可控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133447" y="3428914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患者敏感信息全程院内流转，符合三级等保要求</a:t>
            </a:r>
            <a:endParaRPr lang="en-US" sz="9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00" y="3781330"/>
            <a:ext cx="57149" cy="57149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133447" y="3724182"/>
            <a:ext cx="228556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适合二级以上医院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1133447" y="3933727"/>
            <a:ext cx="228556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具备独立IT运维能力的大型医疗机构首选方案</a:t>
            </a:r>
            <a:endParaRPr lang="en-US" sz="9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5" y="1714457"/>
            <a:ext cx="5219570" cy="340034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264" y="1952576"/>
            <a:ext cx="4743331" cy="561961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264" y="1981150"/>
            <a:ext cx="380990" cy="380990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3987" y="2085923"/>
            <a:ext cx="219070" cy="171446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6943551" y="1952576"/>
            <a:ext cx="1485482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区域中心模式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6943551" y="2238319"/>
            <a:ext cx="1485482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Regional Center Deployment</a:t>
            </a:r>
            <a:endParaRPr lang="en-US" sz="90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264" y="2762181"/>
            <a:ext cx="57149" cy="57149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6581610" y="2705032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区域中心统一部署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581610" y="2914577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在医共体牵头医院或卫健部门建立统一计算中心</a:t>
            </a:r>
            <a:endParaRPr lang="en-US" sz="900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264" y="3257469"/>
            <a:ext cx="57149" cy="57149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6581610" y="3200320"/>
            <a:ext cx="276180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基层医院远程调用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6581610" y="3409865"/>
            <a:ext cx="276180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通过专网或VPN安全通道访问AI服务，无需本地建机房</a:t>
            </a:r>
            <a:endParaRPr lang="en-US" sz="900" dirty="0"/>
          </a:p>
        </p:txBody>
      </p:sp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264" y="3743231"/>
            <a:ext cx="57149" cy="57149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6581610" y="3686083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降低基层医院投入成本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6581610" y="3895628"/>
            <a:ext cx="240938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免除服务器采购与运维人员配置，按使用量付费</a:t>
            </a:r>
            <a:endParaRPr lang="en-US" sz="900" dirty="0"/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264" y="4238519"/>
            <a:ext cx="57149" cy="57149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6581610" y="4181370"/>
            <a:ext cx="252368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实现区域资源共享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6581610" y="4390915"/>
            <a:ext cx="252368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促进优质医疗资源下沉，提升基层诊疗同质化水平</a:t>
            </a:r>
            <a:endParaRPr lang="en-US" sz="900" dirty="0"/>
          </a:p>
        </p:txBody>
      </p:sp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81" y="5305292"/>
            <a:ext cx="10667733" cy="1104872"/>
          </a:xfrm>
          <a:prstGeom prst="rect">
            <a:avLst/>
          </a:prstGeom>
        </p:spPr>
      </p:pic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01" y="5543411"/>
            <a:ext cx="114297" cy="152396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171546" y="5505312"/>
            <a:ext cx="60920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选择建议</a:t>
            </a:r>
            <a:endParaRPr lang="en-US" sz="120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01" y="5867253"/>
            <a:ext cx="266693" cy="266693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1038199" y="5924402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01</a:t>
            </a:r>
            <a:endParaRPr lang="en-US" sz="900" dirty="0"/>
          </a:p>
        </p:txBody>
      </p:sp>
      <p:sp>
        <p:nvSpPr>
          <p:cNvPr id="46" name="Text 23"/>
          <p:cNvSpPr/>
          <p:nvPr/>
        </p:nvSpPr>
        <p:spPr>
          <a:xfrm>
            <a:off x="1323942" y="5848204"/>
            <a:ext cx="229508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大型医院</a:t>
            </a:r>
            <a:endParaRPr lang="en-US" sz="900" dirty="0"/>
          </a:p>
        </p:txBody>
      </p:sp>
      <p:sp>
        <p:nvSpPr>
          <p:cNvPr id="47" name="Text 24"/>
          <p:cNvSpPr/>
          <p:nvPr/>
        </p:nvSpPr>
        <p:spPr>
          <a:xfrm>
            <a:off x="1323942" y="6019650"/>
            <a:ext cx="229508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推荐单院模式，确保数据主权与系统响应速度</a:t>
            </a:r>
            <a:endParaRPr lang="en-US" sz="900" dirty="0"/>
          </a:p>
        </p:txBody>
      </p:sp>
      <p:pic>
        <p:nvPicPr>
          <p:cNvPr id="48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8539" y="5867253"/>
            <a:ext cx="266693" cy="266693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4505212" y="5924402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02</a:t>
            </a:r>
            <a:endParaRPr lang="en-US" sz="900" dirty="0"/>
          </a:p>
        </p:txBody>
      </p:sp>
      <p:sp>
        <p:nvSpPr>
          <p:cNvPr id="50" name="Text 26"/>
          <p:cNvSpPr/>
          <p:nvPr/>
        </p:nvSpPr>
        <p:spPr>
          <a:xfrm>
            <a:off x="4800480" y="5848204"/>
            <a:ext cx="206649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医共体/集团</a:t>
            </a:r>
            <a:endParaRPr lang="en-US" sz="900" dirty="0"/>
          </a:p>
        </p:txBody>
      </p:sp>
      <p:sp>
        <p:nvSpPr>
          <p:cNvPr id="51" name="Text 27"/>
          <p:cNvSpPr/>
          <p:nvPr/>
        </p:nvSpPr>
        <p:spPr>
          <a:xfrm>
            <a:off x="4800480" y="6019650"/>
            <a:ext cx="206649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推荐区域中心模式，实现资源集约化管理</a:t>
            </a:r>
            <a:endParaRPr lang="en-US" sz="900" dirty="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5077" y="5867253"/>
            <a:ext cx="266693" cy="266693"/>
          </a:xfrm>
          <a:prstGeom prst="rect">
            <a:avLst/>
          </a:prstGeom>
        </p:spPr>
      </p:pic>
      <p:sp>
        <p:nvSpPr>
          <p:cNvPr id="53" name="Text 28"/>
          <p:cNvSpPr/>
          <p:nvPr/>
        </p:nvSpPr>
        <p:spPr>
          <a:xfrm>
            <a:off x="7981750" y="5924402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03</a:t>
            </a:r>
            <a:endParaRPr lang="en-US" sz="900" dirty="0"/>
          </a:p>
        </p:txBody>
      </p:sp>
      <p:sp>
        <p:nvSpPr>
          <p:cNvPr id="54" name="Text 29"/>
          <p:cNvSpPr/>
          <p:nvPr/>
        </p:nvSpPr>
        <p:spPr>
          <a:xfrm>
            <a:off x="8277018" y="5848204"/>
            <a:ext cx="195219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基层医疗机构</a:t>
            </a:r>
            <a:endParaRPr lang="en-US" sz="900" dirty="0"/>
          </a:p>
        </p:txBody>
      </p:sp>
      <p:sp>
        <p:nvSpPr>
          <p:cNvPr id="55" name="Text 30"/>
          <p:cNvSpPr/>
          <p:nvPr/>
        </p:nvSpPr>
        <p:spPr>
          <a:xfrm>
            <a:off x="8277018" y="6019650"/>
            <a:ext cx="195219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建议接入区域中心，零门槛享受AI能力</a:t>
            </a:r>
            <a:endParaRPr lang="en-US" sz="900" dirty="0"/>
          </a:p>
        </p:txBody>
      </p:sp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>
            <a:off x="10420089" y="361941"/>
            <a:ext cx="1266793" cy="1266793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14">
            <a:alphaModFix amt="6000"/>
          </a:blip>
          <a:stretch>
            <a:fillRect/>
          </a:stretch>
        </p:blipFill>
        <p:spPr>
          <a:xfrm>
            <a:off x="10658209" y="600060"/>
            <a:ext cx="1181070" cy="1181070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981" y="6391115"/>
            <a:ext cx="10667733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137118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Target Users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目标用户价值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485863"/>
            <a:ext cx="732416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系统覆盖医院多层级用户群体，为不同角色提供精准的功能支持与价值实现：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1981150"/>
            <a:ext cx="3333667" cy="220022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2219270"/>
            <a:ext cx="380990" cy="38099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18" y="2324042"/>
            <a:ext cx="152396" cy="17144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647784" y="2276418"/>
            <a:ext cx="694927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临床医生</a:t>
            </a:r>
            <a:endParaRPr lang="en-US" sz="13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2809805"/>
            <a:ext cx="66673" cy="9524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295368" y="2752656"/>
            <a:ext cx="67587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AI诊断辅助</a:t>
            </a:r>
            <a:endParaRPr lang="en-US" sz="105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076498"/>
            <a:ext cx="66673" cy="9524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95368" y="3019350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语音病历</a:t>
            </a:r>
            <a:endParaRPr lang="en-US" sz="105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3343191"/>
            <a:ext cx="66673" cy="95248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295368" y="3286043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待办事项</a:t>
            </a:r>
            <a:endParaRPr lang="en-US" sz="10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3628934"/>
            <a:ext cx="2857429" cy="314317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152496" y="3752756"/>
            <a:ext cx="28665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提升诊疗效率，减少漏诊</a:t>
            </a:r>
            <a:endParaRPr lang="en-US" sz="105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539" y="1981150"/>
            <a:ext cx="3333667" cy="2200220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658" y="2219270"/>
            <a:ext cx="380990" cy="38099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1430" y="2324042"/>
            <a:ext cx="171446" cy="171446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5171946" y="2276418"/>
            <a:ext cx="866373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科室管理者</a:t>
            </a:r>
            <a:endParaRPr lang="en-US" sz="135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2809805"/>
            <a:ext cx="66673" cy="95248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810005" y="2752656"/>
            <a:ext cx="58063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DRG分析</a:t>
            </a:r>
            <a:endParaRPr lang="en-US" sz="105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3076498"/>
            <a:ext cx="66673" cy="95248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4810005" y="3019350"/>
            <a:ext cx="58063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MCC筛查</a:t>
            </a:r>
            <a:endParaRPr lang="en-US" sz="105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3343191"/>
            <a:ext cx="66673" cy="95248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4810005" y="3286043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盈亏计算</a:t>
            </a:r>
            <a:endParaRPr lang="en-US" sz="105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6658" y="3628934"/>
            <a:ext cx="2857429" cy="314317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4676658" y="3752756"/>
            <a:ext cx="28665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精细化成本管理</a:t>
            </a:r>
            <a:endParaRPr lang="en-US" sz="105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176" y="1981150"/>
            <a:ext cx="3333667" cy="2200220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295" y="2219270"/>
            <a:ext cx="380990" cy="380990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117" y="2324042"/>
            <a:ext cx="133347" cy="171446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8686583" y="2276418"/>
            <a:ext cx="1037818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医保管理人员</a:t>
            </a:r>
            <a:endParaRPr lang="en-US" sz="1350" dirty="0"/>
          </a:p>
        </p:txBody>
      </p:sp>
      <p:pic>
        <p:nvPicPr>
          <p:cNvPr id="36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295" y="2809805"/>
            <a:ext cx="66673" cy="95248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8324642" y="2752656"/>
            <a:ext cx="84732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DRG分组分析</a:t>
            </a:r>
            <a:endParaRPr lang="en-US" sz="105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295" y="3076498"/>
            <a:ext cx="66673" cy="95248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8324642" y="3019350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费用预测</a:t>
            </a:r>
            <a:endParaRPr lang="en-US" sz="1050" dirty="0"/>
          </a:p>
        </p:txBody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295" y="3628934"/>
            <a:ext cx="2857429" cy="314317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8191295" y="3752756"/>
            <a:ext cx="28665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支持医保付费改革</a:t>
            </a:r>
            <a:endParaRPr lang="en-US" sz="1050" dirty="0"/>
          </a:p>
        </p:txBody>
      </p:sp>
      <p:pic>
        <p:nvPicPr>
          <p:cNvPr id="42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7" y="4371866"/>
            <a:ext cx="3333667" cy="1933527"/>
          </a:xfrm>
          <a:prstGeom prst="rect">
            <a:avLst/>
          </a:prstGeom>
        </p:spPr>
      </p:pic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96" y="4609985"/>
            <a:ext cx="380990" cy="380990"/>
          </a:xfrm>
          <a:prstGeom prst="rect">
            <a:avLst/>
          </a:prstGeom>
        </p:spPr>
      </p:pic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5843" y="4714757"/>
            <a:ext cx="133347" cy="171446"/>
          </a:xfrm>
          <a:prstGeom prst="rect">
            <a:avLst/>
          </a:prstGeom>
        </p:spPr>
      </p:pic>
      <p:sp>
        <p:nvSpPr>
          <p:cNvPr id="45" name="Text 17"/>
          <p:cNvSpPr/>
          <p:nvPr/>
        </p:nvSpPr>
        <p:spPr>
          <a:xfrm>
            <a:off x="1647784" y="4667133"/>
            <a:ext cx="694927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质控人员</a:t>
            </a:r>
            <a:endParaRPr lang="en-US" sz="1350" dirty="0"/>
          </a:p>
        </p:txBody>
      </p:sp>
      <p:pic>
        <p:nvPicPr>
          <p:cNvPr id="46" name="Image 2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5200520"/>
            <a:ext cx="66673" cy="95248"/>
          </a:xfrm>
          <a:prstGeom prst="rect">
            <a:avLst/>
          </a:prstGeom>
        </p:spPr>
      </p:pic>
      <p:sp>
        <p:nvSpPr>
          <p:cNvPr id="47" name="Text 18"/>
          <p:cNvSpPr/>
          <p:nvPr/>
        </p:nvSpPr>
        <p:spPr>
          <a:xfrm>
            <a:off x="1295368" y="5143371"/>
            <a:ext cx="94257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AI辅助质控分析</a:t>
            </a:r>
            <a:endParaRPr lang="en-US" sz="1050" dirty="0"/>
          </a:p>
        </p:txBody>
      </p:sp>
      <p:pic>
        <p:nvPicPr>
          <p:cNvPr id="48" name="Image 2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5752956"/>
            <a:ext cx="2857429" cy="314317"/>
          </a:xfrm>
          <a:prstGeom prst="rect">
            <a:avLst/>
          </a:prstGeom>
        </p:spPr>
      </p:pic>
      <p:sp>
        <p:nvSpPr>
          <p:cNvPr id="49" name="Text 19"/>
          <p:cNvSpPr/>
          <p:nvPr/>
        </p:nvSpPr>
        <p:spPr>
          <a:xfrm>
            <a:off x="1152496" y="5876778"/>
            <a:ext cx="28665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提升质控效率</a:t>
            </a:r>
            <a:endParaRPr lang="en-US" sz="105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8539" y="4371866"/>
            <a:ext cx="3333667" cy="193352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658" y="4609985"/>
            <a:ext cx="380990" cy="380990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1430" y="4714757"/>
            <a:ext cx="171446" cy="171446"/>
          </a:xfrm>
          <a:prstGeom prst="rect">
            <a:avLst/>
          </a:prstGeom>
        </p:spPr>
      </p:pic>
      <p:sp>
        <p:nvSpPr>
          <p:cNvPr id="53" name="Text 20"/>
          <p:cNvSpPr/>
          <p:nvPr/>
        </p:nvSpPr>
        <p:spPr>
          <a:xfrm>
            <a:off x="5171946" y="4667133"/>
            <a:ext cx="866373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系统管理员</a:t>
            </a:r>
            <a:endParaRPr lang="en-US" sz="1350" dirty="0"/>
          </a:p>
        </p:txBody>
      </p:sp>
      <p:pic>
        <p:nvPicPr>
          <p:cNvPr id="54" name="Image 3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5200520"/>
            <a:ext cx="66673" cy="95248"/>
          </a:xfrm>
          <a:prstGeom prst="rect">
            <a:avLst/>
          </a:prstGeom>
        </p:spPr>
      </p:pic>
      <p:sp>
        <p:nvSpPr>
          <p:cNvPr id="55" name="Text 21"/>
          <p:cNvSpPr/>
          <p:nvPr/>
        </p:nvSpPr>
        <p:spPr>
          <a:xfrm>
            <a:off x="4810005" y="5143371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系统监控</a:t>
            </a:r>
            <a:endParaRPr lang="en-US" sz="1050" dirty="0"/>
          </a:p>
        </p:txBody>
      </p:sp>
      <p:pic>
        <p:nvPicPr>
          <p:cNvPr id="56" name="Image 3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5467213"/>
            <a:ext cx="66673" cy="95248"/>
          </a:xfrm>
          <a:prstGeom prst="rect">
            <a:avLst/>
          </a:prstGeom>
        </p:spPr>
      </p:pic>
      <p:sp>
        <p:nvSpPr>
          <p:cNvPr id="57" name="Text 22"/>
          <p:cNvSpPr/>
          <p:nvPr/>
        </p:nvSpPr>
        <p:spPr>
          <a:xfrm>
            <a:off x="4810005" y="5410065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配置管理</a:t>
            </a:r>
            <a:endParaRPr lang="en-US" sz="1050" dirty="0"/>
          </a:p>
        </p:txBody>
      </p:sp>
      <p:pic>
        <p:nvPicPr>
          <p:cNvPr id="58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6658" y="5752956"/>
            <a:ext cx="2857429" cy="314317"/>
          </a:xfrm>
          <a:prstGeom prst="rect">
            <a:avLst/>
          </a:prstGeom>
        </p:spPr>
      </p:pic>
      <p:sp>
        <p:nvSpPr>
          <p:cNvPr id="59" name="Text 23"/>
          <p:cNvSpPr/>
          <p:nvPr/>
        </p:nvSpPr>
        <p:spPr>
          <a:xfrm>
            <a:off x="4676658" y="5876778"/>
            <a:ext cx="28665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保障系统稳定运行</a:t>
            </a:r>
            <a:endParaRPr lang="en-US" sz="1050" dirty="0"/>
          </a:p>
        </p:txBody>
      </p:sp>
      <p:pic>
        <p:nvPicPr>
          <p:cNvPr id="60" name="Image 34" descr="preencoded.png"/>
          <p:cNvPicPr>
            <a:picLocks noChangeAspect="1"/>
          </p:cNvPicPr>
          <p:nvPr/>
        </p:nvPicPr>
        <p:blipFill>
          <a:blip r:embed="rId16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61" name="Image 35" descr="preencoded.png"/>
          <p:cNvPicPr>
            <a:picLocks noChangeAspect="1"/>
          </p:cNvPicPr>
          <p:nvPr/>
        </p:nvPicPr>
        <p:blipFill>
          <a:blip r:embed="rId17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62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330"/>
            <a:ext cx="57149" cy="12191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619110"/>
            <a:ext cx="457189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3962" y="533387"/>
            <a:ext cx="231413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Partnership Invitation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14377" y="838179"/>
            <a:ext cx="10372085" cy="57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合作邀请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914377" y="1523962"/>
            <a:ext cx="1037208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诚邀各医院参与试点计划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2095448"/>
            <a:ext cx="5067173" cy="277170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694" y="2409765"/>
            <a:ext cx="457189" cy="457189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16" y="2543111"/>
            <a:ext cx="219070" cy="19049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838279" y="2505012"/>
            <a:ext cx="75207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试点支持</a:t>
            </a:r>
            <a:endParaRPr lang="en-US" sz="15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694" y="3133647"/>
            <a:ext cx="133347" cy="15239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476338" y="3095548"/>
            <a:ext cx="1380710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免费系统部署与培训</a:t>
            </a:r>
            <a:endParaRPr lang="en-US" sz="12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694" y="3533687"/>
            <a:ext cx="133347" cy="15239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476338" y="3495588"/>
            <a:ext cx="1533106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专业技术团队全程支持</a:t>
            </a:r>
            <a:endParaRPr lang="en-US" sz="1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694" y="3933727"/>
            <a:ext cx="133347" cy="152396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476338" y="3895628"/>
            <a:ext cx="1380710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定制化功能开发配合</a:t>
            </a:r>
            <a:endParaRPr lang="en-US" sz="12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5" y="2095448"/>
            <a:ext cx="5067173" cy="2771706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62" y="2409765"/>
            <a:ext cx="457189" cy="457189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383" y="2543111"/>
            <a:ext cx="142871" cy="190495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7134047" y="2505012"/>
            <a:ext cx="75207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参与条件</a:t>
            </a:r>
            <a:endParaRPr lang="en-US" sz="150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462" y="3190795"/>
            <a:ext cx="57149" cy="57149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695908" y="3095548"/>
            <a:ext cx="1066393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具备基础IT环境</a:t>
            </a:r>
            <a:endParaRPr lang="en-US" sz="120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462" y="3590835"/>
            <a:ext cx="57149" cy="57149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6695908" y="3495588"/>
            <a:ext cx="1380710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配合数据对接与测试</a:t>
            </a:r>
            <a:endParaRPr lang="en-US" sz="12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462" y="3990875"/>
            <a:ext cx="57149" cy="57149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6695908" y="3895628"/>
            <a:ext cx="1380710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提供使用反馈与建议</a:t>
            </a:r>
            <a:endParaRPr lang="en-US" sz="120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377" y="5095748"/>
            <a:ext cx="10362941" cy="1238219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170" y="5400540"/>
            <a:ext cx="457189" cy="457189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2516" y="5533887"/>
            <a:ext cx="190495" cy="190495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1866853" y="5400540"/>
            <a:ext cx="3780950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共同目标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1866853" y="5743431"/>
            <a:ext cx="3780950" cy="2857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0FDF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推进基层医疗AI化进程，提升医疗服务质量与效率</a:t>
            </a:r>
            <a:endParaRPr lang="en-US" sz="135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029" y="5467213"/>
            <a:ext cx="2124022" cy="495288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2346" y="5619610"/>
            <a:ext cx="190495" cy="190495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9477138" y="5467213"/>
            <a:ext cx="151405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FBF1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联系我们</a:t>
            </a:r>
            <a:r>
              <a:rPr lang="zh-CN" altLang="en-US" sz="1050" dirty="0">
                <a:solidFill>
                  <a:srgbClr val="CCFBF1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：</a:t>
            </a:r>
            <a:endParaRPr lang="zh-CN" altLang="en-US" sz="1050" dirty="0">
              <a:solidFill>
                <a:srgbClr val="CCFBF1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  <a:p>
            <a:pPr marL="0" indent="0" algn="l">
              <a:buNone/>
            </a:pPr>
            <a:r>
              <a:rPr lang="zh-CN" altLang="en-US" sz="1050" dirty="0">
                <a:solidFill>
                  <a:srgbClr val="CCFBF1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刘朝晖</a:t>
            </a:r>
            <a:r>
              <a:rPr lang="en-US" altLang="zh-CN" sz="1050" dirty="0">
                <a:solidFill>
                  <a:srgbClr val="CCFBF1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 13458003688</a:t>
            </a:r>
            <a:endParaRPr lang="en-US" altLang="zh-CN" sz="1050" dirty="0">
              <a:solidFill>
                <a:srgbClr val="CCFBF1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9477138" y="5695808"/>
            <a:ext cx="1514056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开启智慧医疗新篇章</a:t>
            </a:r>
            <a:endParaRPr lang="en-US" sz="1350" dirty="0"/>
          </a:p>
        </p:txBody>
      </p:sp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5">
            <a:alphaModFix amt="6000"/>
          </a:blip>
          <a:stretch>
            <a:fillRect/>
          </a:stretch>
        </p:blipFill>
        <p:spPr>
          <a:xfrm>
            <a:off x="10267693" y="438139"/>
            <a:ext cx="1266793" cy="1266793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6">
            <a:alphaModFix amt="6000"/>
          </a:blip>
          <a:stretch>
            <a:fillRect/>
          </a:stretch>
        </p:blipFill>
        <p:spPr>
          <a:xfrm>
            <a:off x="10505812" y="676258"/>
            <a:ext cx="1181070" cy="1181070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377" y="6314917"/>
            <a:ext cx="10362941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933"/>
            <a:ext cx="76198" cy="15239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10448664" y="847704"/>
            <a:ext cx="904852" cy="9048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10601060" y="1000100"/>
            <a:ext cx="838179" cy="83817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914377" y="5333867"/>
            <a:ext cx="609585" cy="60958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263" y="2247844"/>
            <a:ext cx="457189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749" y="2219270"/>
            <a:ext cx="76198" cy="7619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2247844"/>
            <a:ext cx="457189" cy="190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067073" y="2676458"/>
            <a:ext cx="4076217" cy="609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11" name="Text 1"/>
          <p:cNvSpPr/>
          <p:nvPr/>
        </p:nvSpPr>
        <p:spPr>
          <a:xfrm>
            <a:off x="4067073" y="3590835"/>
            <a:ext cx="4076217" cy="4095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期待与您携手，共创智慧医疗新未来</a:t>
            </a:r>
            <a:endParaRPr lang="en-US" sz="195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302" y="4543311"/>
            <a:ext cx="914377" cy="9525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1075" y="4457589"/>
            <a:ext cx="219070" cy="19049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541" y="4543311"/>
            <a:ext cx="914377" cy="9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3905</Words>
  <Application>WPS 演示</Application>
  <PresentationFormat>On-screen Show (16:9)</PresentationFormat>
  <Paragraphs>693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等线</vt:lpstr>
      <vt:lpstr>等线</vt:lpstr>
      <vt:lpstr>Consolas</vt:lpstr>
      <vt:lpstr>Consolas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1</cp:lastModifiedBy>
  <cp:revision>2</cp:revision>
  <dcterms:created xsi:type="dcterms:W3CDTF">2026-04-15T14:38:00Z</dcterms:created>
  <dcterms:modified xsi:type="dcterms:W3CDTF">2026-04-16T10:21:42Z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00119144030071526726XG1MO2E","ProduceID":"Cjk2OWRmOWRiZTIxZDRkMTNkNjc0YmFiMWI2MWY0ODYzOTk5YjJfczVyOGJhXzE3NzYyNjI1OTI1Njc","ReservedCode1":"SyUA79VDVY4orHDi+vnnx32C6RkpzFAyR8hqV0ztd2iVDCXK7VY9at6RrVTUoRZ6JUq0UKkZbrfatOhG0/E7fSN5Z1GvmpxyBpGO69Vf+f6nY3U9EwX52boqh7xAkSxbb4xWH6yd9Fp7/N6Z5n3Nuz24XthLHwZwkQqg62p/h3doHJ5fxP8o2cWRB4tZ9RAnANLjZA==","ContentPropagator":"00119144030071526726XG1MO2E","PropagateID":"Cjk2OWRmOWRiZTIxZDRkMTNkNjc0YmFiMWI2MWY0ODYzOTk5YjJfczVyOGJhXzE3NzYyNjI1OTI1Njc","ReservedCode2":"SyUA79VDVY4orHDi+vnnx32C6RkpzFAyR8hqV0ztd2iVDCXK7VY9at6RrVTUoRZ6JUq0UKkZbrfatOhG0/E7fSN5Z1GvmpxyBpGO69Vf+f6nY3U9EwX52boqh7xAkSxbb4xWH6yd9Fp7/N6Z5n3Nuz24XthLHwZwkQqg62p/h3doHJ5fxP8o2cWRB4tZ9RAnANLjZA=="}</vt:lpwstr>
  </property>
  <property fmtid="{D5CDD505-2E9C-101B-9397-08002B2CF9AE}" pid="3" name="KSOProductBuildVer">
    <vt:lpwstr>2052-12.1.0.25225</vt:lpwstr>
  </property>
  <property fmtid="{D5CDD505-2E9C-101B-9397-08002B2CF9AE}" pid="4" name="ICV">
    <vt:lpwstr>EB6D733695FE44429D4E934A435E76B4_12</vt:lpwstr>
  </property>
</Properties>
</file>